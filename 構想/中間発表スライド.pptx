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12_B8EDCED0.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06_0.xml" ContentType="application/vnd.ms-powerpoint.comments+xml"/>
  <Override PartName="/ppt/notesSlides/notesSlide11.xml" ContentType="application/vnd.openxmlformats-officedocument.presentationml.notesSlide+xml"/>
  <Override PartName="/ppt/comments/modernComment_107_0.xml" ContentType="application/vnd.ms-powerpoint.comments+xml"/>
  <Override PartName="/ppt/notesSlides/notesSlide12.xml" ContentType="application/vnd.openxmlformats-officedocument.presentationml.notesSlide+xml"/>
  <Override PartName="/ppt/comments/modernComment_110_A1560D33.xml" ContentType="application/vnd.ms-powerpoint.comments+xml"/>
  <Override PartName="/ppt/notesSlides/notesSlide13.xml" ContentType="application/vnd.openxmlformats-officedocument.presentationml.notesSlide+xml"/>
  <Override PartName="/ppt/comments/modernComment_10A_0.xml" ContentType="application/vnd.ms-powerpoint.comments+xml"/>
  <Override PartName="/ppt/notesSlides/notesSlide14.xml" ContentType="application/vnd.openxmlformats-officedocument.presentationml.notesSlide+xml"/>
  <Override PartName="/ppt/comments/modernComment_10B_0.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71" r:id="rId4"/>
    <p:sldId id="258" r:id="rId5"/>
    <p:sldId id="259" r:id="rId6"/>
    <p:sldId id="260" r:id="rId7"/>
    <p:sldId id="274" r:id="rId8"/>
    <p:sldId id="275" r:id="rId9"/>
    <p:sldId id="261" r:id="rId10"/>
    <p:sldId id="262" r:id="rId11"/>
    <p:sldId id="263" r:id="rId12"/>
    <p:sldId id="272" r:id="rId13"/>
    <p:sldId id="266" r:id="rId14"/>
    <p:sldId id="267" r:id="rId15"/>
    <p:sldId id="276" r:id="rId16"/>
    <p:sldId id="269" r:id="rId17"/>
    <p:sldId id="277"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導入" id="{D3A11D2E-8454-9F86-FF41-933DE0C29F00}">
          <p14:sldIdLst>
            <p14:sldId id="256"/>
            <p14:sldId id="257"/>
            <p14:sldId id="271"/>
            <p14:sldId id="258"/>
          </p14:sldIdLst>
        </p14:section>
        <p14:section name="研究概要" id="{348BF942-25E0-7C7B-4508-C5A890041DC0}">
          <p14:sldIdLst>
            <p14:sldId id="259"/>
            <p14:sldId id="260"/>
            <p14:sldId id="274"/>
            <p14:sldId id="275"/>
            <p14:sldId id="261"/>
          </p14:sldIdLst>
        </p14:section>
        <p14:section name="研究の現状" id="{27E3A7E9-E08E-525E-9357-2E1768A97F80}">
          <p14:sldIdLst>
            <p14:sldId id="262"/>
            <p14:sldId id="263"/>
            <p14:sldId id="272"/>
          </p14:sldIdLst>
        </p14:section>
        <p14:section name="課題と今後" id="{1A74A42D-9D55-4EC6-A1DD-B0BD247954C8}">
          <p14:sldIdLst>
            <p14:sldId id="266"/>
            <p14:sldId id="267"/>
            <p14:sldId id="276"/>
            <p14:sldId id="269"/>
            <p14:sldId id="27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BF5EC74-8F7D-0839-FE81-DC9BC0CFDD52}" name="5I14 公文 健太【鈴鹿】" initials="" userId="S::r04i12@ed.cc.suzuka-ct.ac.jp::ee2cfeb4-cbb9-49e5-9993-80ae98c58ff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909"/>
    <p:restoredTop sz="83721"/>
  </p:normalViewPr>
  <p:slideViewPr>
    <p:cSldViewPr snapToGrid="0" snapToObjects="1">
      <p:cViewPr varScale="1">
        <p:scale>
          <a:sx n="112" d="100"/>
          <a:sy n="112" d="100"/>
        </p:scale>
        <p:origin x="4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omments/modernComment_10A_0.xml><?xml version="1.0" encoding="utf-8"?>
<p188:cmLst xmlns:a="http://schemas.openxmlformats.org/drawingml/2006/main" xmlns:r="http://schemas.openxmlformats.org/officeDocument/2006/relationships" xmlns:p188="http://schemas.microsoft.com/office/powerpoint/2018/8/main">
  <p188:cm id="{04C40DBA-7A0A-6B42-95B5-D0246F00EB2A}" authorId="{8BF5EC74-8F7D-0839-FE81-DC9BC0CFDD52}" status="resolved" created="2026-10-12T09:23:00.174" complete="100000">
    <pc:sldMkLst xmlns:pc="http://schemas.microsoft.com/office/powerpoint/2013/main/command">
      <pc:docMk/>
      <pc:sldMk cId="0" sldId="266"/>
    </pc:sldMkLst>
    <p188:txBody>
      <a:bodyPr/>
      <a:lstStyle/>
      <a:p>
        <a:r>
          <a:rPr lang="ja-JP" altLang="en-US"/>
          <a:t>2はいらないとおもう</a:t>
        </a:r>
      </a:p>
    </p188:txBody>
  </p188:cm>
</p188:cmLst>
</file>

<file path=ppt/comments/modernComment_10B_0.xml><?xml version="1.0" encoding="utf-8"?>
<p188:cmLst xmlns:a="http://schemas.openxmlformats.org/drawingml/2006/main" xmlns:r="http://schemas.openxmlformats.org/officeDocument/2006/relationships" xmlns:p188="http://schemas.microsoft.com/office/powerpoint/2018/8/main">
  <p188:cm id="{DFDB76EE-F368-464A-BF38-71CEA7A2DF5E}" authorId="{8BF5EC74-8F7D-0839-FE81-DC9BC0CFDD52}" status="resolved" created="2026-10-12T09:22:43.781" complete="100000">
    <pc:sldMkLst xmlns:pc="http://schemas.microsoft.com/office/powerpoint/2013/main/command">
      <pc:docMk/>
      <pc:sldMk cId="0" sldId="267"/>
    </pc:sldMkLst>
    <p188:txBody>
      <a:bodyPr/>
      <a:lstStyle/>
      <a:p>
        <a:r>
          <a:rPr lang="ja-JP" altLang="en-US"/>
          <a:t>ツリー状の数学の概念マップをつくる（イメージだけ）</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96AC6C63-D6D4-F044-AEC2-13754BAD958E}" authorId="{8BF5EC74-8F7D-0839-FE81-DC9BC0CFDD52}" status="resolved" created="2026-10-12T09:49:55.219" complete="100000">
    <pc:sldMkLst xmlns:pc="http://schemas.microsoft.com/office/powerpoint/2013/main/command">
      <pc:docMk/>
      <pc:sldMk cId="0" sldId="262"/>
    </pc:sldMkLst>
    <p188:txBody>
      <a:bodyPr/>
      <a:lstStyle/>
      <a:p>
        <a:r>
          <a:rPr lang="ja-JP" altLang="en-US"/>
          <a:t>右の4単語を説明する</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ABC9DF72-133A-BD42-AC8C-C7676E847B7E}" authorId="{8BF5EC74-8F7D-0839-FE81-DC9BC0CFDD52}" status="resolved" created="2026-10-12T09:51:06.570" complete="100000">
    <pc:sldMkLst xmlns:pc="http://schemas.microsoft.com/office/powerpoint/2013/main/command">
      <pc:docMk/>
      <pc:sldMk cId="0" sldId="263"/>
    </pc:sldMkLst>
    <p188:txBody>
      <a:bodyPr/>
      <a:lstStyle/>
      <a:p>
        <a:r>
          <a:rPr lang="ja-JP" altLang="en-US"/>
          <a:t>左の4単語を説明する</a:t>
        </a:r>
      </a:p>
    </p188:txBody>
  </p188:cm>
</p188:cmLst>
</file>

<file path=ppt/comments/modernComment_110_A1560D33.xml><?xml version="1.0" encoding="utf-8"?>
<p188:cmLst xmlns:a="http://schemas.openxmlformats.org/drawingml/2006/main" xmlns:r="http://schemas.openxmlformats.org/officeDocument/2006/relationships" xmlns:p188="http://schemas.microsoft.com/office/powerpoint/2018/8/main">
  <p188:cm id="{53780DA9-116E-E345-9338-D30500DF08B4}" authorId="{8BF5EC74-8F7D-0839-FE81-DC9BC0CFDD52}" status="resolved" created="2026-10-12T09:54:05.589" complete="100000">
    <pc:sldMkLst xmlns:pc="http://schemas.microsoft.com/office/powerpoint/2013/main/command">
      <pc:docMk/>
      <pc:sldMk cId="2706771251" sldId="272"/>
    </pc:sldMkLst>
    <p188:txBody>
      <a:bodyPr/>
      <a:lstStyle/>
      <a:p>
        <a:r>
          <a:rPr lang="ja-JP" altLang="en-US"/>
          <a:t>やらかしたところの流れを書いとく</a:t>
        </a:r>
      </a:p>
    </p188:txBody>
  </p188:cm>
  <p188:cm id="{03C420C0-5E59-7948-8D5D-A1528F3EE138}" authorId="{8BF5EC74-8F7D-0839-FE81-DC9BC0CFDD52}" status="resolved" created="2026-10-12T09:55:05.136" complete="100000">
    <pc:sldMkLst xmlns:pc="http://schemas.microsoft.com/office/powerpoint/2013/main/command">
      <pc:docMk/>
      <pc:sldMk cId="2706771251" sldId="272"/>
    </pc:sldMkLst>
    <p188:txBody>
      <a:bodyPr/>
      <a:lstStyle/>
      <a:p>
        <a:r>
          <a:rPr lang="ja-JP" altLang="en-US"/>
          <a:t>AIの出した出力と自己判定した概念IDを比べていることを話す</a:t>
        </a:r>
      </a:p>
    </p188:txBody>
  </p188:cm>
</p188:cmLst>
</file>

<file path=ppt/comments/modernComment_112_B8EDCED0.xml><?xml version="1.0" encoding="utf-8"?>
<p188:cmLst xmlns:a="http://schemas.openxmlformats.org/drawingml/2006/main" xmlns:r="http://schemas.openxmlformats.org/officeDocument/2006/relationships" xmlns:p188="http://schemas.microsoft.com/office/powerpoint/2018/8/main">
  <p188:cm id="{3D73725B-42AB-B848-BF1C-12E23447392D}" authorId="{8BF5EC74-8F7D-0839-FE81-DC9BC0CFDD52}" status="resolved" created="2026-10-12T09:25:09.711" complete="100000">
    <pc:sldMkLst xmlns:pc="http://schemas.microsoft.com/office/powerpoint/2013/main/command">
      <pc:docMk/>
      <pc:sldMk cId="3102592720" sldId="274"/>
    </pc:sldMkLst>
    <p188:txBody>
      <a:bodyPr/>
      <a:lstStyle/>
      <a:p>
        <a:r>
          <a:rPr lang="ja-JP" altLang="en-US"/>
          <a:t>入力と出力まとめる
入力例の上の方はいらない</a:t>
        </a:r>
      </a:p>
    </p188:txBody>
    <p188:extLst>
      <p:ext xmlns:p="http://schemas.openxmlformats.org/presentationml/2006/main" uri="{57CB4572-C831-44C2-8A1C-0ADB6CCDFE69}">
        <p223:reactions xmlns:p223="http://schemas.microsoft.com/office/powerpoint/2022/03/main">
          <p223:rxn type="👍">
            <p223:instance time="2026-10-12T09:29:16.238" authorId="{8BF5EC74-8F7D-0839-FE81-DC9BC0CFDD52}"/>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38782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生成AIによる概念理解不足の推定と可視化を通じたメタ認知支援について、中間報告を行います。</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本日はこのような流れで話していきます</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A9A3D-D1F8-334F-6CE5-7261500B23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A417F9-EBFE-E196-4E2C-159820C20C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BCC129-6496-A10F-7A5A-A5E2B6355BF3}"/>
              </a:ext>
            </a:extLst>
          </p:cNvPr>
          <p:cNvSpPr>
            <a:spLocks noGrp="1"/>
          </p:cNvSpPr>
          <p:nvPr>
            <p:ph type="body" idx="1"/>
          </p:nvPr>
        </p:nvSpPr>
        <p:spPr/>
        <p:txBody>
          <a:bodyPr/>
          <a:lstStyle/>
          <a:p>
            <a:r>
              <a:rPr lang="en-US" dirty="0"/>
              <a:t>数学学習では、学習者が自分の理解度を客観的に把握できないこと、つまり自己評価の不正確さが、学習効率の低下につながると考えられます。数学では理解の不足が解答過程に現れるため、解答そのものから不足を推定する手法が求められます。</a:t>
            </a:r>
          </a:p>
        </p:txBody>
      </p:sp>
      <p:sp>
        <p:nvSpPr>
          <p:cNvPr id="4" name="Slide Number Placeholder 3">
            <a:extLst>
              <a:ext uri="{FF2B5EF4-FFF2-40B4-BE49-F238E27FC236}">
                <a16:creationId xmlns:a16="http://schemas.microsoft.com/office/drawing/2014/main" id="{CF6DBAB5-08F8-1589-8F4B-8ECF370924E8}"/>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107607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gら（2026）はプログラミング教育で、行動ログからSHAPで抽出した学習特徴をGPT-4に入力して個別化フィードバックを生成し、自己調整学習の行動と成績が改善することを示しました。ただし既存の行動計測基盤が前提で、解答過程そのものは分析していません。本研究は解答過程から直接推定し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研究の目的は、問題文・途中式・自己説明からなる解答過程を生成AIに分析させ、不足概念と根拠を推定し、概念マップとして可視化してフィードバックを提示するまでの一連のフローを完成させること、そしてその推定が実際の理解度を反映しているかを検証することです。メタ認知能力の向上は見据えていますが、効果検証は範囲に含めません。</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の流れです。学習者の問題文・途中式・自己説明を入力とし、概念IDリストを組み込んだプロンプトで生成AIに渡します。AIは不足概念、根拠、確信度、内省質問をJSONで出力します。これを概念マップとして可視化し、フィードバックとして提示します。左の3つがM1からM3で構築・検証済み、右の2つがM4でこれから実装する部分で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76448-924A-A24F-3A19-EDC951B2B4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0F5D50-5597-FA3A-DA37-D9E34959AA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F9219D-4E59-5EDE-F2F2-D68064B88E64}"/>
              </a:ext>
            </a:extLst>
          </p:cNvPr>
          <p:cNvSpPr>
            <a:spLocks noGrp="1"/>
          </p:cNvSpPr>
          <p:nvPr>
            <p:ph type="body" idx="1"/>
          </p:nvPr>
        </p:nvSpPr>
        <p:spPr/>
        <p:txBody>
          <a:bodyPr/>
          <a:lstStyle/>
          <a:p>
            <a:r>
              <a:rPr lang="en-US" dirty="0"/>
              <a:t>このような流れで、出力が返ってくるようになっています。入力には問題文と自己説明を入れて、それを元に不足している概念をAIが検知するといった流れです。</a:t>
            </a:r>
          </a:p>
          <a:p>
            <a:endParaRPr lang="en-US" dirty="0"/>
          </a:p>
        </p:txBody>
      </p:sp>
      <p:sp>
        <p:nvSpPr>
          <p:cNvPr id="4" name="Slide Number Placeholder 3">
            <a:extLst>
              <a:ext uri="{FF2B5EF4-FFF2-40B4-BE49-F238E27FC236}">
                <a16:creationId xmlns:a16="http://schemas.microsoft.com/office/drawing/2014/main" id="{2263FB21-94E8-6325-B170-917434ED2BA3}"/>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252635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AC7FC-10BB-D23E-8017-04732B281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7ECCF6-D4D8-208F-965C-579EEB851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9C1DBE-8D4C-3D09-4D3C-A529F1467073}"/>
              </a:ext>
            </a:extLst>
          </p:cNvPr>
          <p:cNvSpPr>
            <a:spLocks noGrp="1"/>
          </p:cNvSpPr>
          <p:nvPr>
            <p:ph type="body" idx="1"/>
          </p:nvPr>
        </p:nvSpPr>
        <p:spPr/>
        <p:txBody>
          <a:bodyPr/>
          <a:lstStyle/>
          <a:p>
            <a:r>
              <a:rPr lang="en-US" dirty="0"/>
              <a:t>全体の流れです。学習者の問題文・途中式・自己説明を入力とし、概念IDリストを組み込んだプロンプトで生成AIに渡します。AIは不足概念、根拠、確信度、内省質問をJSONで出力します。これを概念マップとして可視化し、フィードバックとして提示します。左の3つがM1からM3で構築・検証済み、右の2つがM4でこれから実装する部分です。</a:t>
            </a:r>
          </a:p>
        </p:txBody>
      </p:sp>
      <p:sp>
        <p:nvSpPr>
          <p:cNvPr id="4" name="Slide Number Placeholder 3">
            <a:extLst>
              <a:ext uri="{FF2B5EF4-FFF2-40B4-BE49-F238E27FC236}">
                <a16:creationId xmlns:a16="http://schemas.microsoft.com/office/drawing/2014/main" id="{43F330FB-995D-2FB2-06F4-CBD3D1B13A95}"/>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544463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対象は線形代数1単元、9章です。研究をM1からM5の5段階に分け、それぞれに定量的な達成基準を設けました。現在M1からM3が完了しています。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1では教科書をもとに線形代数を9章に整理し、各概念にIDを付けました。1つの概念を1つの根拠パターンで判定できる粒度にしています。各概念には定義、前提関係、根拠パターン、典型的誤解を持たせています。</a:t>
            </a:r>
          </a:p>
          <a:p>
            <a:r>
              <a:rPr lang="en-US" dirty="0" err="1"/>
              <a:t>ここで、前提関係とは、知っていなければならない前提となる概念ID</a:t>
            </a:r>
            <a:r>
              <a:rPr lang="en-US" dirty="0"/>
              <a:t>、</a:t>
            </a:r>
          </a:p>
          <a:p>
            <a:r>
              <a:rPr lang="en-US" dirty="0"/>
              <a:t>根拠パターンとは、学習者の解答の中からこの概念を誤解してると判断するための根拠として使う部分のことです。つまり入力の中にある間違えパターンみたいなものですね。</a:t>
            </a:r>
          </a:p>
          <a:p>
            <a:r>
              <a:rPr lang="en-US" dirty="0" err="1"/>
              <a:t>典型的誤解は、フィードバックを返す際にAIが参考にするために使われます</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M2では概念IDリストをプロンプトに統合し、不足概念候補、根拠、確信度、内省質問の4つをJSONで出力するパイプラインを構築しました。</a:t>
            </a:r>
          </a:p>
          <a:p>
            <a:r>
              <a:rPr lang="en-US" dirty="0" err="1"/>
              <a:t>根拠とは、この概念が不足していると判断するに至った根拠を学習者の入力の中から抜き出しています</a:t>
            </a:r>
            <a:r>
              <a:rPr lang="en-US" dirty="0"/>
              <a:t>。</a:t>
            </a:r>
          </a:p>
          <a:p>
            <a:r>
              <a:rPr lang="en-US" dirty="0" err="1"/>
              <a:t>確信度は、highかlowがあり、根拠がどれくらい信用できるかを表しています</a:t>
            </a:r>
            <a:r>
              <a:rPr lang="en-US" dirty="0"/>
              <a:t>。</a:t>
            </a:r>
          </a:p>
          <a:p>
            <a:r>
              <a:rPr lang="en-US" dirty="0" err="1"/>
              <a:t>内省質問は、不足していると思われる概念をそのまま教えるのではなく、それに自らの手で気づくことができるような質問を投げています</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69BDC-2509-ECBE-54D6-AA78DEADDE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650CEC-0107-C344-6FF5-23C08BA368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FE48AD-E665-1763-3937-EC5FF2D6F3A1}"/>
              </a:ext>
            </a:extLst>
          </p:cNvPr>
          <p:cNvSpPr>
            <a:spLocks noGrp="1"/>
          </p:cNvSpPr>
          <p:nvPr>
            <p:ph type="body" idx="1"/>
          </p:nvPr>
        </p:nvSpPr>
        <p:spPr/>
        <p:txBody>
          <a:bodyPr/>
          <a:lstStyle/>
          <a:p>
            <a:r>
              <a:rPr lang="en-US" dirty="0"/>
              <a:t>M3では、AIの推定がどのくらい当てになるかを確かめました。不足している概念をあらかじめ自分で決めたうえで、学習者の解答を模した疑似データを10件自作し、Gemini APIで実行して、AIが出力した概念IDと自分で判定した概念IDを比較しました。詰まった点は2つあります。1つ目は、10件中2件でAIが余分な概念を挙げたり、隣の概念を選んだりしたことです。原因は、概念ごとの根拠パターンの文言が曖昧で、似た概念と区別できなかったことでした。そこで根拠パターンを具体的な表現に書き直し、再実行したところ2件とも一致しました。2つ目は、どちらの概念とも取れる曖昧な解答を1件用意したのですが、AIは確信度を下げずに1つに絞り込んだことです。こちらは根拠パターンを直しても改善せず、ケース設計の問題として保留にしています。最終的に、保留の1件を除く9件すべてで一致し、達成基準を満たしました。</a:t>
            </a:r>
          </a:p>
        </p:txBody>
      </p:sp>
      <p:sp>
        <p:nvSpPr>
          <p:cNvPr id="4" name="Slide Number Placeholder 3">
            <a:extLst>
              <a:ext uri="{FF2B5EF4-FFF2-40B4-BE49-F238E27FC236}">
                <a16:creationId xmlns:a16="http://schemas.microsoft.com/office/drawing/2014/main" id="{CB14D2E3-0FCD-3FD7-2F59-4A978D359FD4}"/>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5678609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在の課題は3つあります。1つ目は、根拠パターンの文言が曖昧だと概念同士の切り分けが効かなくなることで、M2とM3で繰り返し確認されました。2つ目は、曖昧なケースでも確信度が下がらず、確信度lowの挙動を検証できていないことです。3つ目は、検証が自作の疑似データ10件にとどまり、想定ラベルも筆者1人の判定であることで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4で実装する概念マップの完成イメージです。ケース9を例にしています。不足と推定された概念を強調表示し、前提となる概念と、その先に続く概念をツリーとして前提関係でつないで示します。右側には根拠、確信度、内省質問を提示します。これはイメージで、実装はこれからです。</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CAEED-97F8-4E22-BBFC-17C715CDD7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FC97E4-D272-B0EC-B565-4B139E0A7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3C62B9-9233-531A-BA90-B587A806B344}"/>
              </a:ext>
            </a:extLst>
          </p:cNvPr>
          <p:cNvSpPr>
            <a:spLocks noGrp="1"/>
          </p:cNvSpPr>
          <p:nvPr>
            <p:ph type="body" idx="1"/>
          </p:nvPr>
        </p:nvSpPr>
        <p:spPr/>
        <p:txBody>
          <a:bodyPr/>
          <a:lstStyle/>
          <a:p>
            <a:r>
              <a:rPr lang="en-US" dirty="0"/>
              <a:t>今後はまずM4として、概念マップの可視化とフィードバック提示を実装し、解答過程の入力から提示までのフローを完成させます。続いてM5として学習者5名分の解答過程を収集し、AIの出力を見る前に私自身が不足概念を判定した上で、AIの推定と照合して一致率を算出します。評価者が私1人であるため、評価者間信頼性の検証は対象外とし、一次的な妥当性検証と位置づけます。</a:t>
            </a:r>
          </a:p>
        </p:txBody>
      </p:sp>
      <p:sp>
        <p:nvSpPr>
          <p:cNvPr id="4" name="Slide Number Placeholder 3">
            <a:extLst>
              <a:ext uri="{FF2B5EF4-FFF2-40B4-BE49-F238E27FC236}">
                <a16:creationId xmlns:a16="http://schemas.microsoft.com/office/drawing/2014/main" id="{181047C3-942B-B9EF-C7BB-F8E44133719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92508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です。解答過程から不足概念と根拠を推定し可視化するフローの構築を進めており、M1からM3が完了しました。課題として根拠パターンの曖昧さと確信度の挙動が残っています。今後は可視化を実装し、学習者データで妥当性を検証します。以上です。</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CA0F2-66B6-D40B-DF60-C4B77479F1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E6ED0A-9237-F1B4-B2EF-0E6039CF51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217051-68BA-1583-B719-522E03542AED}"/>
              </a:ext>
            </a:extLst>
          </p:cNvPr>
          <p:cNvSpPr>
            <a:spLocks noGrp="1"/>
          </p:cNvSpPr>
          <p:nvPr>
            <p:ph type="body" idx="1"/>
          </p:nvPr>
        </p:nvSpPr>
        <p:spPr/>
        <p:txBody>
          <a:bodyPr/>
          <a:lstStyle/>
          <a:p>
            <a:r>
              <a:rPr lang="en-US" dirty="0"/>
              <a:t>今後はまずM4として、概念マップの可視化とフィードバック提示を実装し、解答過程の入力から提示までのフローを完成させます。続いてM5として学習者5名分の解答過程を収集し、AIの出力を見る前に私自身が不足概念を判定した上で、AIの推定と照合して一致率を算出します。評価者が私1人であるため、評価者間信頼性の検証は対象外とし、一次的な妥当性検証と位置づけます。</a:t>
            </a:r>
          </a:p>
        </p:txBody>
      </p:sp>
      <p:sp>
        <p:nvSpPr>
          <p:cNvPr id="4" name="Slide Number Placeholder 3">
            <a:extLst>
              <a:ext uri="{FF2B5EF4-FFF2-40B4-BE49-F238E27FC236}">
                <a16:creationId xmlns:a16="http://schemas.microsoft.com/office/drawing/2014/main" id="{84B146C4-1E3C-D1F8-FA14-BEEF9348BE91}"/>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106416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48840"/>
            <a:ext cx="11094415" cy="17373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rtlCol="0"/>
          <a:lstStyle>
            <a:lvl1pPr marL="0" indent="0" algn="l">
              <a:buNone/>
              <a:defRPr lang="en-US" sz="2800" b="1" dirty="0">
                <a:solidFill>
                  <a:schemeClr val="tx2"/>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rtlCol="0"/>
          <a:lstStyle>
            <a:lvl1pPr marL="0" indent="0" algn="l">
              <a:buNone/>
              <a:defRPr lang="en-US" sz="2800" b="1" dirty="0">
                <a:solidFill>
                  <a:schemeClr val="bg1"/>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12_B8EDCED0.xml"/><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06_0.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07_0.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110_A1560D33.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0A_0.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0B_0.xm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548640" y="1371600"/>
            <a:ext cx="11094415" cy="365760"/>
          </a:xfrm>
          <a:prstGeom prst="rect">
            <a:avLst/>
          </a:prstGeom>
          <a:noFill/>
          <a:ln/>
        </p:spPr>
        <p:txBody>
          <a:bodyPr wrap="square" lIns="0" tIns="0" rIns="0" bIns="0" rtlCol="0" anchor="t"/>
          <a:lstStyle/>
          <a:p>
            <a:pPr marL="0" indent="0">
              <a:buNone/>
            </a:pPr>
            <a:r>
              <a:rPr lang="en-US" sz="1800" dirty="0">
                <a:solidFill>
                  <a:schemeClr val="accent3"/>
                </a:solidFill>
              </a:rPr>
              <a:t>令和8年度 電子情報工学科　卒業研究中間報告</a:t>
            </a:r>
            <a:endParaRPr lang="en-US" sz="1800" dirty="0"/>
          </a:p>
        </p:txBody>
      </p:sp>
      <p:sp>
        <p:nvSpPr>
          <p:cNvPr id="3" name="Text 0"/>
          <p:cNvSpPr>
            <a:spLocks noGrp="1"/>
          </p:cNvSpPr>
          <p:nvPr>
            <p:ph type="title" idx="100" hasCustomPrompt="1"/>
          </p:nvPr>
        </p:nvSpPr>
        <p:spPr>
          <a:xfrm>
            <a:off x="548640" y="2148840"/>
            <a:ext cx="11094415" cy="1737360"/>
          </a:xfrm>
          <a:prstGeom prst="rect">
            <a:avLst/>
          </a:prstGeom>
          <a:noFill/>
          <a:ln/>
        </p:spPr>
        <p:txBody>
          <a:bodyPr wrap="square" rtlCol="0" anchor="ctr"/>
          <a:lstStyle/>
          <a:p>
            <a:pPr marL="0" indent="0" algn="l">
              <a:buNone/>
            </a:pPr>
            <a:r>
              <a:rPr lang="en-US" sz="4000" b="1" dirty="0">
                <a:solidFill>
                  <a:schemeClr val="bg1"/>
                </a:solidFill>
              </a:rPr>
              <a:t>生成AIによる概念理解不足の推定と</a:t>
            </a:r>
            <a:endParaRPr lang="en-US" sz="4000" dirty="0"/>
          </a:p>
          <a:p>
            <a:pPr marL="0" indent="0" algn="l">
              <a:buNone/>
            </a:pPr>
            <a:r>
              <a:rPr lang="en-US" sz="4000" b="1" dirty="0">
                <a:solidFill>
                  <a:schemeClr val="bg1"/>
                </a:solidFill>
              </a:rPr>
              <a:t>可視化を通じたメタ認知支援</a:t>
            </a:r>
            <a:endParaRPr lang="en-US" sz="4000" dirty="0"/>
          </a:p>
        </p:txBody>
      </p:sp>
      <p:sp>
        <p:nvSpPr>
          <p:cNvPr id="4" name="text-2"/>
          <p:cNvSpPr txBox="1"/>
          <p:nvPr/>
        </p:nvSpPr>
        <p:spPr>
          <a:xfrm>
            <a:off x="548792" y="5377069"/>
            <a:ext cx="11094415" cy="411480"/>
          </a:xfrm>
          <a:prstGeom prst="rect">
            <a:avLst/>
          </a:prstGeom>
          <a:noFill/>
          <a:ln/>
        </p:spPr>
        <p:txBody>
          <a:bodyPr wrap="square" lIns="0" tIns="0" rIns="0" bIns="0" rtlCol="0" anchor="t"/>
          <a:lstStyle/>
          <a:p>
            <a:pPr marL="0" indent="0">
              <a:buNone/>
            </a:pPr>
            <a:r>
              <a:rPr lang="en-US" sz="2400" b="1" dirty="0">
                <a:solidFill>
                  <a:schemeClr val="bg1"/>
                </a:solidFill>
              </a:rPr>
              <a:t>14席　公文 健太</a:t>
            </a:r>
            <a:endParaRPr lang="en-US" sz="2400" dirty="0"/>
          </a:p>
        </p:txBody>
      </p:sp>
      <p:sp>
        <p:nvSpPr>
          <p:cNvPr id="5" name="text-3"/>
          <p:cNvSpPr txBox="1"/>
          <p:nvPr/>
        </p:nvSpPr>
        <p:spPr>
          <a:xfrm>
            <a:off x="548792" y="5879989"/>
            <a:ext cx="11094415" cy="365760"/>
          </a:xfrm>
          <a:prstGeom prst="rect">
            <a:avLst/>
          </a:prstGeom>
          <a:noFill/>
          <a:ln/>
        </p:spPr>
        <p:txBody>
          <a:bodyPr wrap="square" lIns="0" tIns="0" rIns="0" bIns="0" rtlCol="0" anchor="t"/>
          <a:lstStyle/>
          <a:p>
            <a:pPr marL="0" indent="0">
              <a:buNone/>
            </a:pPr>
            <a:r>
              <a:rPr lang="en-US" sz="1800" dirty="0">
                <a:solidFill>
                  <a:schemeClr val="accent3"/>
                </a:solidFill>
              </a:rPr>
              <a:t>青山研</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011803" cy="822960"/>
          </a:xfrm>
          <a:prstGeom prst="rect">
            <a:avLst/>
          </a:prstGeom>
          <a:noFill/>
          <a:ln/>
        </p:spPr>
        <p:txBody>
          <a:bodyPr wrap="square" rtlCol="0" anchor="ctr"/>
          <a:lstStyle/>
          <a:p>
            <a:pPr marL="0" indent="0" algn="l">
              <a:buNone/>
            </a:pPr>
            <a:r>
              <a:rPr lang="en-US" sz="2800" b="1" dirty="0" err="1">
                <a:solidFill>
                  <a:schemeClr val="tx2"/>
                </a:solidFill>
              </a:rPr>
              <a:t>目次</a:t>
            </a:r>
            <a:endParaRPr lang="en-US" sz="28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2</a:t>
            </a:fld>
            <a:endParaRPr lang="en-US"/>
          </a:p>
        </p:txBody>
      </p:sp>
      <p:sp>
        <p:nvSpPr>
          <p:cNvPr id="3" name="テキスト ボックス 2">
            <a:extLst>
              <a:ext uri="{FF2B5EF4-FFF2-40B4-BE49-F238E27FC236}">
                <a16:creationId xmlns:a16="http://schemas.microsoft.com/office/drawing/2014/main" id="{06CB1295-07C4-08BB-C82C-E1EE9D38B025}"/>
              </a:ext>
            </a:extLst>
          </p:cNvPr>
          <p:cNvSpPr txBox="1"/>
          <p:nvPr/>
        </p:nvSpPr>
        <p:spPr>
          <a:xfrm>
            <a:off x="934278" y="1570383"/>
            <a:ext cx="2711892" cy="3657540"/>
          </a:xfrm>
          <a:prstGeom prst="rect">
            <a:avLst/>
          </a:prstGeom>
          <a:noFill/>
        </p:spPr>
        <p:txBody>
          <a:bodyPr wrap="square" rtlCol="0">
            <a:spAutoFit/>
          </a:bodyPr>
          <a:lstStyle/>
          <a:p>
            <a:pPr marL="342900" indent="-342900">
              <a:lnSpc>
                <a:spcPts val="3480"/>
              </a:lnSpc>
              <a:buAutoNum type="arabicPeriod"/>
            </a:pPr>
            <a:r>
              <a:rPr kumimoji="1" lang="ja-JP" altLang="en-US" sz="2400">
                <a:latin typeface="Hiragino Kaku Gothic Pro W3" panose="020B0300000000000000" pitchFamily="34" charset="-128"/>
                <a:ea typeface="Hiragino Kaku Gothic Pro W3" panose="020B0300000000000000" pitchFamily="34" charset="-128"/>
              </a:rPr>
              <a:t>背景</a:t>
            </a:r>
            <a:endParaRPr kumimoji="1" lang="en-US" altLang="ja-JP" sz="2400" dirty="0">
              <a:latin typeface="Hiragino Kaku Gothic Pro W3" panose="020B0300000000000000" pitchFamily="34" charset="-128"/>
              <a:ea typeface="Hiragino Kaku Gothic Pro W3" panose="020B0300000000000000" pitchFamily="34" charset="-128"/>
            </a:endParaRPr>
          </a:p>
          <a:p>
            <a:pPr marL="342900" indent="-342900">
              <a:lnSpc>
                <a:spcPts val="3480"/>
              </a:lnSpc>
              <a:buAutoNum type="arabicPeriod"/>
            </a:pPr>
            <a:r>
              <a:rPr kumimoji="1" lang="ja-JP" altLang="en-US" sz="2400">
                <a:latin typeface="Hiragino Kaku Gothic Pro W3" panose="020B0300000000000000" pitchFamily="34" charset="-128"/>
                <a:ea typeface="Hiragino Kaku Gothic Pro W3" panose="020B0300000000000000" pitchFamily="34" charset="-128"/>
              </a:rPr>
              <a:t>目的</a:t>
            </a:r>
            <a:endParaRPr kumimoji="1" lang="en-US" altLang="ja-JP" sz="2400" dirty="0">
              <a:latin typeface="Hiragino Kaku Gothic Pro W3" panose="020B0300000000000000" pitchFamily="34" charset="-128"/>
              <a:ea typeface="Hiragino Kaku Gothic Pro W3" panose="020B0300000000000000" pitchFamily="34" charset="-128"/>
            </a:endParaRPr>
          </a:p>
          <a:p>
            <a:pPr marL="342900" indent="-342900">
              <a:lnSpc>
                <a:spcPts val="3480"/>
              </a:lnSpc>
              <a:buAutoNum type="arabicPeriod"/>
            </a:pPr>
            <a:r>
              <a:rPr kumimoji="1" lang="ja-JP" altLang="en-US" sz="2400">
                <a:latin typeface="Hiragino Kaku Gothic Pro W3" panose="020B0300000000000000" pitchFamily="34" charset="-128"/>
                <a:ea typeface="Hiragino Kaku Gothic Pro W3" panose="020B0300000000000000" pitchFamily="34" charset="-128"/>
              </a:rPr>
              <a:t>概要</a:t>
            </a:r>
            <a:endParaRPr kumimoji="1" lang="en-US" altLang="ja-JP" sz="2400" dirty="0">
              <a:latin typeface="Hiragino Kaku Gothic Pro W3" panose="020B0300000000000000" pitchFamily="34" charset="-128"/>
              <a:ea typeface="Hiragino Kaku Gothic Pro W3" panose="020B0300000000000000" pitchFamily="34" charset="-128"/>
            </a:endParaRPr>
          </a:p>
          <a:p>
            <a:pPr marL="342900" indent="-342900">
              <a:lnSpc>
                <a:spcPts val="3480"/>
              </a:lnSpc>
              <a:buAutoNum type="arabicPeriod"/>
            </a:pPr>
            <a:r>
              <a:rPr kumimoji="1" lang="ja-JP" altLang="en-US" sz="2400">
                <a:latin typeface="Hiragino Kaku Gothic Pro W3" panose="020B0300000000000000" pitchFamily="34" charset="-128"/>
                <a:ea typeface="Hiragino Kaku Gothic Pro W3" panose="020B0300000000000000" pitchFamily="34" charset="-128"/>
              </a:rPr>
              <a:t>研究計画</a:t>
            </a:r>
            <a:endParaRPr kumimoji="1" lang="en-US" altLang="ja-JP" sz="2400" dirty="0">
              <a:latin typeface="Hiragino Kaku Gothic Pro W3" panose="020B0300000000000000" pitchFamily="34" charset="-128"/>
              <a:ea typeface="Hiragino Kaku Gothic Pro W3" panose="020B0300000000000000" pitchFamily="34" charset="-128"/>
            </a:endParaRPr>
          </a:p>
          <a:p>
            <a:pPr marL="342900" indent="-342900">
              <a:lnSpc>
                <a:spcPts val="3480"/>
              </a:lnSpc>
              <a:buAutoNum type="arabicPeriod"/>
            </a:pPr>
            <a:r>
              <a:rPr kumimoji="1" lang="ja-JP" altLang="en-US" sz="2400">
                <a:latin typeface="Hiragino Kaku Gothic Pro W3" panose="020B0300000000000000" pitchFamily="34" charset="-128"/>
                <a:ea typeface="Hiragino Kaku Gothic Pro W3" panose="020B0300000000000000" pitchFamily="34" charset="-128"/>
              </a:rPr>
              <a:t>現在の進捗</a:t>
            </a:r>
            <a:endParaRPr kumimoji="1" lang="en-US" altLang="ja-JP" sz="2400" dirty="0">
              <a:latin typeface="Hiragino Kaku Gothic Pro W3" panose="020B0300000000000000" pitchFamily="34" charset="-128"/>
              <a:ea typeface="Hiragino Kaku Gothic Pro W3" panose="020B0300000000000000" pitchFamily="34" charset="-128"/>
            </a:endParaRPr>
          </a:p>
          <a:p>
            <a:pPr marL="342900" indent="-342900">
              <a:lnSpc>
                <a:spcPts val="3480"/>
              </a:lnSpc>
              <a:buAutoNum type="arabicPeriod"/>
            </a:pPr>
            <a:r>
              <a:rPr kumimoji="1" lang="ja-JP" altLang="en-US" sz="2400">
                <a:latin typeface="Hiragino Kaku Gothic Pro W3" panose="020B0300000000000000" pitchFamily="34" charset="-128"/>
                <a:ea typeface="Hiragino Kaku Gothic Pro W3" panose="020B0300000000000000" pitchFamily="34" charset="-128"/>
              </a:rPr>
              <a:t>現在の課題</a:t>
            </a:r>
            <a:endParaRPr kumimoji="1" lang="en-US" altLang="ja-JP" sz="2400" dirty="0">
              <a:latin typeface="Hiragino Kaku Gothic Pro W3" panose="020B0300000000000000" pitchFamily="34" charset="-128"/>
              <a:ea typeface="Hiragino Kaku Gothic Pro W3" panose="020B0300000000000000" pitchFamily="34" charset="-128"/>
            </a:endParaRPr>
          </a:p>
          <a:p>
            <a:pPr marL="342900" indent="-342900">
              <a:lnSpc>
                <a:spcPts val="3480"/>
              </a:lnSpc>
              <a:buAutoNum type="arabicPeriod"/>
            </a:pPr>
            <a:r>
              <a:rPr kumimoji="1" lang="ja-JP" altLang="en-US" sz="2400">
                <a:latin typeface="Hiragino Kaku Gothic Pro W3" panose="020B0300000000000000" pitchFamily="34" charset="-128"/>
                <a:ea typeface="Hiragino Kaku Gothic Pro W3" panose="020B0300000000000000" pitchFamily="34" charset="-128"/>
              </a:rPr>
              <a:t>今後の方針</a:t>
            </a:r>
            <a:endParaRPr kumimoji="1" lang="en-US" altLang="ja-JP" sz="2400" dirty="0">
              <a:latin typeface="Hiragino Kaku Gothic Pro W3" panose="020B0300000000000000" pitchFamily="34" charset="-128"/>
              <a:ea typeface="Hiragino Kaku Gothic Pro W3" panose="020B0300000000000000" pitchFamily="34" charset="-128"/>
            </a:endParaRPr>
          </a:p>
          <a:p>
            <a:pPr marL="342900" indent="-342900">
              <a:lnSpc>
                <a:spcPts val="3480"/>
              </a:lnSpc>
              <a:buAutoNum type="arabicPeriod"/>
            </a:pPr>
            <a:r>
              <a:rPr kumimoji="1" lang="ja-JP" altLang="en-US" sz="2400">
                <a:latin typeface="Hiragino Kaku Gothic Pro W3" panose="020B0300000000000000" pitchFamily="34" charset="-128"/>
                <a:ea typeface="Hiragino Kaku Gothic Pro W3" panose="020B0300000000000000" pitchFamily="34" charset="-128"/>
              </a:rPr>
              <a:t>まとめ</a:t>
            </a:r>
            <a:endParaRPr kumimoji="1" lang="en-US" altLang="ja-JP" sz="2400" dirty="0">
              <a:latin typeface="Hiragino Kaku Gothic Pro W3" panose="020B0300000000000000" pitchFamily="34" charset="-128"/>
              <a:ea typeface="Hiragino Kaku Gothic Pro W3" panose="020B0300000000000000"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DB76E-D401-84DD-3D09-A17A6A19171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9555FE1-A443-794F-83B1-3887F990E413}"/>
              </a:ext>
            </a:extLst>
          </p:cNvPr>
          <p:cNvSpPr>
            <a:spLocks noGrp="1"/>
          </p:cNvSpPr>
          <p:nvPr>
            <p:ph type="title" idx="100" hasCustomPrompt="1"/>
          </p:nvPr>
        </p:nvSpPr>
        <p:spPr>
          <a:xfrm>
            <a:off x="548641" y="365760"/>
            <a:ext cx="1051560" cy="822960"/>
          </a:xfrm>
          <a:prstGeom prst="rect">
            <a:avLst/>
          </a:prstGeom>
          <a:noFill/>
          <a:ln/>
        </p:spPr>
        <p:txBody>
          <a:bodyPr wrap="square" rtlCol="0" anchor="ctr"/>
          <a:lstStyle/>
          <a:p>
            <a:pPr marL="0" indent="0" algn="l">
              <a:buNone/>
            </a:pPr>
            <a:r>
              <a:rPr lang="en-US" sz="2800" b="1" dirty="0" err="1">
                <a:solidFill>
                  <a:schemeClr val="tx2"/>
                </a:solidFill>
              </a:rPr>
              <a:t>背景</a:t>
            </a:r>
            <a:endParaRPr lang="en-US" sz="2800" dirty="0"/>
          </a:p>
        </p:txBody>
      </p:sp>
      <p:sp>
        <p:nvSpPr>
          <p:cNvPr id="4" name="card-8">
            <a:extLst>
              <a:ext uri="{FF2B5EF4-FFF2-40B4-BE49-F238E27FC236}">
                <a16:creationId xmlns:a16="http://schemas.microsoft.com/office/drawing/2014/main" id="{3BB2F4EB-A08C-8127-F5EF-2B6AC2A9991A}"/>
              </a:ext>
            </a:extLst>
          </p:cNvPr>
          <p:cNvSpPr/>
          <p:nvPr/>
        </p:nvSpPr>
        <p:spPr>
          <a:xfrm>
            <a:off x="612648" y="2732314"/>
            <a:ext cx="3246120" cy="2103120"/>
          </a:xfrm>
          <a:prstGeom prst="roundRect">
            <a:avLst>
              <a:gd name="adj" fmla="val 3478"/>
            </a:avLst>
          </a:prstGeom>
          <a:solidFill>
            <a:schemeClr val="bg2"/>
          </a:solidFill>
          <a:ln w="12700">
            <a:solidFill>
              <a:srgbClr val="004352"/>
            </a:solidFill>
            <a:prstDash val="solid"/>
          </a:ln>
        </p:spPr>
        <p:txBody>
          <a:bodyPr/>
          <a:lstStyle/>
          <a:p>
            <a:endParaRPr lang="ja-JP" altLang="en-US"/>
          </a:p>
        </p:txBody>
      </p:sp>
      <p:sp>
        <p:nvSpPr>
          <p:cNvPr id="5" name="badge-9">
            <a:extLst>
              <a:ext uri="{FF2B5EF4-FFF2-40B4-BE49-F238E27FC236}">
                <a16:creationId xmlns:a16="http://schemas.microsoft.com/office/drawing/2014/main" id="{99F84E56-849E-5D20-F459-442DFDFCE5E4}"/>
              </a:ext>
            </a:extLst>
          </p:cNvPr>
          <p:cNvSpPr/>
          <p:nvPr/>
        </p:nvSpPr>
        <p:spPr>
          <a:xfrm>
            <a:off x="886968" y="3006634"/>
            <a:ext cx="457200" cy="45720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6" name="text-10">
            <a:extLst>
              <a:ext uri="{FF2B5EF4-FFF2-40B4-BE49-F238E27FC236}">
                <a16:creationId xmlns:a16="http://schemas.microsoft.com/office/drawing/2014/main" id="{DE2D870F-300A-3121-7EB3-7ECFC2A35A92}"/>
              </a:ext>
            </a:extLst>
          </p:cNvPr>
          <p:cNvSpPr txBox="1"/>
          <p:nvPr/>
        </p:nvSpPr>
        <p:spPr>
          <a:xfrm>
            <a:off x="886968" y="3600994"/>
            <a:ext cx="2697480" cy="685800"/>
          </a:xfrm>
          <a:prstGeom prst="rect">
            <a:avLst/>
          </a:prstGeom>
          <a:noFill/>
          <a:ln/>
        </p:spPr>
        <p:txBody>
          <a:bodyPr wrap="square" lIns="0" tIns="0" rIns="0" bIns="0" rtlCol="0" anchor="t"/>
          <a:lstStyle/>
          <a:p>
            <a:pPr marL="0" indent="0">
              <a:buNone/>
            </a:pPr>
            <a:r>
              <a:rPr lang="en-US" sz="2000" b="1" dirty="0">
                <a:solidFill>
                  <a:schemeClr val="tx2"/>
                </a:solidFill>
              </a:rPr>
              <a:t>理解度を客観的に</a:t>
            </a:r>
            <a:endParaRPr lang="en-US" sz="2000" dirty="0"/>
          </a:p>
          <a:p>
            <a:pPr marL="0" indent="0">
              <a:buNone/>
            </a:pPr>
            <a:r>
              <a:rPr lang="en-US" sz="2000" b="1" dirty="0">
                <a:solidFill>
                  <a:schemeClr val="tx2"/>
                </a:solidFill>
              </a:rPr>
              <a:t>把握できない</a:t>
            </a:r>
            <a:endParaRPr lang="en-US" sz="2000" dirty="0"/>
          </a:p>
        </p:txBody>
      </p:sp>
      <p:sp>
        <p:nvSpPr>
          <p:cNvPr id="7" name="text-11">
            <a:extLst>
              <a:ext uri="{FF2B5EF4-FFF2-40B4-BE49-F238E27FC236}">
                <a16:creationId xmlns:a16="http://schemas.microsoft.com/office/drawing/2014/main" id="{CDF66199-1DF0-B7FF-805D-BA52A8445303}"/>
              </a:ext>
            </a:extLst>
          </p:cNvPr>
          <p:cNvSpPr txBox="1"/>
          <p:nvPr/>
        </p:nvSpPr>
        <p:spPr>
          <a:xfrm>
            <a:off x="886968" y="4305082"/>
            <a:ext cx="2697480" cy="457200"/>
          </a:xfrm>
          <a:prstGeom prst="rect">
            <a:avLst/>
          </a:prstGeom>
          <a:noFill/>
          <a:ln/>
        </p:spPr>
        <p:txBody>
          <a:bodyPr wrap="square" lIns="0" tIns="0" rIns="0" bIns="0" rtlCol="0" anchor="t"/>
          <a:lstStyle/>
          <a:p>
            <a:pPr marL="0" indent="0">
              <a:buNone/>
            </a:pPr>
            <a:r>
              <a:rPr lang="en-US" sz="1200" dirty="0" err="1">
                <a:solidFill>
                  <a:schemeClr val="accent5"/>
                </a:solidFill>
              </a:rPr>
              <a:t>学習者は数学理論全体と自分の</a:t>
            </a:r>
            <a:endParaRPr lang="en-US" sz="1200" dirty="0">
              <a:solidFill>
                <a:schemeClr val="accent5"/>
              </a:solidFill>
            </a:endParaRPr>
          </a:p>
          <a:p>
            <a:pPr marL="0" indent="0">
              <a:buNone/>
            </a:pPr>
            <a:r>
              <a:rPr lang="en-US" sz="1200" dirty="0" err="1">
                <a:solidFill>
                  <a:schemeClr val="accent5"/>
                </a:solidFill>
              </a:rPr>
              <a:t>知識量の把握が難しい</a:t>
            </a:r>
            <a:endParaRPr lang="en-US" sz="1200" dirty="0"/>
          </a:p>
        </p:txBody>
      </p:sp>
      <p:sp>
        <p:nvSpPr>
          <p:cNvPr id="8" name="arrow-12">
            <a:extLst>
              <a:ext uri="{FF2B5EF4-FFF2-40B4-BE49-F238E27FC236}">
                <a16:creationId xmlns:a16="http://schemas.microsoft.com/office/drawing/2014/main" id="{EF1AFB40-8583-E7B5-0A4A-ABDCE943F451}"/>
              </a:ext>
            </a:extLst>
          </p:cNvPr>
          <p:cNvSpPr/>
          <p:nvPr/>
        </p:nvSpPr>
        <p:spPr>
          <a:xfrm>
            <a:off x="4014216" y="3600994"/>
            <a:ext cx="365760" cy="365760"/>
          </a:xfrm>
          <a:prstGeom prst="rightArrow">
            <a:avLst/>
          </a:prstGeom>
          <a:solidFill>
            <a:schemeClr val="accent1"/>
          </a:solidFill>
          <a:ln/>
        </p:spPr>
        <p:txBody>
          <a:bodyPr/>
          <a:lstStyle/>
          <a:p>
            <a:endParaRPr lang="ja-JP" altLang="en-US"/>
          </a:p>
        </p:txBody>
      </p:sp>
      <p:sp>
        <p:nvSpPr>
          <p:cNvPr id="9" name="card-13">
            <a:extLst>
              <a:ext uri="{FF2B5EF4-FFF2-40B4-BE49-F238E27FC236}">
                <a16:creationId xmlns:a16="http://schemas.microsoft.com/office/drawing/2014/main" id="{0E46BC41-E1B6-0FFD-AF94-1377CE6F67BE}"/>
              </a:ext>
            </a:extLst>
          </p:cNvPr>
          <p:cNvSpPr/>
          <p:nvPr/>
        </p:nvSpPr>
        <p:spPr>
          <a:xfrm>
            <a:off x="4535424" y="2732314"/>
            <a:ext cx="3246120" cy="2103120"/>
          </a:xfrm>
          <a:prstGeom prst="roundRect">
            <a:avLst>
              <a:gd name="adj" fmla="val 3478"/>
            </a:avLst>
          </a:prstGeom>
          <a:solidFill>
            <a:schemeClr val="bg2"/>
          </a:solidFill>
          <a:ln w="12700">
            <a:solidFill>
              <a:srgbClr val="004352"/>
            </a:solidFill>
            <a:prstDash val="solid"/>
          </a:ln>
        </p:spPr>
        <p:txBody>
          <a:bodyPr/>
          <a:lstStyle/>
          <a:p>
            <a:endParaRPr lang="ja-JP" altLang="en-US"/>
          </a:p>
        </p:txBody>
      </p:sp>
      <p:sp>
        <p:nvSpPr>
          <p:cNvPr id="10" name="badge-14">
            <a:extLst>
              <a:ext uri="{FF2B5EF4-FFF2-40B4-BE49-F238E27FC236}">
                <a16:creationId xmlns:a16="http://schemas.microsoft.com/office/drawing/2014/main" id="{DF219A11-5514-454D-30CA-548F0C2A6080}"/>
              </a:ext>
            </a:extLst>
          </p:cNvPr>
          <p:cNvSpPr/>
          <p:nvPr/>
        </p:nvSpPr>
        <p:spPr>
          <a:xfrm>
            <a:off x="4809744" y="3006634"/>
            <a:ext cx="457200" cy="45720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ext-15">
            <a:extLst>
              <a:ext uri="{FF2B5EF4-FFF2-40B4-BE49-F238E27FC236}">
                <a16:creationId xmlns:a16="http://schemas.microsoft.com/office/drawing/2014/main" id="{FF09B4F4-3B09-A6B8-A1B4-7369797282CD}"/>
              </a:ext>
            </a:extLst>
          </p:cNvPr>
          <p:cNvSpPr txBox="1"/>
          <p:nvPr/>
        </p:nvSpPr>
        <p:spPr>
          <a:xfrm>
            <a:off x="4809744" y="3600994"/>
            <a:ext cx="2697480" cy="685800"/>
          </a:xfrm>
          <a:prstGeom prst="rect">
            <a:avLst/>
          </a:prstGeom>
          <a:noFill/>
          <a:ln/>
        </p:spPr>
        <p:txBody>
          <a:bodyPr wrap="square" lIns="0" tIns="0" rIns="0" bIns="0" rtlCol="0" anchor="t"/>
          <a:lstStyle/>
          <a:p>
            <a:pPr marL="0" indent="0">
              <a:buNone/>
            </a:pPr>
            <a:r>
              <a:rPr lang="en-US" sz="2000" b="1" dirty="0">
                <a:solidFill>
                  <a:schemeClr val="tx2"/>
                </a:solidFill>
              </a:rPr>
              <a:t>自己評価が</a:t>
            </a:r>
            <a:endParaRPr lang="en-US" sz="2000" dirty="0"/>
          </a:p>
          <a:p>
            <a:pPr marL="0" indent="0">
              <a:buNone/>
            </a:pPr>
            <a:r>
              <a:rPr lang="en-US" sz="2000" b="1" dirty="0">
                <a:solidFill>
                  <a:schemeClr val="tx2"/>
                </a:solidFill>
              </a:rPr>
              <a:t>不正確になる</a:t>
            </a:r>
            <a:endParaRPr lang="en-US" sz="2000" dirty="0"/>
          </a:p>
        </p:txBody>
      </p:sp>
      <p:sp>
        <p:nvSpPr>
          <p:cNvPr id="12" name="text-16">
            <a:extLst>
              <a:ext uri="{FF2B5EF4-FFF2-40B4-BE49-F238E27FC236}">
                <a16:creationId xmlns:a16="http://schemas.microsoft.com/office/drawing/2014/main" id="{63801A06-FB49-44AB-2003-6E6632F7E3D7}"/>
              </a:ext>
            </a:extLst>
          </p:cNvPr>
          <p:cNvSpPr txBox="1"/>
          <p:nvPr/>
        </p:nvSpPr>
        <p:spPr>
          <a:xfrm>
            <a:off x="4809744" y="4305082"/>
            <a:ext cx="2697480" cy="457200"/>
          </a:xfrm>
          <a:prstGeom prst="rect">
            <a:avLst/>
          </a:prstGeom>
          <a:noFill/>
          <a:ln/>
        </p:spPr>
        <p:txBody>
          <a:bodyPr wrap="square" lIns="0" tIns="0" rIns="0" bIns="0" rtlCol="0" anchor="t"/>
          <a:lstStyle/>
          <a:p>
            <a:pPr marL="0" indent="0">
              <a:buNone/>
            </a:pPr>
            <a:r>
              <a:rPr lang="en-US" sz="1200" dirty="0">
                <a:solidFill>
                  <a:schemeClr val="accent5"/>
                </a:solidFill>
              </a:rPr>
              <a:t>「できている」という認識と</a:t>
            </a:r>
            <a:endParaRPr lang="en-US" sz="1200" dirty="0"/>
          </a:p>
          <a:p>
            <a:pPr marL="0" indent="0">
              <a:buNone/>
            </a:pPr>
            <a:r>
              <a:rPr lang="en-US" sz="1200" dirty="0">
                <a:solidFill>
                  <a:schemeClr val="accent5"/>
                </a:solidFill>
              </a:rPr>
              <a:t>実際の理解度がずれる</a:t>
            </a:r>
            <a:endParaRPr lang="en-US" sz="1200" dirty="0"/>
          </a:p>
        </p:txBody>
      </p:sp>
      <p:sp>
        <p:nvSpPr>
          <p:cNvPr id="13" name="arrow-17">
            <a:extLst>
              <a:ext uri="{FF2B5EF4-FFF2-40B4-BE49-F238E27FC236}">
                <a16:creationId xmlns:a16="http://schemas.microsoft.com/office/drawing/2014/main" id="{FD727566-AF92-C617-A36F-7814A1C75306}"/>
              </a:ext>
            </a:extLst>
          </p:cNvPr>
          <p:cNvSpPr/>
          <p:nvPr/>
        </p:nvSpPr>
        <p:spPr>
          <a:xfrm>
            <a:off x="7936992" y="3600994"/>
            <a:ext cx="365760" cy="365760"/>
          </a:xfrm>
          <a:prstGeom prst="rightArrow">
            <a:avLst/>
          </a:prstGeom>
          <a:solidFill>
            <a:schemeClr val="accent1"/>
          </a:solidFill>
          <a:ln/>
        </p:spPr>
        <p:txBody>
          <a:bodyPr/>
          <a:lstStyle/>
          <a:p>
            <a:endParaRPr lang="ja-JP" altLang="en-US"/>
          </a:p>
        </p:txBody>
      </p:sp>
      <p:sp>
        <p:nvSpPr>
          <p:cNvPr id="14" name="card-18">
            <a:extLst>
              <a:ext uri="{FF2B5EF4-FFF2-40B4-BE49-F238E27FC236}">
                <a16:creationId xmlns:a16="http://schemas.microsoft.com/office/drawing/2014/main" id="{7A46BBBF-DA0C-3C61-3910-517065949B80}"/>
              </a:ext>
            </a:extLst>
          </p:cNvPr>
          <p:cNvSpPr/>
          <p:nvPr/>
        </p:nvSpPr>
        <p:spPr>
          <a:xfrm>
            <a:off x="8458200" y="2732314"/>
            <a:ext cx="3246120" cy="2103120"/>
          </a:xfrm>
          <a:prstGeom prst="roundRect">
            <a:avLst>
              <a:gd name="adj" fmla="val 3478"/>
            </a:avLst>
          </a:prstGeom>
          <a:solidFill>
            <a:schemeClr val="accent4"/>
          </a:solidFill>
          <a:ln w="12700">
            <a:solidFill>
              <a:srgbClr val="000000"/>
            </a:solidFill>
            <a:prstDash val="solid"/>
          </a:ln>
        </p:spPr>
        <p:txBody>
          <a:bodyPr/>
          <a:lstStyle/>
          <a:p>
            <a:endParaRPr lang="ja-JP" altLang="en-US"/>
          </a:p>
        </p:txBody>
      </p:sp>
      <p:sp>
        <p:nvSpPr>
          <p:cNvPr id="15" name="badge-19">
            <a:extLst>
              <a:ext uri="{FF2B5EF4-FFF2-40B4-BE49-F238E27FC236}">
                <a16:creationId xmlns:a16="http://schemas.microsoft.com/office/drawing/2014/main" id="{E6CB10DA-1FE2-A56A-1855-9A825AAA2906}"/>
              </a:ext>
            </a:extLst>
          </p:cNvPr>
          <p:cNvSpPr/>
          <p:nvPr/>
        </p:nvSpPr>
        <p:spPr>
          <a:xfrm>
            <a:off x="8732520" y="3006634"/>
            <a:ext cx="457200" cy="457200"/>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6" name="text-20">
            <a:extLst>
              <a:ext uri="{FF2B5EF4-FFF2-40B4-BE49-F238E27FC236}">
                <a16:creationId xmlns:a16="http://schemas.microsoft.com/office/drawing/2014/main" id="{163B984B-BC44-B169-EE32-76ABBB20A161}"/>
              </a:ext>
            </a:extLst>
          </p:cNvPr>
          <p:cNvSpPr txBox="1"/>
          <p:nvPr/>
        </p:nvSpPr>
        <p:spPr>
          <a:xfrm>
            <a:off x="8732520" y="3600994"/>
            <a:ext cx="2697480" cy="685800"/>
          </a:xfrm>
          <a:prstGeom prst="rect">
            <a:avLst/>
          </a:prstGeom>
          <a:noFill/>
          <a:ln/>
        </p:spPr>
        <p:txBody>
          <a:bodyPr wrap="square" lIns="0" tIns="0" rIns="0" bIns="0" rtlCol="0" anchor="t"/>
          <a:lstStyle/>
          <a:p>
            <a:pPr marL="0" indent="0">
              <a:buNone/>
            </a:pPr>
            <a:r>
              <a:rPr lang="en-US" sz="2000" b="1" dirty="0">
                <a:solidFill>
                  <a:schemeClr val="accent2"/>
                </a:solidFill>
              </a:rPr>
              <a:t>学習効率が</a:t>
            </a:r>
            <a:endParaRPr lang="en-US" sz="2000" dirty="0"/>
          </a:p>
          <a:p>
            <a:pPr marL="0" indent="0">
              <a:buNone/>
            </a:pPr>
            <a:r>
              <a:rPr lang="en-US" sz="2000" b="1" dirty="0">
                <a:solidFill>
                  <a:schemeClr val="accent2"/>
                </a:solidFill>
              </a:rPr>
              <a:t>低下する</a:t>
            </a:r>
            <a:endParaRPr lang="en-US" sz="2000" dirty="0"/>
          </a:p>
        </p:txBody>
      </p:sp>
      <p:sp>
        <p:nvSpPr>
          <p:cNvPr id="17" name="text-21">
            <a:extLst>
              <a:ext uri="{FF2B5EF4-FFF2-40B4-BE49-F238E27FC236}">
                <a16:creationId xmlns:a16="http://schemas.microsoft.com/office/drawing/2014/main" id="{D655CEF5-0C7C-FD55-1B93-109312F4F316}"/>
              </a:ext>
            </a:extLst>
          </p:cNvPr>
          <p:cNvSpPr txBox="1"/>
          <p:nvPr/>
        </p:nvSpPr>
        <p:spPr>
          <a:xfrm>
            <a:off x="8732520" y="4305082"/>
            <a:ext cx="2697480" cy="457200"/>
          </a:xfrm>
          <a:prstGeom prst="rect">
            <a:avLst/>
          </a:prstGeom>
          <a:noFill/>
          <a:ln/>
        </p:spPr>
        <p:txBody>
          <a:bodyPr wrap="square" lIns="0" tIns="0" rIns="0" bIns="0" rtlCol="0" anchor="t"/>
          <a:lstStyle/>
          <a:p>
            <a:pPr marL="0" indent="0">
              <a:buNone/>
            </a:pPr>
            <a:r>
              <a:rPr lang="en-US" sz="1200" dirty="0" err="1">
                <a:solidFill>
                  <a:schemeClr val="accent5"/>
                </a:solidFill>
              </a:rPr>
              <a:t>分かっていない部分を集中的に</a:t>
            </a:r>
            <a:endParaRPr lang="en-US" sz="1200" dirty="0">
              <a:solidFill>
                <a:schemeClr val="accent5"/>
              </a:solidFill>
            </a:endParaRPr>
          </a:p>
          <a:p>
            <a:pPr marL="0" indent="0">
              <a:buNone/>
            </a:pPr>
            <a:r>
              <a:rPr lang="en-US" sz="1200" dirty="0" err="1">
                <a:solidFill>
                  <a:schemeClr val="accent5"/>
                </a:solidFill>
              </a:rPr>
              <a:t>学ぶことができない</a:t>
            </a:r>
            <a:endParaRPr lang="en-US" sz="1200" dirty="0"/>
          </a:p>
        </p:txBody>
      </p:sp>
      <p:sp>
        <p:nvSpPr>
          <p:cNvPr id="25" name="Slide Number Placeholder 0">
            <a:extLst>
              <a:ext uri="{FF2B5EF4-FFF2-40B4-BE49-F238E27FC236}">
                <a16:creationId xmlns:a16="http://schemas.microsoft.com/office/drawing/2014/main" id="{9C76D449-7549-CCEC-1C81-CA7EA060D635}"/>
              </a:ext>
            </a:extLst>
          </p:cNvPr>
          <p:cNvSpPr>
            <a:spLocks noGrp="1"/>
          </p:cNvSpPr>
          <p:nvPr>
            <p:ph type="sldNum" sz="quarter" idx="4294967295"/>
          </p:nvPr>
        </p:nvSpPr>
        <p:spPr>
          <a:xfrm>
            <a:off x="11155680" y="6382512"/>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3</a:t>
            </a:fld>
            <a:endParaRPr lang="en-US"/>
          </a:p>
        </p:txBody>
      </p:sp>
      <p:sp>
        <p:nvSpPr>
          <p:cNvPr id="3" name="テキスト ボックス 2">
            <a:extLst>
              <a:ext uri="{FF2B5EF4-FFF2-40B4-BE49-F238E27FC236}">
                <a16:creationId xmlns:a16="http://schemas.microsoft.com/office/drawing/2014/main" id="{FCD0A760-824B-285A-BE05-367CB48802CD}"/>
              </a:ext>
            </a:extLst>
          </p:cNvPr>
          <p:cNvSpPr txBox="1"/>
          <p:nvPr/>
        </p:nvSpPr>
        <p:spPr>
          <a:xfrm>
            <a:off x="612648" y="1928642"/>
            <a:ext cx="2262158" cy="369332"/>
          </a:xfrm>
          <a:prstGeom prst="rect">
            <a:avLst/>
          </a:prstGeom>
          <a:noFill/>
        </p:spPr>
        <p:txBody>
          <a:bodyPr wrap="none" rtlCol="0">
            <a:spAutoFit/>
          </a:bodyPr>
          <a:lstStyle/>
          <a:p>
            <a:r>
              <a:rPr kumimoji="1" lang="ja-JP" altLang="en-US"/>
              <a:t>数学学習において、</a:t>
            </a:r>
          </a:p>
        </p:txBody>
      </p:sp>
    </p:spTree>
    <p:extLst>
      <p:ext uri="{BB962C8B-B14F-4D97-AF65-F5344CB8AC3E}">
        <p14:creationId xmlns:p14="http://schemas.microsoft.com/office/powerpoint/2010/main" val="734603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232079" y="5083666"/>
            <a:ext cx="7144095" cy="822960"/>
          </a:xfrm>
          <a:prstGeom prst="rect">
            <a:avLst/>
          </a:prstGeom>
          <a:noFill/>
          <a:ln/>
        </p:spPr>
        <p:txBody>
          <a:bodyPr wrap="square" rtlCol="0" anchor="ctr"/>
          <a:lstStyle/>
          <a:p>
            <a:pPr marL="0" indent="0" algn="l">
              <a:buNone/>
            </a:pPr>
            <a:r>
              <a:rPr lang="en-US" sz="2800" b="1" dirty="0" err="1">
                <a:solidFill>
                  <a:schemeClr val="tx2"/>
                </a:solidFill>
              </a:rPr>
              <a:t>解答過程そのものから</a:t>
            </a:r>
            <a:br>
              <a:rPr lang="en-US" sz="2800" b="1" dirty="0">
                <a:solidFill>
                  <a:schemeClr val="tx2"/>
                </a:solidFill>
              </a:rPr>
            </a:br>
            <a:r>
              <a:rPr lang="en-US" sz="2800" b="1" dirty="0" err="1">
                <a:solidFill>
                  <a:schemeClr val="tx2"/>
                </a:solidFill>
              </a:rPr>
              <a:t>学習者の理解度の分析が可能（仮説</a:t>
            </a:r>
            <a:r>
              <a:rPr lang="en-US" sz="2800" b="1" dirty="0">
                <a:solidFill>
                  <a:schemeClr val="tx2"/>
                </a:solidFill>
              </a:rPr>
              <a:t>）</a:t>
            </a:r>
            <a:endParaRPr lang="en-US" sz="2800" dirty="0"/>
          </a:p>
        </p:txBody>
      </p:sp>
      <p:graphicFrame>
        <p:nvGraphicFramePr>
          <p:cNvPr id="4" name="comparison-table"/>
          <p:cNvGraphicFramePr>
            <a:graphicFrameLocks noGrp="1"/>
          </p:cNvGraphicFramePr>
          <p:nvPr>
            <p:extLst>
              <p:ext uri="{D42A27DB-BD31-4B8C-83A1-F6EECF244321}">
                <p14:modId xmlns:p14="http://schemas.microsoft.com/office/powerpoint/2010/main" val="3778361085"/>
              </p:ext>
            </p:extLst>
          </p:nvPr>
        </p:nvGraphicFramePr>
        <p:xfrm>
          <a:off x="479066" y="429371"/>
          <a:ext cx="11091672" cy="4114800"/>
        </p:xfrm>
        <a:graphic>
          <a:graphicData uri="http://schemas.openxmlformats.org/drawingml/2006/table">
            <a:tbl>
              <a:tblPr/>
              <a:tblGrid>
                <a:gridCol w="2130552">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502920">
                <a:tc>
                  <a:txBody>
                    <a:bodyPr/>
                    <a:lstStyle/>
                    <a:p>
                      <a:pPr marL="0" indent="0">
                        <a:buNone/>
                      </a:pPr>
                      <a:endParaRPr lang="en-US" sz="1200" dirty="0"/>
                    </a:p>
                  </a:txBody>
                  <a:tcPr marL="137160" marR="137160">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bg1"/>
                    </a:solidFill>
                  </a:tcPr>
                </a:tc>
                <a:tc>
                  <a:txBody>
                    <a:bodyPr/>
                    <a:lstStyle/>
                    <a:p>
                      <a:pPr marL="0" indent="0" algn="l">
                        <a:buNone/>
                      </a:pPr>
                      <a:r>
                        <a:rPr lang="en-US" sz="1600" b="1" dirty="0">
                          <a:solidFill>
                            <a:schemeClr val="bg1"/>
                          </a:solidFill>
                        </a:rPr>
                        <a:t>Yangら（2026）</a:t>
                      </a:r>
                      <a:endParaRPr lang="en-US" sz="16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accent5"/>
                    </a:solidFill>
                  </a:tcPr>
                </a:tc>
                <a:tc>
                  <a:txBody>
                    <a:bodyPr/>
                    <a:lstStyle/>
                    <a:p>
                      <a:pPr marL="0" indent="0" algn="l">
                        <a:buNone/>
                      </a:pPr>
                      <a:r>
                        <a:rPr lang="en-US" sz="1600" b="1" dirty="0">
                          <a:solidFill>
                            <a:schemeClr val="bg1"/>
                          </a:solidFill>
                        </a:rPr>
                        <a:t>本研究</a:t>
                      </a:r>
                      <a:endParaRPr lang="en-US" sz="16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94360">
                <a:tc>
                  <a:txBody>
                    <a:bodyPr/>
                    <a:lstStyle/>
                    <a:p>
                      <a:pPr marL="0" indent="0">
                        <a:buNone/>
                      </a:pPr>
                      <a:r>
                        <a:rPr lang="en-US" sz="1400" b="1" dirty="0">
                          <a:solidFill>
                            <a:schemeClr val="tx2"/>
                          </a:solidFill>
                        </a:rPr>
                        <a:t>対象領域</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プログラミング教育</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400" dirty="0">
                          <a:solidFill>
                            <a:schemeClr val="tx1"/>
                          </a:solidFill>
                        </a:rPr>
                        <a:t>数学（線形代数）</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buNone/>
                      </a:pPr>
                      <a:r>
                        <a:rPr lang="en-US" sz="1400" b="1" dirty="0">
                          <a:solidFill>
                            <a:schemeClr val="tx2"/>
                          </a:solidFill>
                        </a:rPr>
                        <a:t>AIへの入力</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学習行動ログ</a:t>
                      </a:r>
                      <a:endParaRPr lang="en-US" sz="1400" dirty="0"/>
                    </a:p>
                    <a:p>
                      <a:pPr marL="0" indent="0">
                        <a:buNone/>
                      </a:pPr>
                      <a:r>
                        <a:rPr lang="en-US" sz="1400" dirty="0">
                          <a:solidFill>
                            <a:schemeClr val="tx1"/>
                          </a:solidFill>
                        </a:rPr>
                        <a:t>（SHAPで抽出した学習特徴）</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400" b="1" dirty="0">
                          <a:solidFill>
                            <a:schemeClr val="tx1"/>
                          </a:solidFill>
                        </a:rPr>
                        <a:t>解答過程</a:t>
                      </a:r>
                      <a:endParaRPr lang="en-US" sz="1400" dirty="0"/>
                    </a:p>
                    <a:p>
                      <a:pPr marL="0" indent="0">
                        <a:buNone/>
                      </a:pPr>
                      <a:r>
                        <a:rPr lang="en-US" sz="1400" b="1" dirty="0">
                          <a:solidFill>
                            <a:schemeClr val="tx1"/>
                          </a:solidFill>
                        </a:rPr>
                        <a:t>（問題文・途中式・自己説明）</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extLst>
                  <a:ext uri="{0D108BD9-81ED-4DB2-BD59-A6C34878D82A}">
                    <a16:rowId xmlns:a16="http://schemas.microsoft.com/office/drawing/2014/main" val="10002"/>
                  </a:ext>
                </a:extLst>
              </a:tr>
              <a:tr h="777240">
                <a:tc>
                  <a:txBody>
                    <a:bodyPr/>
                    <a:lstStyle/>
                    <a:p>
                      <a:pPr marL="0" indent="0">
                        <a:buNone/>
                      </a:pPr>
                      <a:r>
                        <a:rPr lang="en-US" sz="1400" b="1" dirty="0">
                          <a:solidFill>
                            <a:schemeClr val="tx2"/>
                          </a:solidFill>
                        </a:rPr>
                        <a:t>AIの出力</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個別化フィードバック（GPT-4）</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400" dirty="0">
                          <a:solidFill>
                            <a:schemeClr val="tx1"/>
                          </a:solidFill>
                        </a:rPr>
                        <a:t>不足概念・根拠・確信度・内省質問</a:t>
                      </a:r>
                      <a:endParaRPr lang="en-US" sz="1400" dirty="0"/>
                    </a:p>
                    <a:p>
                      <a:pPr marL="0" indent="0">
                        <a:buNone/>
                      </a:pPr>
                      <a:r>
                        <a:rPr lang="en-US" sz="1400" dirty="0">
                          <a:solidFill>
                            <a:schemeClr val="tx1"/>
                          </a:solidFill>
                        </a:rPr>
                        <a:t>→ 概念マップとして可視化</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extLst>
                  <a:ext uri="{0D108BD9-81ED-4DB2-BD59-A6C34878D82A}">
                    <a16:rowId xmlns:a16="http://schemas.microsoft.com/office/drawing/2014/main" val="10003"/>
                  </a:ext>
                </a:extLst>
              </a:tr>
              <a:tr h="685800">
                <a:tc>
                  <a:txBody>
                    <a:bodyPr/>
                    <a:lstStyle/>
                    <a:p>
                      <a:pPr marL="0" indent="0">
                        <a:buNone/>
                      </a:pPr>
                      <a:r>
                        <a:rPr lang="en-US" sz="1400" b="1" dirty="0">
                          <a:solidFill>
                            <a:schemeClr val="tx2"/>
                          </a:solidFill>
                        </a:rPr>
                        <a:t>示されたこと／</a:t>
                      </a:r>
                      <a:endParaRPr lang="en-US" sz="1400" dirty="0"/>
                    </a:p>
                    <a:p>
                      <a:pPr marL="0" indent="0">
                        <a:buNone/>
                      </a:pPr>
                      <a:r>
                        <a:rPr lang="en-US" sz="1400" b="1" dirty="0">
                          <a:solidFill>
                            <a:schemeClr val="tx2"/>
                          </a:solidFill>
                        </a:rPr>
                        <a:t>検証すること</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自己調整学習の行動と成績が改善</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400" dirty="0">
                          <a:solidFill>
                            <a:schemeClr val="tx1"/>
                          </a:solidFill>
                        </a:rPr>
                        <a:t>推定が実際の理解度を反映しているか</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extLst>
                  <a:ext uri="{0D108BD9-81ED-4DB2-BD59-A6C34878D82A}">
                    <a16:rowId xmlns:a16="http://schemas.microsoft.com/office/drawing/2014/main" val="10004"/>
                  </a:ext>
                </a:extLst>
              </a:tr>
              <a:tr h="777240">
                <a:tc>
                  <a:txBody>
                    <a:bodyPr/>
                    <a:lstStyle/>
                    <a:p>
                      <a:pPr marL="0" indent="0">
                        <a:buNone/>
                      </a:pPr>
                      <a:r>
                        <a:rPr lang="en-US" sz="1400" b="1" dirty="0">
                          <a:solidFill>
                            <a:schemeClr val="tx2"/>
                          </a:solidFill>
                        </a:rPr>
                        <a:t>前提</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2"/>
                          </a:solidFill>
                        </a:rPr>
                        <a:t>既存の行動計測基盤が必要</a:t>
                      </a:r>
                      <a:endParaRPr lang="en-US" sz="1400" dirty="0"/>
                    </a:p>
                    <a:p>
                      <a:pPr marL="0" indent="0">
                        <a:buNone/>
                      </a:pPr>
                      <a:r>
                        <a:rPr lang="en-US" sz="1400" b="1" dirty="0">
                          <a:solidFill>
                            <a:schemeClr val="accent2"/>
                          </a:solidFill>
                        </a:rPr>
                        <a:t>解答過程そのものは分析しない</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400" dirty="0">
                          <a:solidFill>
                            <a:schemeClr val="tx1"/>
                          </a:solidFill>
                        </a:rPr>
                        <a:t>解答そのものから推定できる</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25"/>
          <p:cNvSpPr txBox="1"/>
          <p:nvPr/>
        </p:nvSpPr>
        <p:spPr>
          <a:xfrm>
            <a:off x="7466274" y="6446122"/>
            <a:ext cx="10424160" cy="274320"/>
          </a:xfrm>
          <a:prstGeom prst="rect">
            <a:avLst/>
          </a:prstGeom>
          <a:noFill/>
          <a:ln/>
        </p:spPr>
        <p:txBody>
          <a:bodyPr wrap="square" lIns="0" tIns="0" rIns="0" bIns="0" rtlCol="0" anchor="t"/>
          <a:lstStyle/>
          <a:p>
            <a:pPr marL="0" indent="0">
              <a:buNone/>
            </a:pPr>
            <a:r>
              <a:rPr lang="en-US" sz="1000" dirty="0">
                <a:solidFill>
                  <a:schemeClr val="accent5"/>
                </a:solidFill>
              </a:rPr>
              <a:t>Yang et al. (2026), Journal of Computer Assisted Learning</a:t>
            </a:r>
            <a:endParaRPr lang="en-US" sz="10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4</a:t>
            </a:fld>
            <a:endParaRPr lang="en-US"/>
          </a:p>
        </p:txBody>
      </p:sp>
      <p:sp>
        <p:nvSpPr>
          <p:cNvPr id="8" name="右矢印 7">
            <a:extLst>
              <a:ext uri="{FF2B5EF4-FFF2-40B4-BE49-F238E27FC236}">
                <a16:creationId xmlns:a16="http://schemas.microsoft.com/office/drawing/2014/main" id="{E0BCDF9A-1A5C-58E5-BC9E-3A8554F92919}"/>
              </a:ext>
            </a:extLst>
          </p:cNvPr>
          <p:cNvSpPr/>
          <p:nvPr/>
        </p:nvSpPr>
        <p:spPr>
          <a:xfrm>
            <a:off x="2396396" y="5351228"/>
            <a:ext cx="526774" cy="2242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1" y="365760"/>
            <a:ext cx="1170830" cy="822960"/>
          </a:xfrm>
          <a:prstGeom prst="rect">
            <a:avLst/>
          </a:prstGeom>
          <a:noFill/>
          <a:ln/>
        </p:spPr>
        <p:txBody>
          <a:bodyPr wrap="square" rtlCol="0" anchor="ctr"/>
          <a:lstStyle/>
          <a:p>
            <a:pPr marL="0" indent="0" algn="l">
              <a:buNone/>
            </a:pPr>
            <a:r>
              <a:rPr lang="en-US" sz="2800" b="1" dirty="0" err="1">
                <a:solidFill>
                  <a:schemeClr val="tx2"/>
                </a:solidFill>
              </a:rPr>
              <a:t>目的</a:t>
            </a:r>
            <a:endParaRPr lang="en-US" sz="2800" dirty="0"/>
          </a:p>
        </p:txBody>
      </p:sp>
      <p:sp>
        <p:nvSpPr>
          <p:cNvPr id="4" name="card-26"/>
          <p:cNvSpPr/>
          <p:nvPr/>
        </p:nvSpPr>
        <p:spPr>
          <a:xfrm>
            <a:off x="1270553" y="1565586"/>
            <a:ext cx="9650894" cy="1210586"/>
          </a:xfrm>
          <a:prstGeom prst="roundRect">
            <a:avLst>
              <a:gd name="adj" fmla="val 3902"/>
            </a:avLst>
          </a:prstGeom>
          <a:solidFill>
            <a:schemeClr val="tx2"/>
          </a:solidFill>
          <a:ln/>
        </p:spPr>
        <p:txBody>
          <a:bodyPr/>
          <a:lstStyle/>
          <a:p>
            <a:endParaRPr lang="ja-JP" altLang="en-US"/>
          </a:p>
        </p:txBody>
      </p:sp>
      <p:sp>
        <p:nvSpPr>
          <p:cNvPr id="5" name="text-27"/>
          <p:cNvSpPr txBox="1"/>
          <p:nvPr/>
        </p:nvSpPr>
        <p:spPr>
          <a:xfrm>
            <a:off x="1841466" y="1794186"/>
            <a:ext cx="8509068" cy="753386"/>
          </a:xfrm>
          <a:prstGeom prst="rect">
            <a:avLst/>
          </a:prstGeom>
          <a:noFill/>
          <a:ln/>
        </p:spPr>
        <p:txBody>
          <a:bodyPr wrap="square" lIns="0" tIns="0" rIns="0" bIns="0" rtlCol="0" anchor="ctr"/>
          <a:lstStyle/>
          <a:p>
            <a:pPr marL="0" indent="0">
              <a:lnSpc>
                <a:spcPct val="125000"/>
              </a:lnSpc>
              <a:buNone/>
            </a:pPr>
            <a:r>
              <a:rPr lang="ja-JP" altLang="en-US" sz="1900" b="1">
                <a:solidFill>
                  <a:schemeClr val="bg1"/>
                </a:solidFill>
              </a:rPr>
              <a:t>学習者の解答過程から不足概念を推定・可視化し、学習者が自分の苦手を</a:t>
            </a:r>
            <a:endParaRPr lang="en-US" altLang="ja-JP" sz="1900" b="1" dirty="0">
              <a:solidFill>
                <a:schemeClr val="bg1"/>
              </a:solidFill>
            </a:endParaRPr>
          </a:p>
          <a:p>
            <a:pPr marL="0" indent="0">
              <a:lnSpc>
                <a:spcPct val="125000"/>
              </a:lnSpc>
              <a:buNone/>
            </a:pPr>
            <a:r>
              <a:rPr lang="ja-JP" altLang="en-US" sz="1900" b="1">
                <a:solidFill>
                  <a:schemeClr val="bg1"/>
                </a:solidFill>
              </a:rPr>
              <a:t>把握することができる</a:t>
            </a:r>
            <a:endParaRPr lang="en-US" sz="1900" dirty="0"/>
          </a:p>
        </p:txBody>
      </p:sp>
      <p:sp>
        <p:nvSpPr>
          <p:cNvPr id="6" name="card-28"/>
          <p:cNvSpPr/>
          <p:nvPr/>
        </p:nvSpPr>
        <p:spPr>
          <a:xfrm>
            <a:off x="548640" y="3657600"/>
            <a:ext cx="5364328" cy="2377440"/>
          </a:xfrm>
          <a:prstGeom prst="roundRect">
            <a:avLst>
              <a:gd name="adj" fmla="val 3077"/>
            </a:avLst>
          </a:prstGeom>
          <a:solidFill>
            <a:schemeClr val="bg2"/>
          </a:solidFill>
          <a:ln w="12700">
            <a:solidFill>
              <a:srgbClr val="004352"/>
            </a:solidFill>
            <a:prstDash val="solid"/>
          </a:ln>
        </p:spPr>
        <p:txBody>
          <a:bodyPr/>
          <a:lstStyle/>
          <a:p>
            <a:endParaRPr lang="ja-JP" altLang="en-US"/>
          </a:p>
        </p:txBody>
      </p:sp>
      <p:sp>
        <p:nvSpPr>
          <p:cNvPr id="7" name="pill-29"/>
          <p:cNvSpPr/>
          <p:nvPr/>
        </p:nvSpPr>
        <p:spPr>
          <a:xfrm>
            <a:off x="868680" y="3886200"/>
            <a:ext cx="1737360" cy="310896"/>
          </a:xfrm>
          <a:prstGeom prst="roundRect">
            <a:avLst>
              <a:gd name="adj" fmla="val 41176"/>
            </a:avLst>
          </a:prstGeom>
          <a:solidFill>
            <a:schemeClr val="accent1"/>
          </a:solidFill>
          <a:ln/>
        </p:spPr>
        <p:txBody>
          <a:bodyPr wrap="square" lIns="0" tIns="0" rIns="0" bIns="0" rtlCol="0" anchor="ctr"/>
          <a:lstStyle/>
          <a:p>
            <a:pPr marL="0" indent="0" algn="ctr">
              <a:buNone/>
            </a:pPr>
            <a:r>
              <a:rPr lang="en-US" sz="1200" b="1" dirty="0">
                <a:solidFill>
                  <a:schemeClr val="bg1"/>
                </a:solidFill>
              </a:rPr>
              <a:t>本研究の範囲</a:t>
            </a:r>
            <a:endParaRPr lang="en-US" sz="1200" dirty="0"/>
          </a:p>
        </p:txBody>
      </p:sp>
      <p:sp>
        <p:nvSpPr>
          <p:cNvPr id="8" name="text-30"/>
          <p:cNvSpPr txBox="1"/>
          <p:nvPr/>
        </p:nvSpPr>
        <p:spPr>
          <a:xfrm>
            <a:off x="868680" y="4434840"/>
            <a:ext cx="4724248" cy="14173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不足概念と根拠の推定（生成AI）</a:t>
            </a:r>
            <a:endParaRPr lang="en-US" sz="1600" dirty="0"/>
          </a:p>
          <a:p>
            <a:pPr marL="342900" indent="-342900">
              <a:spcAft>
                <a:spcPts val="800"/>
              </a:spcAft>
              <a:buSzPct val="100000"/>
              <a:buChar char="•"/>
            </a:pPr>
            <a:r>
              <a:rPr lang="en-US" sz="1600" dirty="0">
                <a:solidFill>
                  <a:schemeClr val="tx1"/>
                </a:solidFill>
              </a:rPr>
              <a:t>概念マップによる可視化とフィードバック提示</a:t>
            </a:r>
            <a:endParaRPr lang="en-US" sz="1600" dirty="0"/>
          </a:p>
          <a:p>
            <a:pPr marL="342900" indent="-342900">
              <a:spcAft>
                <a:spcPts val="800"/>
              </a:spcAft>
              <a:buSzPct val="100000"/>
              <a:buChar char="•"/>
            </a:pPr>
            <a:r>
              <a:rPr lang="en-US" sz="1600" dirty="0">
                <a:solidFill>
                  <a:schemeClr val="tx1"/>
                </a:solidFill>
              </a:rPr>
              <a:t>推定の妥当性の検証</a:t>
            </a:r>
            <a:endParaRPr lang="en-US" sz="1600" dirty="0"/>
          </a:p>
        </p:txBody>
      </p:sp>
      <p:sp>
        <p:nvSpPr>
          <p:cNvPr id="9" name="card-31"/>
          <p:cNvSpPr/>
          <p:nvPr/>
        </p:nvSpPr>
        <p:spPr>
          <a:xfrm>
            <a:off x="6278728" y="3657600"/>
            <a:ext cx="5364328" cy="2377440"/>
          </a:xfrm>
          <a:prstGeom prst="roundRect">
            <a:avLst>
              <a:gd name="adj" fmla="val 3077"/>
            </a:avLst>
          </a:prstGeom>
          <a:solidFill>
            <a:schemeClr val="bg2"/>
          </a:solidFill>
          <a:ln w="12700">
            <a:solidFill>
              <a:srgbClr val="004352"/>
            </a:solidFill>
            <a:prstDash val="solid"/>
          </a:ln>
        </p:spPr>
        <p:txBody>
          <a:bodyPr/>
          <a:lstStyle/>
          <a:p>
            <a:endParaRPr lang="ja-JP" altLang="en-US"/>
          </a:p>
        </p:txBody>
      </p:sp>
      <p:sp>
        <p:nvSpPr>
          <p:cNvPr id="10" name="pill-32"/>
          <p:cNvSpPr/>
          <p:nvPr/>
        </p:nvSpPr>
        <p:spPr>
          <a:xfrm>
            <a:off x="6598768" y="3886200"/>
            <a:ext cx="2377440" cy="310896"/>
          </a:xfrm>
          <a:prstGeom prst="roundRect">
            <a:avLst>
              <a:gd name="adj" fmla="val 41176"/>
            </a:avLst>
          </a:prstGeom>
          <a:solidFill>
            <a:schemeClr val="accent5"/>
          </a:solidFill>
          <a:ln/>
        </p:spPr>
        <p:txBody>
          <a:bodyPr wrap="square" lIns="0" tIns="0" rIns="0" bIns="0" rtlCol="0" anchor="ctr"/>
          <a:lstStyle/>
          <a:p>
            <a:pPr marL="0" indent="0" algn="ctr">
              <a:buNone/>
            </a:pPr>
            <a:r>
              <a:rPr lang="en-US" sz="1200" b="1" dirty="0">
                <a:solidFill>
                  <a:schemeClr val="bg1"/>
                </a:solidFill>
              </a:rPr>
              <a:t>範囲外（将来の展望）</a:t>
            </a:r>
            <a:endParaRPr lang="en-US" sz="1200" dirty="0"/>
          </a:p>
        </p:txBody>
      </p:sp>
      <p:sp>
        <p:nvSpPr>
          <p:cNvPr id="11" name="text-33"/>
          <p:cNvSpPr txBox="1"/>
          <p:nvPr/>
        </p:nvSpPr>
        <p:spPr>
          <a:xfrm>
            <a:off x="6598768" y="4434840"/>
            <a:ext cx="4724248" cy="14173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フィードバックを通した自己評価の較正</a:t>
            </a:r>
            <a:endParaRPr lang="en-US" sz="1600" dirty="0"/>
          </a:p>
          <a:p>
            <a:pPr marL="342900" indent="-342900">
              <a:spcAft>
                <a:spcPts val="800"/>
              </a:spcAft>
              <a:buSzPct val="100000"/>
              <a:buChar char="•"/>
            </a:pPr>
            <a:r>
              <a:rPr lang="en-US" sz="1600" dirty="0">
                <a:solidFill>
                  <a:schemeClr val="tx1"/>
                </a:solidFill>
              </a:rPr>
              <a:t>メタ認知能力の向上</a:t>
            </a:r>
            <a:endParaRPr lang="en-US" sz="1600" dirty="0"/>
          </a:p>
          <a:p>
            <a:pPr marL="342900" indent="-342900">
              <a:spcAft>
                <a:spcPts val="800"/>
              </a:spcAft>
              <a:buSzPct val="100000"/>
              <a:buChar char="•"/>
            </a:pPr>
            <a:r>
              <a:rPr lang="en-US" sz="1600" dirty="0" err="1">
                <a:solidFill>
                  <a:schemeClr val="tx1"/>
                </a:solidFill>
              </a:rPr>
              <a:t>これらの効果検証は本研究では行わない</a:t>
            </a:r>
            <a:endParaRPr lang="en-US" sz="16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2164743" cy="822960"/>
          </a:xfrm>
          <a:prstGeom prst="rect">
            <a:avLst/>
          </a:prstGeom>
          <a:noFill/>
          <a:ln/>
        </p:spPr>
        <p:txBody>
          <a:bodyPr wrap="square" rtlCol="0" anchor="ctr"/>
          <a:lstStyle/>
          <a:p>
            <a:pPr marL="0" indent="0" algn="l">
              <a:buNone/>
            </a:pPr>
            <a:r>
              <a:rPr lang="en-US" dirty="0" err="1"/>
              <a:t>概要</a:t>
            </a:r>
            <a:endParaRPr lang="en-US" sz="2800" dirty="0"/>
          </a:p>
        </p:txBody>
      </p:sp>
      <p:sp>
        <p:nvSpPr>
          <p:cNvPr id="4" name="card-34"/>
          <p:cNvSpPr/>
          <p:nvPr/>
        </p:nvSpPr>
        <p:spPr>
          <a:xfrm>
            <a:off x="548640" y="1600200"/>
            <a:ext cx="1892808" cy="2743200"/>
          </a:xfrm>
          <a:prstGeom prst="roundRect">
            <a:avLst>
              <a:gd name="adj" fmla="val 3865"/>
            </a:avLst>
          </a:prstGeom>
          <a:solidFill>
            <a:schemeClr val="bg2"/>
          </a:solidFill>
          <a:ln w="12700">
            <a:solidFill>
              <a:srgbClr val="004352"/>
            </a:solidFill>
            <a:prstDash val="solid"/>
          </a:ln>
        </p:spPr>
        <p:txBody>
          <a:bodyPr/>
          <a:lstStyle/>
          <a:p>
            <a:endParaRPr lang="ja-JP" altLang="en-US"/>
          </a:p>
        </p:txBody>
      </p:sp>
      <p:sp>
        <p:nvSpPr>
          <p:cNvPr id="5" name="pill-35"/>
          <p:cNvSpPr/>
          <p:nvPr/>
        </p:nvSpPr>
        <p:spPr>
          <a:xfrm>
            <a:off x="731520" y="1801368"/>
            <a:ext cx="1527048" cy="365760"/>
          </a:xfrm>
          <a:prstGeom prst="roundRect">
            <a:avLst>
              <a:gd name="adj" fmla="val 35000"/>
            </a:avLst>
          </a:prstGeom>
          <a:solidFill>
            <a:schemeClr val="accent1"/>
          </a:solidFill>
          <a:ln/>
        </p:spPr>
        <p:txBody>
          <a:bodyPr wrap="square" lIns="0" tIns="0" rIns="0" bIns="0" rtlCol="0" anchor="ctr"/>
          <a:lstStyle/>
          <a:p>
            <a:pPr marL="0" indent="0" algn="ctr">
              <a:buNone/>
            </a:pPr>
            <a:r>
              <a:rPr lang="en-US" sz="1400" b="1" dirty="0">
                <a:solidFill>
                  <a:schemeClr val="bg1"/>
                </a:solidFill>
              </a:rPr>
              <a:t>入力</a:t>
            </a:r>
            <a:endParaRPr lang="en-US" sz="1400" dirty="0"/>
          </a:p>
        </p:txBody>
      </p:sp>
      <p:sp>
        <p:nvSpPr>
          <p:cNvPr id="6" name="text-36"/>
          <p:cNvSpPr txBox="1"/>
          <p:nvPr/>
        </p:nvSpPr>
        <p:spPr>
          <a:xfrm>
            <a:off x="731520" y="2331720"/>
            <a:ext cx="1527048" cy="502920"/>
          </a:xfrm>
          <a:prstGeom prst="rect">
            <a:avLst/>
          </a:prstGeom>
          <a:noFill/>
          <a:ln/>
        </p:spPr>
        <p:txBody>
          <a:bodyPr wrap="square" lIns="0" tIns="0" rIns="0" bIns="0" rtlCol="0" anchor="t"/>
          <a:lstStyle/>
          <a:p>
            <a:pPr marL="0" indent="0">
              <a:buNone/>
            </a:pPr>
            <a:r>
              <a:rPr lang="en-US" sz="1300" b="1" dirty="0">
                <a:solidFill>
                  <a:schemeClr val="tx2"/>
                </a:solidFill>
              </a:rPr>
              <a:t>学習者の</a:t>
            </a:r>
            <a:endParaRPr lang="en-US" sz="1300" dirty="0"/>
          </a:p>
          <a:p>
            <a:pPr marL="0" indent="0">
              <a:buNone/>
            </a:pPr>
            <a:r>
              <a:rPr lang="en-US" sz="1300" b="1" dirty="0">
                <a:solidFill>
                  <a:schemeClr val="tx2"/>
                </a:solidFill>
              </a:rPr>
              <a:t>解答過程</a:t>
            </a:r>
            <a:endParaRPr lang="en-US" sz="1300" dirty="0"/>
          </a:p>
        </p:txBody>
      </p:sp>
      <p:sp>
        <p:nvSpPr>
          <p:cNvPr id="7" name="text-37"/>
          <p:cNvSpPr txBox="1"/>
          <p:nvPr/>
        </p:nvSpPr>
        <p:spPr>
          <a:xfrm>
            <a:off x="731520" y="2880360"/>
            <a:ext cx="1618488" cy="1371600"/>
          </a:xfrm>
          <a:prstGeom prst="rect">
            <a:avLst/>
          </a:prstGeom>
          <a:noFill/>
          <a:ln/>
        </p:spPr>
        <p:txBody>
          <a:bodyPr wrap="square" lIns="0" tIns="0" rIns="0" bIns="0" rtlCol="0" anchor="t"/>
          <a:lstStyle/>
          <a:p>
            <a:pPr marL="342900" indent="-342900">
              <a:spcAft>
                <a:spcPts val="400"/>
              </a:spcAft>
              <a:buSzPct val="100000"/>
              <a:buChar char="•"/>
            </a:pPr>
            <a:r>
              <a:rPr lang="en-US" sz="1300" dirty="0" err="1">
                <a:solidFill>
                  <a:schemeClr val="tx1"/>
                </a:solidFill>
              </a:rPr>
              <a:t>問題文</a:t>
            </a:r>
            <a:endParaRPr lang="en-US" sz="1300" dirty="0"/>
          </a:p>
          <a:p>
            <a:pPr marL="342900" indent="-342900">
              <a:spcAft>
                <a:spcPts val="400"/>
              </a:spcAft>
              <a:buSzPct val="100000"/>
              <a:buChar char="•"/>
            </a:pPr>
            <a:r>
              <a:rPr lang="en-US" sz="1300" dirty="0">
                <a:solidFill>
                  <a:schemeClr val="tx1"/>
                </a:solidFill>
              </a:rPr>
              <a:t>途中式</a:t>
            </a:r>
            <a:endParaRPr lang="en-US" sz="1300" dirty="0"/>
          </a:p>
          <a:p>
            <a:pPr marL="342900" indent="-342900">
              <a:spcAft>
                <a:spcPts val="400"/>
              </a:spcAft>
              <a:buSzPct val="100000"/>
              <a:buChar char="•"/>
            </a:pPr>
            <a:r>
              <a:rPr lang="en-US" sz="1300" dirty="0">
                <a:solidFill>
                  <a:schemeClr val="tx1"/>
                </a:solidFill>
              </a:rPr>
              <a:t>自己説明</a:t>
            </a:r>
            <a:endParaRPr lang="en-US" sz="1300" dirty="0"/>
          </a:p>
        </p:txBody>
      </p:sp>
      <p:sp>
        <p:nvSpPr>
          <p:cNvPr id="8" name="arrow-38"/>
          <p:cNvSpPr/>
          <p:nvPr/>
        </p:nvSpPr>
        <p:spPr>
          <a:xfrm>
            <a:off x="2496312" y="2825496"/>
            <a:ext cx="292608" cy="292608"/>
          </a:xfrm>
          <a:prstGeom prst="rightArrow">
            <a:avLst/>
          </a:prstGeom>
          <a:solidFill>
            <a:schemeClr val="accent5"/>
          </a:solidFill>
          <a:ln/>
        </p:spPr>
        <p:txBody>
          <a:bodyPr/>
          <a:lstStyle/>
          <a:p>
            <a:endParaRPr lang="ja-JP" altLang="en-US"/>
          </a:p>
        </p:txBody>
      </p:sp>
      <p:sp>
        <p:nvSpPr>
          <p:cNvPr id="9" name="card-39"/>
          <p:cNvSpPr/>
          <p:nvPr/>
        </p:nvSpPr>
        <p:spPr>
          <a:xfrm>
            <a:off x="2848356" y="1600200"/>
            <a:ext cx="1892808" cy="2743200"/>
          </a:xfrm>
          <a:prstGeom prst="roundRect">
            <a:avLst>
              <a:gd name="adj" fmla="val 3865"/>
            </a:avLst>
          </a:prstGeom>
          <a:solidFill>
            <a:schemeClr val="bg2"/>
          </a:solidFill>
          <a:ln w="12700">
            <a:solidFill>
              <a:srgbClr val="004352"/>
            </a:solidFill>
            <a:prstDash val="solid"/>
          </a:ln>
        </p:spPr>
        <p:txBody>
          <a:bodyPr/>
          <a:lstStyle/>
          <a:p>
            <a:endParaRPr lang="ja-JP" altLang="en-US"/>
          </a:p>
        </p:txBody>
      </p:sp>
      <p:sp>
        <p:nvSpPr>
          <p:cNvPr id="10" name="pill-40"/>
          <p:cNvSpPr/>
          <p:nvPr/>
        </p:nvSpPr>
        <p:spPr>
          <a:xfrm>
            <a:off x="3031236" y="1801368"/>
            <a:ext cx="1527048" cy="365760"/>
          </a:xfrm>
          <a:prstGeom prst="roundRect">
            <a:avLst>
              <a:gd name="adj" fmla="val 35000"/>
            </a:avLst>
          </a:prstGeom>
          <a:solidFill>
            <a:schemeClr val="accent1"/>
          </a:solidFill>
          <a:ln/>
        </p:spPr>
        <p:txBody>
          <a:bodyPr wrap="square" lIns="0" tIns="0" rIns="0" bIns="0" rtlCol="0" anchor="ctr"/>
          <a:lstStyle/>
          <a:p>
            <a:pPr marL="0" indent="0" algn="ctr">
              <a:buNone/>
            </a:pPr>
            <a:r>
              <a:rPr lang="en-US" sz="1400" b="1" dirty="0">
                <a:solidFill>
                  <a:schemeClr val="bg1"/>
                </a:solidFill>
              </a:rPr>
              <a:t>プロンプト</a:t>
            </a:r>
            <a:endParaRPr lang="en-US" sz="1400" dirty="0"/>
          </a:p>
        </p:txBody>
      </p:sp>
      <p:sp>
        <p:nvSpPr>
          <p:cNvPr id="11" name="text-41"/>
          <p:cNvSpPr txBox="1"/>
          <p:nvPr/>
        </p:nvSpPr>
        <p:spPr>
          <a:xfrm>
            <a:off x="3031236" y="2331720"/>
            <a:ext cx="1527048" cy="502920"/>
          </a:xfrm>
          <a:prstGeom prst="rect">
            <a:avLst/>
          </a:prstGeom>
          <a:noFill/>
          <a:ln/>
        </p:spPr>
        <p:txBody>
          <a:bodyPr wrap="square" lIns="0" tIns="0" rIns="0" bIns="0" rtlCol="0" anchor="t"/>
          <a:lstStyle/>
          <a:p>
            <a:pPr marL="0" indent="0">
              <a:buNone/>
            </a:pPr>
            <a:r>
              <a:rPr lang="en-US" sz="1300" b="1" dirty="0">
                <a:solidFill>
                  <a:schemeClr val="tx2"/>
                </a:solidFill>
              </a:rPr>
              <a:t>概念IDリストを</a:t>
            </a:r>
            <a:endParaRPr lang="en-US" sz="1300" dirty="0"/>
          </a:p>
          <a:p>
            <a:pPr marL="0" indent="0">
              <a:buNone/>
            </a:pPr>
            <a:r>
              <a:rPr lang="en-US" sz="1300" b="1" dirty="0">
                <a:solidFill>
                  <a:schemeClr val="tx2"/>
                </a:solidFill>
              </a:rPr>
              <a:t>統合</a:t>
            </a:r>
            <a:endParaRPr lang="en-US" sz="1300" dirty="0"/>
          </a:p>
        </p:txBody>
      </p:sp>
      <p:sp>
        <p:nvSpPr>
          <p:cNvPr id="12" name="text-42"/>
          <p:cNvSpPr txBox="1"/>
          <p:nvPr/>
        </p:nvSpPr>
        <p:spPr>
          <a:xfrm>
            <a:off x="3031236" y="2880360"/>
            <a:ext cx="1618488"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52概念の定義</a:t>
            </a:r>
            <a:endParaRPr lang="en-US" sz="1300" dirty="0"/>
          </a:p>
          <a:p>
            <a:pPr marL="342900" indent="-342900">
              <a:spcAft>
                <a:spcPts val="400"/>
              </a:spcAft>
              <a:buSzPct val="100000"/>
              <a:buChar char="•"/>
            </a:pPr>
            <a:r>
              <a:rPr lang="en-US" sz="1300" dirty="0">
                <a:solidFill>
                  <a:schemeClr val="tx1"/>
                </a:solidFill>
              </a:rPr>
              <a:t>根拠パターン</a:t>
            </a:r>
            <a:endParaRPr lang="en-US" sz="1300" dirty="0"/>
          </a:p>
          <a:p>
            <a:pPr marL="342900" indent="-342900">
              <a:spcAft>
                <a:spcPts val="400"/>
              </a:spcAft>
              <a:buSzPct val="100000"/>
              <a:buChar char="•"/>
            </a:pPr>
            <a:r>
              <a:rPr lang="en-US" sz="1300" dirty="0">
                <a:solidFill>
                  <a:schemeClr val="tx1"/>
                </a:solidFill>
              </a:rPr>
              <a:t>出力制約</a:t>
            </a:r>
            <a:endParaRPr lang="en-US" sz="1300" dirty="0"/>
          </a:p>
        </p:txBody>
      </p:sp>
      <p:sp>
        <p:nvSpPr>
          <p:cNvPr id="13" name="arrow-43"/>
          <p:cNvSpPr/>
          <p:nvPr/>
        </p:nvSpPr>
        <p:spPr>
          <a:xfrm>
            <a:off x="4796028" y="2825496"/>
            <a:ext cx="292608" cy="292608"/>
          </a:xfrm>
          <a:prstGeom prst="rightArrow">
            <a:avLst/>
          </a:prstGeom>
          <a:solidFill>
            <a:schemeClr val="accent5"/>
          </a:solidFill>
          <a:ln/>
        </p:spPr>
        <p:txBody>
          <a:bodyPr/>
          <a:lstStyle/>
          <a:p>
            <a:endParaRPr lang="ja-JP" altLang="en-US"/>
          </a:p>
        </p:txBody>
      </p:sp>
      <p:sp>
        <p:nvSpPr>
          <p:cNvPr id="14" name="card-44"/>
          <p:cNvSpPr/>
          <p:nvPr/>
        </p:nvSpPr>
        <p:spPr>
          <a:xfrm>
            <a:off x="5148072" y="1600200"/>
            <a:ext cx="1892808" cy="2743200"/>
          </a:xfrm>
          <a:prstGeom prst="roundRect">
            <a:avLst>
              <a:gd name="adj" fmla="val 3865"/>
            </a:avLst>
          </a:prstGeom>
          <a:solidFill>
            <a:schemeClr val="bg2"/>
          </a:solidFill>
          <a:ln w="12700">
            <a:solidFill>
              <a:srgbClr val="004352"/>
            </a:solidFill>
            <a:prstDash val="solid"/>
          </a:ln>
        </p:spPr>
        <p:txBody>
          <a:bodyPr/>
          <a:lstStyle/>
          <a:p>
            <a:endParaRPr lang="ja-JP" altLang="en-US"/>
          </a:p>
        </p:txBody>
      </p:sp>
      <p:sp>
        <p:nvSpPr>
          <p:cNvPr id="15" name="pill-45"/>
          <p:cNvSpPr/>
          <p:nvPr/>
        </p:nvSpPr>
        <p:spPr>
          <a:xfrm>
            <a:off x="5330952" y="1801368"/>
            <a:ext cx="1527048" cy="365760"/>
          </a:xfrm>
          <a:prstGeom prst="roundRect">
            <a:avLst>
              <a:gd name="adj" fmla="val 35000"/>
            </a:avLst>
          </a:prstGeom>
          <a:solidFill>
            <a:schemeClr val="accent1"/>
          </a:solidFill>
          <a:ln/>
        </p:spPr>
        <p:txBody>
          <a:bodyPr wrap="square" lIns="0" tIns="0" rIns="0" bIns="0" rtlCol="0" anchor="ctr"/>
          <a:lstStyle/>
          <a:p>
            <a:pPr marL="0" indent="0" algn="ctr">
              <a:buNone/>
            </a:pPr>
            <a:r>
              <a:rPr lang="en-US" sz="1400" b="1" dirty="0">
                <a:solidFill>
                  <a:schemeClr val="bg1"/>
                </a:solidFill>
              </a:rPr>
              <a:t>生成AI</a:t>
            </a:r>
            <a:endParaRPr lang="en-US" sz="1400" dirty="0"/>
          </a:p>
        </p:txBody>
      </p:sp>
      <p:sp>
        <p:nvSpPr>
          <p:cNvPr id="16" name="text-46"/>
          <p:cNvSpPr txBox="1"/>
          <p:nvPr/>
        </p:nvSpPr>
        <p:spPr>
          <a:xfrm>
            <a:off x="5330952" y="2331720"/>
            <a:ext cx="1527048" cy="502920"/>
          </a:xfrm>
          <a:prstGeom prst="rect">
            <a:avLst/>
          </a:prstGeom>
          <a:noFill/>
          <a:ln/>
        </p:spPr>
        <p:txBody>
          <a:bodyPr wrap="square" lIns="0" tIns="0" rIns="0" bIns="0" rtlCol="0" anchor="t"/>
          <a:lstStyle/>
          <a:p>
            <a:pPr marL="0" indent="0">
              <a:buNone/>
            </a:pPr>
            <a:r>
              <a:rPr lang="en-US" sz="1300" b="1" dirty="0">
                <a:solidFill>
                  <a:schemeClr val="tx2"/>
                </a:solidFill>
              </a:rPr>
              <a:t>JSONで</a:t>
            </a:r>
            <a:endParaRPr lang="en-US" sz="1300" dirty="0"/>
          </a:p>
          <a:p>
            <a:pPr marL="0" indent="0">
              <a:buNone/>
            </a:pPr>
            <a:r>
              <a:rPr lang="en-US" sz="1300" b="1" dirty="0">
                <a:solidFill>
                  <a:schemeClr val="tx2"/>
                </a:solidFill>
              </a:rPr>
              <a:t>出力</a:t>
            </a:r>
            <a:endParaRPr lang="en-US" sz="1300" dirty="0"/>
          </a:p>
        </p:txBody>
      </p:sp>
      <p:sp>
        <p:nvSpPr>
          <p:cNvPr id="17" name="text-47"/>
          <p:cNvSpPr txBox="1"/>
          <p:nvPr/>
        </p:nvSpPr>
        <p:spPr>
          <a:xfrm>
            <a:off x="5330952" y="2880360"/>
            <a:ext cx="1618488"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(a) 不足概念候補</a:t>
            </a:r>
            <a:endParaRPr lang="en-US" sz="1300" dirty="0"/>
          </a:p>
          <a:p>
            <a:pPr marL="342900" indent="-342900">
              <a:spcAft>
                <a:spcPts val="400"/>
              </a:spcAft>
              <a:buSzPct val="100000"/>
              <a:buChar char="•"/>
            </a:pPr>
            <a:r>
              <a:rPr lang="en-US" sz="1300" dirty="0">
                <a:solidFill>
                  <a:schemeClr val="tx1"/>
                </a:solidFill>
              </a:rPr>
              <a:t>(b) 根拠</a:t>
            </a:r>
            <a:endParaRPr lang="en-US" sz="1300" dirty="0"/>
          </a:p>
          <a:p>
            <a:pPr marL="342900" indent="-342900">
              <a:spcAft>
                <a:spcPts val="400"/>
              </a:spcAft>
              <a:buSzPct val="100000"/>
              <a:buChar char="•"/>
            </a:pPr>
            <a:r>
              <a:rPr lang="en-US" sz="1300" dirty="0">
                <a:solidFill>
                  <a:schemeClr val="tx1"/>
                </a:solidFill>
              </a:rPr>
              <a:t>(c) 確信度</a:t>
            </a:r>
            <a:endParaRPr lang="en-US" sz="1300" dirty="0"/>
          </a:p>
          <a:p>
            <a:pPr marL="342900" indent="-342900">
              <a:spcAft>
                <a:spcPts val="400"/>
              </a:spcAft>
              <a:buSzPct val="100000"/>
              <a:buChar char="•"/>
            </a:pPr>
            <a:r>
              <a:rPr lang="en-US" sz="1300" dirty="0">
                <a:solidFill>
                  <a:schemeClr val="tx1"/>
                </a:solidFill>
              </a:rPr>
              <a:t>(d) 内省質問</a:t>
            </a:r>
            <a:endParaRPr lang="en-US" sz="1300" dirty="0"/>
          </a:p>
        </p:txBody>
      </p:sp>
      <p:sp>
        <p:nvSpPr>
          <p:cNvPr id="18" name="arrow-48"/>
          <p:cNvSpPr/>
          <p:nvPr/>
        </p:nvSpPr>
        <p:spPr>
          <a:xfrm>
            <a:off x="7095744" y="2825496"/>
            <a:ext cx="292608" cy="292608"/>
          </a:xfrm>
          <a:prstGeom prst="rightArrow">
            <a:avLst/>
          </a:prstGeom>
          <a:solidFill>
            <a:schemeClr val="accent5"/>
          </a:solidFill>
          <a:ln/>
        </p:spPr>
        <p:txBody>
          <a:bodyPr/>
          <a:lstStyle/>
          <a:p>
            <a:endParaRPr lang="ja-JP" altLang="en-US"/>
          </a:p>
        </p:txBody>
      </p:sp>
      <p:sp>
        <p:nvSpPr>
          <p:cNvPr id="19" name="card-49"/>
          <p:cNvSpPr/>
          <p:nvPr/>
        </p:nvSpPr>
        <p:spPr>
          <a:xfrm>
            <a:off x="7447788" y="1600200"/>
            <a:ext cx="1892808" cy="2743200"/>
          </a:xfrm>
          <a:prstGeom prst="roundRect">
            <a:avLst>
              <a:gd name="adj" fmla="val 3865"/>
            </a:avLst>
          </a:prstGeom>
          <a:solidFill>
            <a:schemeClr val="bg1"/>
          </a:solidFill>
          <a:ln w="19050">
            <a:solidFill>
              <a:schemeClr val="accent2"/>
            </a:solidFill>
            <a:prstDash val="solid"/>
          </a:ln>
        </p:spPr>
        <p:txBody>
          <a:bodyPr/>
          <a:lstStyle/>
          <a:p>
            <a:endParaRPr lang="ja-JP" altLang="en-US"/>
          </a:p>
        </p:txBody>
      </p:sp>
      <p:sp>
        <p:nvSpPr>
          <p:cNvPr id="20" name="pill-50"/>
          <p:cNvSpPr/>
          <p:nvPr/>
        </p:nvSpPr>
        <p:spPr>
          <a:xfrm>
            <a:off x="7630668" y="1801368"/>
            <a:ext cx="1527048" cy="365760"/>
          </a:xfrm>
          <a:prstGeom prst="roundRect">
            <a:avLst>
              <a:gd name="adj" fmla="val 35000"/>
            </a:avLst>
          </a:prstGeom>
          <a:solidFill>
            <a:schemeClr val="accent2"/>
          </a:solidFill>
          <a:ln/>
        </p:spPr>
        <p:txBody>
          <a:bodyPr wrap="square" lIns="0" tIns="0" rIns="0" bIns="0" rtlCol="0" anchor="ctr"/>
          <a:lstStyle/>
          <a:p>
            <a:pPr marL="0" indent="0" algn="ctr">
              <a:buNone/>
            </a:pPr>
            <a:r>
              <a:rPr lang="en-US" sz="1400" b="1" dirty="0">
                <a:solidFill>
                  <a:schemeClr val="bg1"/>
                </a:solidFill>
              </a:rPr>
              <a:t>概念マップ</a:t>
            </a:r>
            <a:endParaRPr lang="en-US" sz="1400" dirty="0"/>
          </a:p>
        </p:txBody>
      </p:sp>
      <p:sp>
        <p:nvSpPr>
          <p:cNvPr id="21" name="text-51"/>
          <p:cNvSpPr txBox="1"/>
          <p:nvPr/>
        </p:nvSpPr>
        <p:spPr>
          <a:xfrm>
            <a:off x="7630668" y="2331720"/>
            <a:ext cx="1527048" cy="502920"/>
          </a:xfrm>
          <a:prstGeom prst="rect">
            <a:avLst/>
          </a:prstGeom>
          <a:noFill/>
          <a:ln/>
        </p:spPr>
        <p:txBody>
          <a:bodyPr wrap="square" lIns="0" tIns="0" rIns="0" bIns="0" rtlCol="0" anchor="t"/>
          <a:lstStyle/>
          <a:p>
            <a:pPr marL="0" indent="0">
              <a:buNone/>
            </a:pPr>
            <a:r>
              <a:rPr lang="en-US" sz="1300" b="1" dirty="0">
                <a:solidFill>
                  <a:schemeClr val="tx2"/>
                </a:solidFill>
              </a:rPr>
              <a:t>前提関係を踏まえて</a:t>
            </a:r>
            <a:endParaRPr lang="en-US" sz="1300" dirty="0"/>
          </a:p>
          <a:p>
            <a:pPr marL="0" indent="0">
              <a:buNone/>
            </a:pPr>
            <a:r>
              <a:rPr lang="en-US" sz="1300" b="1" dirty="0">
                <a:solidFill>
                  <a:schemeClr val="tx2"/>
                </a:solidFill>
              </a:rPr>
              <a:t>可視化</a:t>
            </a:r>
            <a:endParaRPr lang="en-US" sz="1300" dirty="0"/>
          </a:p>
        </p:txBody>
      </p:sp>
      <p:sp>
        <p:nvSpPr>
          <p:cNvPr id="22" name="text-52"/>
          <p:cNvSpPr txBox="1"/>
          <p:nvPr/>
        </p:nvSpPr>
        <p:spPr>
          <a:xfrm>
            <a:off x="7630668" y="2880360"/>
            <a:ext cx="1618488"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不足概念を強調</a:t>
            </a:r>
            <a:endParaRPr lang="en-US" sz="1300" dirty="0"/>
          </a:p>
          <a:p>
            <a:pPr marL="342900" indent="-342900">
              <a:spcAft>
                <a:spcPts val="400"/>
              </a:spcAft>
              <a:buSzPct val="100000"/>
              <a:buChar char="•"/>
            </a:pPr>
            <a:r>
              <a:rPr lang="en-US" sz="1300" dirty="0">
                <a:solidFill>
                  <a:schemeClr val="tx1"/>
                </a:solidFill>
              </a:rPr>
              <a:t>根拠へリンク</a:t>
            </a:r>
            <a:endParaRPr lang="en-US" sz="1300" dirty="0"/>
          </a:p>
        </p:txBody>
      </p:sp>
      <p:sp>
        <p:nvSpPr>
          <p:cNvPr id="23" name="arrow-53"/>
          <p:cNvSpPr/>
          <p:nvPr/>
        </p:nvSpPr>
        <p:spPr>
          <a:xfrm>
            <a:off x="9395460" y="2825496"/>
            <a:ext cx="292608" cy="292608"/>
          </a:xfrm>
          <a:prstGeom prst="rightArrow">
            <a:avLst/>
          </a:prstGeom>
          <a:solidFill>
            <a:schemeClr val="accent5"/>
          </a:solidFill>
          <a:ln/>
        </p:spPr>
        <p:txBody>
          <a:bodyPr/>
          <a:lstStyle/>
          <a:p>
            <a:endParaRPr lang="ja-JP" altLang="en-US"/>
          </a:p>
        </p:txBody>
      </p:sp>
      <p:sp>
        <p:nvSpPr>
          <p:cNvPr id="24" name="card-54"/>
          <p:cNvSpPr/>
          <p:nvPr/>
        </p:nvSpPr>
        <p:spPr>
          <a:xfrm>
            <a:off x="9747504" y="1600200"/>
            <a:ext cx="1892808" cy="2743200"/>
          </a:xfrm>
          <a:prstGeom prst="roundRect">
            <a:avLst>
              <a:gd name="adj" fmla="val 3865"/>
            </a:avLst>
          </a:prstGeom>
          <a:solidFill>
            <a:schemeClr val="bg1"/>
          </a:solidFill>
          <a:ln w="19050">
            <a:solidFill>
              <a:schemeClr val="accent2"/>
            </a:solidFill>
            <a:prstDash val="solid"/>
          </a:ln>
        </p:spPr>
        <p:txBody>
          <a:bodyPr/>
          <a:lstStyle/>
          <a:p>
            <a:endParaRPr lang="ja-JP" altLang="en-US"/>
          </a:p>
        </p:txBody>
      </p:sp>
      <p:sp>
        <p:nvSpPr>
          <p:cNvPr id="25" name="pill-55"/>
          <p:cNvSpPr/>
          <p:nvPr/>
        </p:nvSpPr>
        <p:spPr>
          <a:xfrm>
            <a:off x="9930384" y="1801368"/>
            <a:ext cx="1527048" cy="365760"/>
          </a:xfrm>
          <a:prstGeom prst="roundRect">
            <a:avLst>
              <a:gd name="adj" fmla="val 35000"/>
            </a:avLst>
          </a:prstGeom>
          <a:solidFill>
            <a:schemeClr val="accent2"/>
          </a:solidFill>
          <a:ln/>
        </p:spPr>
        <p:txBody>
          <a:bodyPr wrap="square" lIns="0" tIns="0" rIns="0" bIns="0" rtlCol="0" anchor="ctr"/>
          <a:lstStyle/>
          <a:p>
            <a:pPr marL="0" indent="0" algn="ctr">
              <a:buNone/>
            </a:pPr>
            <a:r>
              <a:rPr lang="en-US" sz="1400" b="1" dirty="0">
                <a:solidFill>
                  <a:schemeClr val="bg1"/>
                </a:solidFill>
              </a:rPr>
              <a:t>フィードバック</a:t>
            </a:r>
            <a:endParaRPr lang="en-US" sz="1400" dirty="0"/>
          </a:p>
        </p:txBody>
      </p:sp>
      <p:sp>
        <p:nvSpPr>
          <p:cNvPr id="26" name="text-56"/>
          <p:cNvSpPr txBox="1"/>
          <p:nvPr/>
        </p:nvSpPr>
        <p:spPr>
          <a:xfrm>
            <a:off x="9930384" y="2331720"/>
            <a:ext cx="1527048" cy="502920"/>
          </a:xfrm>
          <a:prstGeom prst="rect">
            <a:avLst/>
          </a:prstGeom>
          <a:noFill/>
          <a:ln/>
        </p:spPr>
        <p:txBody>
          <a:bodyPr wrap="square" lIns="0" tIns="0" rIns="0" bIns="0" rtlCol="0" anchor="t"/>
          <a:lstStyle/>
          <a:p>
            <a:pPr marL="0" indent="0">
              <a:buNone/>
            </a:pPr>
            <a:r>
              <a:rPr lang="en-US" sz="1300" b="1" dirty="0">
                <a:solidFill>
                  <a:schemeClr val="tx2"/>
                </a:solidFill>
              </a:rPr>
              <a:t>学習者へ</a:t>
            </a:r>
            <a:endParaRPr lang="en-US" sz="1300" dirty="0"/>
          </a:p>
          <a:p>
            <a:pPr marL="0" indent="0">
              <a:buNone/>
            </a:pPr>
            <a:r>
              <a:rPr lang="en-US" sz="1300" b="1" dirty="0">
                <a:solidFill>
                  <a:schemeClr val="tx2"/>
                </a:solidFill>
              </a:rPr>
              <a:t>提示</a:t>
            </a:r>
            <a:endParaRPr lang="en-US" sz="1300" dirty="0"/>
          </a:p>
        </p:txBody>
      </p:sp>
      <p:sp>
        <p:nvSpPr>
          <p:cNvPr id="27" name="text-57"/>
          <p:cNvSpPr txBox="1"/>
          <p:nvPr/>
        </p:nvSpPr>
        <p:spPr>
          <a:xfrm>
            <a:off x="9930384" y="2880360"/>
            <a:ext cx="1618488"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不足概念と根拠</a:t>
            </a:r>
            <a:endParaRPr lang="en-US" sz="1300" dirty="0"/>
          </a:p>
          <a:p>
            <a:pPr marL="342900" indent="-342900">
              <a:spcAft>
                <a:spcPts val="400"/>
              </a:spcAft>
              <a:buSzPct val="100000"/>
              <a:buChar char="•"/>
            </a:pPr>
            <a:r>
              <a:rPr lang="en-US" sz="1300" dirty="0">
                <a:solidFill>
                  <a:schemeClr val="tx1"/>
                </a:solidFill>
              </a:rPr>
              <a:t>内省質問</a:t>
            </a:r>
            <a:endParaRPr lang="en-US" sz="1300" dirty="0"/>
          </a:p>
        </p:txBody>
      </p:sp>
      <p:sp>
        <p:nvSpPr>
          <p:cNvPr id="28" name="card-58"/>
          <p:cNvSpPr/>
          <p:nvPr/>
        </p:nvSpPr>
        <p:spPr>
          <a:xfrm>
            <a:off x="548640" y="4617720"/>
            <a:ext cx="6492240" cy="548640"/>
          </a:xfrm>
          <a:prstGeom prst="roundRect">
            <a:avLst>
              <a:gd name="adj" fmla="val 13333"/>
            </a:avLst>
          </a:prstGeom>
          <a:solidFill>
            <a:schemeClr val="tx2"/>
          </a:solidFill>
          <a:ln/>
        </p:spPr>
        <p:txBody>
          <a:bodyPr/>
          <a:lstStyle/>
          <a:p>
            <a:endParaRPr lang="ja-JP" altLang="en-US"/>
          </a:p>
        </p:txBody>
      </p:sp>
      <p:sp>
        <p:nvSpPr>
          <p:cNvPr id="29" name="text-59"/>
          <p:cNvSpPr txBox="1"/>
          <p:nvPr/>
        </p:nvSpPr>
        <p:spPr>
          <a:xfrm>
            <a:off x="548640" y="4617720"/>
            <a:ext cx="6492240" cy="548640"/>
          </a:xfrm>
          <a:prstGeom prst="rect">
            <a:avLst/>
          </a:prstGeom>
          <a:noFill/>
          <a:ln/>
        </p:spPr>
        <p:txBody>
          <a:bodyPr wrap="square" lIns="0" tIns="0" rIns="0" bIns="0" rtlCol="0" anchor="ctr"/>
          <a:lstStyle/>
          <a:p>
            <a:pPr marL="0" indent="0" algn="ctr">
              <a:buNone/>
            </a:pPr>
            <a:r>
              <a:rPr lang="en-US" sz="1600" b="1" dirty="0">
                <a:solidFill>
                  <a:schemeClr val="bg1"/>
                </a:solidFill>
              </a:rPr>
              <a:t>M1〜M3：構築・検証済み</a:t>
            </a:r>
            <a:endParaRPr lang="en-US" sz="1600" dirty="0"/>
          </a:p>
        </p:txBody>
      </p:sp>
      <p:sp>
        <p:nvSpPr>
          <p:cNvPr id="30" name="card-60"/>
          <p:cNvSpPr/>
          <p:nvPr/>
        </p:nvSpPr>
        <p:spPr>
          <a:xfrm>
            <a:off x="7447788" y="4617720"/>
            <a:ext cx="4192524" cy="548640"/>
          </a:xfrm>
          <a:prstGeom prst="roundRect">
            <a:avLst>
              <a:gd name="adj" fmla="val 13333"/>
            </a:avLst>
          </a:prstGeom>
          <a:solidFill>
            <a:schemeClr val="accent4"/>
          </a:solidFill>
          <a:ln w="12700">
            <a:solidFill>
              <a:srgbClr val="000000"/>
            </a:solidFill>
            <a:prstDash val="solid"/>
          </a:ln>
        </p:spPr>
        <p:txBody>
          <a:bodyPr/>
          <a:lstStyle/>
          <a:p>
            <a:endParaRPr lang="ja-JP" altLang="en-US"/>
          </a:p>
        </p:txBody>
      </p:sp>
      <p:sp>
        <p:nvSpPr>
          <p:cNvPr id="31" name="text-61"/>
          <p:cNvSpPr txBox="1"/>
          <p:nvPr/>
        </p:nvSpPr>
        <p:spPr>
          <a:xfrm>
            <a:off x="7447788" y="4617720"/>
            <a:ext cx="4192524" cy="548640"/>
          </a:xfrm>
          <a:prstGeom prst="rect">
            <a:avLst/>
          </a:prstGeom>
          <a:noFill/>
          <a:ln/>
        </p:spPr>
        <p:txBody>
          <a:bodyPr wrap="square" lIns="0" tIns="0" rIns="0" bIns="0" rtlCol="0" anchor="ctr"/>
          <a:lstStyle/>
          <a:p>
            <a:pPr marL="0" indent="0" algn="ctr">
              <a:buNone/>
            </a:pPr>
            <a:r>
              <a:rPr lang="en-US" sz="1600" b="1" dirty="0">
                <a:solidFill>
                  <a:schemeClr val="accent2"/>
                </a:solidFill>
              </a:rPr>
              <a:t>M4：これから実装</a:t>
            </a:r>
            <a:endParaRPr lang="en-US" sz="1600" dirty="0"/>
          </a:p>
        </p:txBody>
      </p:sp>
      <p:sp>
        <p:nvSpPr>
          <p:cNvPr id="32" name="card-62"/>
          <p:cNvSpPr/>
          <p:nvPr/>
        </p:nvSpPr>
        <p:spPr>
          <a:xfrm>
            <a:off x="548640" y="5394960"/>
            <a:ext cx="11094415" cy="548640"/>
          </a:xfrm>
          <a:prstGeom prst="roundRect">
            <a:avLst>
              <a:gd name="adj" fmla="val 13333"/>
            </a:avLst>
          </a:prstGeom>
          <a:solidFill>
            <a:schemeClr val="bg2"/>
          </a:solidFill>
          <a:ln w="12700">
            <a:solidFill>
              <a:srgbClr val="004352"/>
            </a:solidFill>
            <a:prstDash val="solid"/>
          </a:ln>
        </p:spPr>
        <p:txBody>
          <a:bodyPr/>
          <a:lstStyle/>
          <a:p>
            <a:endParaRPr lang="ja-JP" altLang="en-US"/>
          </a:p>
        </p:txBody>
      </p:sp>
      <p:sp>
        <p:nvSpPr>
          <p:cNvPr id="33" name="text-63"/>
          <p:cNvSpPr txBox="1"/>
          <p:nvPr/>
        </p:nvSpPr>
        <p:spPr>
          <a:xfrm>
            <a:off x="548640" y="5394960"/>
            <a:ext cx="11094415" cy="548640"/>
          </a:xfrm>
          <a:prstGeom prst="rect">
            <a:avLst/>
          </a:prstGeom>
          <a:noFill/>
          <a:ln/>
        </p:spPr>
        <p:txBody>
          <a:bodyPr wrap="square" lIns="0" tIns="0" rIns="0" bIns="0" rtlCol="0" anchor="ctr"/>
          <a:lstStyle/>
          <a:p>
            <a:pPr marL="0" indent="0" algn="ctr">
              <a:buNone/>
            </a:pPr>
            <a:r>
              <a:rPr lang="en-US" sz="1600" b="1" dirty="0">
                <a:solidFill>
                  <a:schemeClr val="accent5"/>
                </a:solidFill>
              </a:rPr>
              <a:t>M5：学習者5名の解答過程で、フロー全体の推定の妥当性を検証</a:t>
            </a:r>
            <a:endParaRPr lang="en-US" sz="1600" dirty="0"/>
          </a:p>
        </p:txBody>
      </p:sp>
      <p:sp>
        <p:nvSpPr>
          <p:cNvPr id="3"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B5836-95A4-DA7A-1B1B-9E7CF4A7192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7282C86-0552-076D-7C80-163561C91E5F}"/>
              </a:ext>
            </a:extLst>
          </p:cNvPr>
          <p:cNvSpPr>
            <a:spLocks noGrp="1"/>
          </p:cNvSpPr>
          <p:nvPr>
            <p:ph type="title" idx="100" hasCustomPrompt="1"/>
          </p:nvPr>
        </p:nvSpPr>
        <p:spPr>
          <a:xfrm>
            <a:off x="548640" y="365760"/>
            <a:ext cx="2164743" cy="822960"/>
          </a:xfrm>
          <a:prstGeom prst="rect">
            <a:avLst/>
          </a:prstGeom>
          <a:noFill/>
          <a:ln/>
        </p:spPr>
        <p:txBody>
          <a:bodyPr wrap="square" rtlCol="0" anchor="ctr"/>
          <a:lstStyle/>
          <a:p>
            <a:pPr marL="0" indent="0" algn="l">
              <a:buNone/>
            </a:pPr>
            <a:r>
              <a:rPr lang="en-US" dirty="0" err="1"/>
              <a:t>入出力例</a:t>
            </a:r>
            <a:endParaRPr lang="en-US" sz="2800" dirty="0"/>
          </a:p>
        </p:txBody>
      </p:sp>
      <p:sp>
        <p:nvSpPr>
          <p:cNvPr id="3" name="Slide Number Placeholder 0">
            <a:extLst>
              <a:ext uri="{FF2B5EF4-FFF2-40B4-BE49-F238E27FC236}">
                <a16:creationId xmlns:a16="http://schemas.microsoft.com/office/drawing/2014/main" id="{283F9FB2-F18B-CE08-FA76-4F7A5B2EC2A4}"/>
              </a:ext>
            </a:extLst>
          </p:cNvPr>
          <p:cNvSpPr>
            <a:spLocks noGrp="1"/>
          </p:cNvSpPr>
          <p:nvPr>
            <p:ph type="sldNum" sz="quarter" idx="4294967295"/>
          </p:nvPr>
        </p:nvSpPr>
        <p:spPr>
          <a:xfrm>
            <a:off x="11155680" y="6382512"/>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7</a:t>
            </a:fld>
            <a:endParaRPr lang="en-US"/>
          </a:p>
        </p:txBody>
      </p:sp>
      <p:pic>
        <p:nvPicPr>
          <p:cNvPr id="35" name="図 34" descr="テキスト&#10;&#10;AI によって生成されたコンテンツは間違っている可能性があります。">
            <a:extLst>
              <a:ext uri="{FF2B5EF4-FFF2-40B4-BE49-F238E27FC236}">
                <a16:creationId xmlns:a16="http://schemas.microsoft.com/office/drawing/2014/main" id="{E4362257-21B0-8341-1C96-8669387B9C07}"/>
              </a:ext>
            </a:extLst>
          </p:cNvPr>
          <p:cNvPicPr>
            <a:picLocks noChangeAspect="1"/>
          </p:cNvPicPr>
          <p:nvPr/>
        </p:nvPicPr>
        <p:blipFill>
          <a:blip r:embed="rId4"/>
          <a:srcRect t="69026"/>
          <a:stretch/>
        </p:blipFill>
        <p:spPr>
          <a:xfrm>
            <a:off x="936774" y="1535926"/>
            <a:ext cx="10447951" cy="1643271"/>
          </a:xfrm>
          <a:prstGeom prst="rect">
            <a:avLst/>
          </a:prstGeom>
        </p:spPr>
      </p:pic>
      <p:pic>
        <p:nvPicPr>
          <p:cNvPr id="36" name="図 35" descr="テキスト&#10;&#10;AI によって生成されたコンテンツは間違っている可能性があります。">
            <a:extLst>
              <a:ext uri="{FF2B5EF4-FFF2-40B4-BE49-F238E27FC236}">
                <a16:creationId xmlns:a16="http://schemas.microsoft.com/office/drawing/2014/main" id="{E94C9AFC-A382-3949-5FF9-DAD871746159}"/>
              </a:ext>
            </a:extLst>
          </p:cNvPr>
          <p:cNvPicPr>
            <a:picLocks noChangeAspect="1"/>
          </p:cNvPicPr>
          <p:nvPr/>
        </p:nvPicPr>
        <p:blipFill>
          <a:blip r:embed="rId5"/>
          <a:stretch>
            <a:fillRect/>
          </a:stretch>
        </p:blipFill>
        <p:spPr>
          <a:xfrm>
            <a:off x="936774" y="3892646"/>
            <a:ext cx="10447951" cy="2192106"/>
          </a:xfrm>
          <a:prstGeom prst="rect">
            <a:avLst/>
          </a:prstGeom>
        </p:spPr>
      </p:pic>
    </p:spTree>
    <p:extLst>
      <p:ext uri="{BB962C8B-B14F-4D97-AF65-F5344CB8AC3E}">
        <p14:creationId xmlns:p14="http://schemas.microsoft.com/office/powerpoint/2010/main" val="3102592720"/>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A906DA8-94CE-D8A0-4B25-708A78140C1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AF84CB6-9B60-5035-8584-0FD95C09854A}"/>
              </a:ext>
            </a:extLst>
          </p:cNvPr>
          <p:cNvSpPr>
            <a:spLocks noGrp="1"/>
          </p:cNvSpPr>
          <p:nvPr>
            <p:ph type="title" idx="100" hasCustomPrompt="1"/>
          </p:nvPr>
        </p:nvSpPr>
        <p:spPr>
          <a:xfrm>
            <a:off x="548640" y="365760"/>
            <a:ext cx="2164743" cy="822960"/>
          </a:xfrm>
          <a:prstGeom prst="rect">
            <a:avLst/>
          </a:prstGeom>
          <a:noFill/>
          <a:ln/>
        </p:spPr>
        <p:txBody>
          <a:bodyPr wrap="square" rtlCol="0" anchor="ctr"/>
          <a:lstStyle/>
          <a:p>
            <a:pPr marL="0" indent="0" algn="l">
              <a:buNone/>
            </a:pPr>
            <a:r>
              <a:rPr lang="en-US" sz="2800" dirty="0" err="1"/>
              <a:t>概念ID</a:t>
            </a:r>
            <a:endParaRPr lang="en-US" sz="2800" dirty="0"/>
          </a:p>
        </p:txBody>
      </p:sp>
      <p:sp>
        <p:nvSpPr>
          <p:cNvPr id="3" name="Slide Number Placeholder 0">
            <a:extLst>
              <a:ext uri="{FF2B5EF4-FFF2-40B4-BE49-F238E27FC236}">
                <a16:creationId xmlns:a16="http://schemas.microsoft.com/office/drawing/2014/main" id="{218DFD46-B04B-0CC0-F125-D0E01F907067}"/>
              </a:ext>
            </a:extLst>
          </p:cNvPr>
          <p:cNvSpPr>
            <a:spLocks noGrp="1"/>
          </p:cNvSpPr>
          <p:nvPr>
            <p:ph type="sldNum" sz="quarter" idx="4294967295"/>
          </p:nvPr>
        </p:nvSpPr>
        <p:spPr>
          <a:xfrm>
            <a:off x="11155680" y="6382512"/>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8</a:t>
            </a:fld>
            <a:endParaRPr lang="en-US"/>
          </a:p>
        </p:txBody>
      </p:sp>
      <p:pic>
        <p:nvPicPr>
          <p:cNvPr id="36" name="図 35" descr="テキスト&#10;&#10;AI によって生成されたコンテンツは間違っている可能性があります。">
            <a:extLst>
              <a:ext uri="{FF2B5EF4-FFF2-40B4-BE49-F238E27FC236}">
                <a16:creationId xmlns:a16="http://schemas.microsoft.com/office/drawing/2014/main" id="{3FB87DEB-3BB4-43B8-70BD-878F1024B5E3}"/>
              </a:ext>
            </a:extLst>
          </p:cNvPr>
          <p:cNvPicPr>
            <a:picLocks noChangeAspect="1"/>
          </p:cNvPicPr>
          <p:nvPr/>
        </p:nvPicPr>
        <p:blipFill>
          <a:blip r:embed="rId3"/>
          <a:stretch>
            <a:fillRect/>
          </a:stretch>
        </p:blipFill>
        <p:spPr>
          <a:xfrm>
            <a:off x="864771" y="2716607"/>
            <a:ext cx="10462458" cy="1722960"/>
          </a:xfrm>
          <a:prstGeom prst="rect">
            <a:avLst/>
          </a:prstGeom>
        </p:spPr>
      </p:pic>
    </p:spTree>
    <p:extLst>
      <p:ext uri="{BB962C8B-B14F-4D97-AF65-F5344CB8AC3E}">
        <p14:creationId xmlns:p14="http://schemas.microsoft.com/office/powerpoint/2010/main" val="3022973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rtlCol="0" anchor="ctr"/>
          <a:lstStyle/>
          <a:p>
            <a:pPr marL="0" indent="0" algn="l">
              <a:buNone/>
            </a:pPr>
            <a:r>
              <a:rPr lang="en-US" sz="2800" b="1" dirty="0" err="1">
                <a:solidFill>
                  <a:schemeClr val="tx2"/>
                </a:solidFill>
              </a:rPr>
              <a:t>研究計画</a:t>
            </a:r>
            <a:endParaRPr lang="en-US" sz="2800" dirty="0"/>
          </a:p>
        </p:txBody>
      </p:sp>
      <p:graphicFrame>
        <p:nvGraphicFramePr>
          <p:cNvPr id="7" name="milestone-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4297680"/>
        </p:xfrm>
        <a:graphic>
          <a:graphicData uri="http://schemas.openxmlformats.org/drawingml/2006/table">
            <a:tbl>
              <a:tblPr/>
              <a:tblGrid>
                <a:gridCol w="8229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416552">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11480">
                <a:tc>
                  <a:txBody>
                    <a:bodyPr/>
                    <a:lstStyle/>
                    <a:p>
                      <a:pPr marL="0" indent="0">
                        <a:buNone/>
                      </a:pPr>
                      <a:endParaRPr lang="en-US" sz="14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内容</a:t>
                      </a:r>
                      <a:endParaRPr lang="en-US" sz="14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達成基準</a:t>
                      </a:r>
                      <a:endParaRPr lang="en-US" sz="14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状況</a:t>
                      </a:r>
                      <a:endParaRPr lang="en-US" sz="14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77240">
                <a:tc>
                  <a:txBody>
                    <a:bodyPr/>
                    <a:lstStyle/>
                    <a:p>
                      <a:pPr marL="0" indent="0" algn="ctr">
                        <a:buNone/>
                      </a:pPr>
                      <a:r>
                        <a:rPr lang="en-US" sz="1600" b="1" dirty="0">
                          <a:solidFill>
                            <a:schemeClr val="tx2"/>
                          </a:solidFill>
                        </a:rPr>
                        <a:t>M1</a:t>
                      </a:r>
                      <a:endParaRPr lang="en-US" sz="16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300" dirty="0">
                          <a:solidFill>
                            <a:schemeClr val="tx1"/>
                          </a:solidFill>
                        </a:rPr>
                        <a:t>概念ID体系の構築</a:t>
                      </a:r>
                      <a:endParaRPr lang="en-US" sz="1300" dirty="0"/>
                    </a:p>
                    <a:p>
                      <a:pPr marL="0" indent="0">
                        <a:buNone/>
                      </a:pPr>
                      <a:r>
                        <a:rPr lang="en-US" sz="1300" dirty="0">
                          <a:solidFill>
                            <a:schemeClr val="tx1"/>
                          </a:solidFill>
                        </a:rPr>
                        <a:t>（定義・前提関係・根拠パターン・典型的誤解）</a:t>
                      </a:r>
                      <a:endParaRPr lang="en-US" sz="13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300" dirty="0">
                          <a:solidFill>
                            <a:schemeClr val="tx1"/>
                          </a:solidFill>
                        </a:rPr>
                        <a:t>概念ID付与の網羅率100%／記入率100%</a:t>
                      </a:r>
                      <a:endParaRPr lang="en-US" sz="1300" dirty="0"/>
                    </a:p>
                    <a:p>
                      <a:pPr marL="0" indent="0">
                        <a:buNone/>
                      </a:pPr>
                      <a:r>
                        <a:rPr lang="en-US" sz="1300" dirty="0">
                          <a:solidFill>
                            <a:schemeClr val="tx1"/>
                          </a:solidFill>
                        </a:rPr>
                        <a:t>前提関係の循環参照0件</a:t>
                      </a:r>
                      <a:endParaRPr lang="en-US" sz="13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lgn="ctr">
                        <a:buNone/>
                      </a:pPr>
                      <a:r>
                        <a:rPr lang="en-US" sz="1400" b="1" dirty="0">
                          <a:solidFill>
                            <a:schemeClr val="bg1"/>
                          </a:solidFill>
                        </a:rPr>
                        <a:t>完了</a:t>
                      </a:r>
                      <a:endParaRPr lang="en-US" sz="14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777240">
                <a:tc>
                  <a:txBody>
                    <a:bodyPr/>
                    <a:lstStyle/>
                    <a:p>
                      <a:pPr marL="0" indent="0" algn="ctr">
                        <a:buNone/>
                      </a:pPr>
                      <a:r>
                        <a:rPr lang="en-US" sz="1600" b="1" dirty="0">
                          <a:solidFill>
                            <a:schemeClr val="tx2"/>
                          </a:solidFill>
                        </a:rPr>
                        <a:t>M2</a:t>
                      </a:r>
                      <a:endParaRPr lang="en-US" sz="16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300" dirty="0">
                          <a:solidFill>
                            <a:schemeClr val="tx1"/>
                          </a:solidFill>
                        </a:rPr>
                        <a:t>概念IDリストをプロンプトに統合し、</a:t>
                      </a:r>
                      <a:endParaRPr lang="en-US" sz="1300" dirty="0"/>
                    </a:p>
                    <a:p>
                      <a:pPr marL="0" indent="0">
                        <a:buNone/>
                      </a:pPr>
                      <a:r>
                        <a:rPr lang="en-US" sz="1300" dirty="0">
                          <a:solidFill>
                            <a:schemeClr val="tx1"/>
                          </a:solidFill>
                        </a:rPr>
                        <a:t>(a)〜(d)をJSONで出力するパイプラインを構築</a:t>
                      </a:r>
                      <a:endParaRPr lang="en-US" sz="13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300" dirty="0">
                          <a:solidFill>
                            <a:schemeClr val="tx1"/>
                          </a:solidFill>
                        </a:rPr>
                        <a:t>概念IDの反映率100%</a:t>
                      </a:r>
                      <a:endParaRPr lang="en-US" sz="1300" dirty="0"/>
                    </a:p>
                    <a:p>
                      <a:pPr marL="0" indent="0">
                        <a:buNone/>
                      </a:pPr>
                      <a:r>
                        <a:rPr lang="en-US" sz="1300" dirty="0">
                          <a:solidFill>
                            <a:schemeClr val="tx1"/>
                          </a:solidFill>
                        </a:rPr>
                        <a:t>JSONパース成功率100%</a:t>
                      </a:r>
                      <a:endParaRPr lang="en-US" sz="13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lgn="ctr">
                        <a:buNone/>
                      </a:pPr>
                      <a:r>
                        <a:rPr lang="en-US" sz="1400" b="1" dirty="0">
                          <a:solidFill>
                            <a:schemeClr val="bg1"/>
                          </a:solidFill>
                        </a:rPr>
                        <a:t>完了</a:t>
                      </a:r>
                      <a:endParaRPr lang="en-US" sz="14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777240">
                <a:tc>
                  <a:txBody>
                    <a:bodyPr/>
                    <a:lstStyle/>
                    <a:p>
                      <a:pPr marL="0" indent="0" algn="ctr">
                        <a:buNone/>
                      </a:pPr>
                      <a:r>
                        <a:rPr lang="en-US" sz="1600" b="1" dirty="0">
                          <a:solidFill>
                            <a:schemeClr val="tx2"/>
                          </a:solidFill>
                        </a:rPr>
                        <a:t>M3</a:t>
                      </a:r>
                      <a:endParaRPr lang="en-US" sz="16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300" dirty="0">
                          <a:solidFill>
                            <a:schemeClr val="tx1"/>
                          </a:solidFill>
                        </a:rPr>
                        <a:t>疑似データ（曖昧な自己説明・誤答を含む）で</a:t>
                      </a:r>
                      <a:endParaRPr lang="en-US" sz="1300" dirty="0"/>
                    </a:p>
                    <a:p>
                      <a:pPr marL="0" indent="0">
                        <a:buNone/>
                      </a:pPr>
                      <a:r>
                        <a:rPr lang="en-US" sz="1300" dirty="0">
                          <a:solidFill>
                            <a:schemeClr val="tx1"/>
                          </a:solidFill>
                        </a:rPr>
                        <a:t>頑健性を検証</a:t>
                      </a:r>
                      <a:endParaRPr lang="en-US" sz="13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300" dirty="0">
                          <a:solidFill>
                            <a:schemeClr val="tx1"/>
                          </a:solidFill>
                        </a:rPr>
                        <a:t>想定ラベルとの一致率70%以上／根拠妥当性70%以上</a:t>
                      </a:r>
                      <a:endParaRPr lang="en-US" sz="1300" dirty="0"/>
                    </a:p>
                    <a:p>
                      <a:pPr marL="0" indent="0">
                        <a:buNone/>
                      </a:pPr>
                      <a:r>
                        <a:rPr lang="en-US" sz="1300" dirty="0">
                          <a:solidFill>
                            <a:schemeClr val="tx1"/>
                          </a:solidFill>
                        </a:rPr>
                        <a:t>フォーマットエラー率0%</a:t>
                      </a:r>
                      <a:endParaRPr lang="en-US" sz="13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lgn="ctr">
                        <a:buNone/>
                      </a:pPr>
                      <a:r>
                        <a:rPr lang="en-US" sz="1400" b="1" dirty="0">
                          <a:solidFill>
                            <a:schemeClr val="bg1"/>
                          </a:solidFill>
                        </a:rPr>
                        <a:t>完了</a:t>
                      </a:r>
                      <a:endParaRPr lang="en-US" sz="14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777240">
                <a:tc>
                  <a:txBody>
                    <a:bodyPr/>
                    <a:lstStyle/>
                    <a:p>
                      <a:pPr marL="0" indent="0" algn="ctr">
                        <a:buNone/>
                      </a:pPr>
                      <a:r>
                        <a:rPr lang="en-US" sz="1600" b="1" dirty="0">
                          <a:solidFill>
                            <a:schemeClr val="tx2"/>
                          </a:solidFill>
                        </a:rPr>
                        <a:t>M4</a:t>
                      </a:r>
                      <a:endParaRPr lang="en-US" sz="16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300" dirty="0">
                          <a:solidFill>
                            <a:schemeClr val="tx1"/>
                          </a:solidFill>
                        </a:rPr>
                        <a:t>概念マップの可視化と</a:t>
                      </a:r>
                      <a:endParaRPr lang="en-US" sz="1300" dirty="0"/>
                    </a:p>
                    <a:p>
                      <a:pPr marL="0" indent="0">
                        <a:buNone/>
                      </a:pPr>
                      <a:r>
                        <a:rPr lang="en-US" sz="1300" dirty="0">
                          <a:solidFill>
                            <a:schemeClr val="tx1"/>
                          </a:solidFill>
                        </a:rPr>
                        <a:t>学習者向けフィードバックの提示</a:t>
                      </a:r>
                      <a:endParaRPr lang="en-US" sz="13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300" dirty="0">
                          <a:solidFill>
                            <a:schemeClr val="tx1"/>
                          </a:solidFill>
                        </a:rPr>
                        <a:t>入力から提示までを自動実行できる</a:t>
                      </a:r>
                      <a:endParaRPr lang="en-US" sz="13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lgn="ctr">
                        <a:buNone/>
                      </a:pPr>
                      <a:r>
                        <a:rPr lang="en-US" sz="1400" b="1" dirty="0">
                          <a:solidFill>
                            <a:schemeClr val="accent2"/>
                          </a:solidFill>
                        </a:rPr>
                        <a:t>これから</a:t>
                      </a:r>
                      <a:endParaRPr lang="en-US" sz="14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accent4"/>
                    </a:solidFill>
                  </a:tcPr>
                </a:tc>
                <a:extLst>
                  <a:ext uri="{0D108BD9-81ED-4DB2-BD59-A6C34878D82A}">
                    <a16:rowId xmlns:a16="http://schemas.microsoft.com/office/drawing/2014/main" val="10004"/>
                  </a:ext>
                </a:extLst>
              </a:tr>
              <a:tr h="777240">
                <a:tc>
                  <a:txBody>
                    <a:bodyPr/>
                    <a:lstStyle/>
                    <a:p>
                      <a:pPr marL="0" indent="0" algn="ctr">
                        <a:buNone/>
                      </a:pPr>
                      <a:r>
                        <a:rPr lang="en-US" sz="1600" b="1" dirty="0">
                          <a:solidFill>
                            <a:schemeClr val="tx2"/>
                          </a:solidFill>
                        </a:rPr>
                        <a:t>M5</a:t>
                      </a:r>
                      <a:endParaRPr lang="en-US" sz="16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300" dirty="0">
                          <a:solidFill>
                            <a:schemeClr val="tx1"/>
                          </a:solidFill>
                        </a:rPr>
                        <a:t>学習者5名分の解答過程で妥当性を検証</a:t>
                      </a:r>
                      <a:endParaRPr lang="en-US" sz="1300" dirty="0"/>
                    </a:p>
                    <a:p>
                      <a:pPr marL="0" indent="0">
                        <a:buNone/>
                      </a:pPr>
                      <a:r>
                        <a:rPr lang="en-US" sz="1300" dirty="0">
                          <a:solidFill>
                            <a:schemeClr val="tx1"/>
                          </a:solidFill>
                        </a:rPr>
                        <a:t>（筆者の事前判定とAIの推定を照合）</a:t>
                      </a:r>
                      <a:endParaRPr lang="en-US" sz="13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300" dirty="0">
                          <a:solidFill>
                            <a:schemeClr val="tx1"/>
                          </a:solidFill>
                        </a:rPr>
                        <a:t>一致率70%以上</a:t>
                      </a:r>
                      <a:endParaRPr lang="en-US" sz="13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lgn="ctr">
                        <a:buNone/>
                      </a:pPr>
                      <a:r>
                        <a:rPr lang="en-US" sz="1400" b="1" dirty="0">
                          <a:solidFill>
                            <a:schemeClr val="accent2"/>
                          </a:solidFill>
                        </a:rPr>
                        <a:t>これから</a:t>
                      </a:r>
                      <a:endParaRPr lang="en-US" sz="14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accent4"/>
                    </a:solidFill>
                  </a:tcPr>
                </a:tc>
                <a:extLst>
                  <a:ext uri="{0D108BD9-81ED-4DB2-BD59-A6C34878D82A}">
                    <a16:rowId xmlns:a16="http://schemas.microsoft.com/office/drawing/2014/main" val="10005"/>
                  </a:ext>
                </a:extLst>
              </a:tr>
            </a:tbl>
          </a:graphicData>
        </a:graphic>
      </p:graphicFrame>
      <p:sp>
        <p:nvSpPr>
          <p:cNvPr id="5" name="text-64"/>
          <p:cNvSpPr txBox="1"/>
          <p:nvPr/>
        </p:nvSpPr>
        <p:spPr>
          <a:xfrm>
            <a:off x="548640" y="5943600"/>
            <a:ext cx="5486400" cy="274320"/>
          </a:xfrm>
          <a:prstGeom prst="rect">
            <a:avLst/>
          </a:prstGeom>
          <a:noFill/>
          <a:ln/>
        </p:spPr>
        <p:txBody>
          <a:bodyPr wrap="square" lIns="0" tIns="0" rIns="0" bIns="0" rtlCol="0" anchor="t"/>
          <a:lstStyle/>
          <a:p>
            <a:pPr marL="0" indent="0">
              <a:buNone/>
            </a:pPr>
            <a:r>
              <a:rPr lang="en-US" sz="1200" dirty="0">
                <a:solidFill>
                  <a:schemeClr val="accent5"/>
                </a:solidFill>
              </a:rPr>
              <a:t>対象：線形代数1単元（9章）</a:t>
            </a:r>
            <a:endParaRPr lang="en-US" sz="12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rtlCol="0" anchor="ctr"/>
          <a:lstStyle/>
          <a:p>
            <a:pPr marL="0" indent="0" algn="l">
              <a:buNone/>
            </a:pPr>
            <a:r>
              <a:rPr lang="en-US" sz="2800" b="1" dirty="0">
                <a:solidFill>
                  <a:schemeClr val="tx2"/>
                </a:solidFill>
              </a:rPr>
              <a:t>M1：線形代数をID化</a:t>
            </a:r>
            <a:endParaRPr lang="en-US" sz="2800" dirty="0"/>
          </a:p>
        </p:txBody>
      </p:sp>
      <p:sp>
        <p:nvSpPr>
          <p:cNvPr id="4" name="pill-65"/>
          <p:cNvSpPr/>
          <p:nvPr/>
        </p:nvSpPr>
        <p:spPr>
          <a:xfrm>
            <a:off x="548640" y="1463040"/>
            <a:ext cx="1188720" cy="310896"/>
          </a:xfrm>
          <a:prstGeom prst="roundRect">
            <a:avLst>
              <a:gd name="adj" fmla="val 41176"/>
            </a:avLst>
          </a:prstGeom>
          <a:solidFill>
            <a:schemeClr val="accent1"/>
          </a:solidFill>
          <a:ln/>
        </p:spPr>
        <p:txBody>
          <a:bodyPr wrap="square" lIns="0" tIns="0" rIns="0" bIns="0" rtlCol="0" anchor="ctr"/>
          <a:lstStyle/>
          <a:p>
            <a:pPr marL="0" indent="0" algn="ctr">
              <a:buNone/>
            </a:pPr>
            <a:r>
              <a:rPr lang="en-US" sz="1200" b="1" dirty="0">
                <a:solidFill>
                  <a:schemeClr val="bg1"/>
                </a:solidFill>
              </a:rPr>
              <a:t>完了</a:t>
            </a:r>
            <a:endParaRPr lang="en-US" sz="1200" dirty="0"/>
          </a:p>
        </p:txBody>
      </p:sp>
      <p:sp>
        <p:nvSpPr>
          <p:cNvPr id="5" name="text-66"/>
          <p:cNvSpPr txBox="1"/>
          <p:nvPr/>
        </p:nvSpPr>
        <p:spPr>
          <a:xfrm>
            <a:off x="1920240" y="1463040"/>
            <a:ext cx="4023360" cy="310896"/>
          </a:xfrm>
          <a:prstGeom prst="rect">
            <a:avLst/>
          </a:prstGeom>
          <a:noFill/>
          <a:ln/>
        </p:spPr>
        <p:txBody>
          <a:bodyPr wrap="square" lIns="0" tIns="0" rIns="0" bIns="0" rtlCol="0" anchor="ctr"/>
          <a:lstStyle/>
          <a:p>
            <a:pPr marL="0" indent="0">
              <a:buNone/>
            </a:pPr>
            <a:r>
              <a:rPr lang="en-US" sz="1500" b="1" dirty="0">
                <a:solidFill>
                  <a:schemeClr val="tx2"/>
                </a:solidFill>
              </a:rPr>
              <a:t>9章・52概念（M1完了時は53概念）</a:t>
            </a:r>
            <a:endParaRPr lang="en-US" sz="1500" dirty="0"/>
          </a:p>
        </p:txBody>
      </p:sp>
      <p:sp>
        <p:nvSpPr>
          <p:cNvPr id="6" name="card-67"/>
          <p:cNvSpPr/>
          <p:nvPr/>
        </p:nvSpPr>
        <p:spPr>
          <a:xfrm>
            <a:off x="548640" y="1965960"/>
            <a:ext cx="1645920" cy="1005840"/>
          </a:xfrm>
          <a:prstGeom prst="roundRect">
            <a:avLst>
              <a:gd name="adj" fmla="val 7273"/>
            </a:avLst>
          </a:prstGeom>
          <a:solidFill>
            <a:schemeClr val="bg2"/>
          </a:solidFill>
          <a:ln w="12700">
            <a:solidFill>
              <a:srgbClr val="004352"/>
            </a:solidFill>
            <a:prstDash val="solid"/>
          </a:ln>
        </p:spPr>
        <p:txBody>
          <a:bodyPr/>
          <a:lstStyle/>
          <a:p>
            <a:endParaRPr lang="ja-JP" altLang="en-US"/>
          </a:p>
        </p:txBody>
      </p:sp>
      <p:sp>
        <p:nvSpPr>
          <p:cNvPr id="7" name="text-68"/>
          <p:cNvSpPr txBox="1"/>
          <p:nvPr/>
        </p:nvSpPr>
        <p:spPr>
          <a:xfrm>
            <a:off x="685800" y="2057400"/>
            <a:ext cx="731520" cy="502920"/>
          </a:xfrm>
          <a:prstGeom prst="rect">
            <a:avLst/>
          </a:prstGeom>
          <a:noFill/>
          <a:ln/>
        </p:spPr>
        <p:txBody>
          <a:bodyPr wrap="square" lIns="0" tIns="0" rIns="0" bIns="0" rtlCol="0" anchor="t"/>
          <a:lstStyle/>
          <a:p>
            <a:pPr marL="0" indent="0">
              <a:buNone/>
            </a:pPr>
            <a:r>
              <a:rPr lang="en-US" sz="2600" b="1" dirty="0">
                <a:solidFill>
                  <a:schemeClr val="accent1"/>
                </a:solidFill>
              </a:rPr>
              <a:t>7</a:t>
            </a:r>
            <a:endParaRPr lang="en-US" sz="2600" dirty="0"/>
          </a:p>
        </p:txBody>
      </p:sp>
      <p:sp>
        <p:nvSpPr>
          <p:cNvPr id="8" name="text-69"/>
          <p:cNvSpPr txBox="1"/>
          <p:nvPr/>
        </p:nvSpPr>
        <p:spPr>
          <a:xfrm>
            <a:off x="685800" y="2587752"/>
            <a:ext cx="1417320" cy="320040"/>
          </a:xfrm>
          <a:prstGeom prst="rect">
            <a:avLst/>
          </a:prstGeom>
          <a:noFill/>
          <a:ln/>
        </p:spPr>
        <p:txBody>
          <a:bodyPr wrap="square" lIns="0" tIns="0" rIns="0" bIns="0" rtlCol="0" anchor="t"/>
          <a:lstStyle/>
          <a:p>
            <a:pPr marL="0" indent="0">
              <a:buNone/>
            </a:pPr>
            <a:r>
              <a:rPr lang="en-US" sz="1200" dirty="0">
                <a:solidFill>
                  <a:schemeClr val="tx1"/>
                </a:solidFill>
              </a:rPr>
              <a:t>行列の基本</a:t>
            </a:r>
            <a:endParaRPr lang="en-US" sz="1200" dirty="0"/>
          </a:p>
        </p:txBody>
      </p:sp>
      <p:sp>
        <p:nvSpPr>
          <p:cNvPr id="9" name="card-70"/>
          <p:cNvSpPr/>
          <p:nvPr/>
        </p:nvSpPr>
        <p:spPr>
          <a:xfrm>
            <a:off x="2331720" y="1965960"/>
            <a:ext cx="1645920" cy="1005840"/>
          </a:xfrm>
          <a:prstGeom prst="roundRect">
            <a:avLst>
              <a:gd name="adj" fmla="val 7273"/>
            </a:avLst>
          </a:prstGeom>
          <a:solidFill>
            <a:schemeClr val="bg2"/>
          </a:solidFill>
          <a:ln w="12700">
            <a:solidFill>
              <a:srgbClr val="004352"/>
            </a:solidFill>
            <a:prstDash val="solid"/>
          </a:ln>
        </p:spPr>
        <p:txBody>
          <a:bodyPr/>
          <a:lstStyle/>
          <a:p>
            <a:endParaRPr lang="ja-JP" altLang="en-US"/>
          </a:p>
        </p:txBody>
      </p:sp>
      <p:sp>
        <p:nvSpPr>
          <p:cNvPr id="10" name="text-71"/>
          <p:cNvSpPr txBox="1"/>
          <p:nvPr/>
        </p:nvSpPr>
        <p:spPr>
          <a:xfrm>
            <a:off x="2468880" y="2057400"/>
            <a:ext cx="731520" cy="502920"/>
          </a:xfrm>
          <a:prstGeom prst="rect">
            <a:avLst/>
          </a:prstGeom>
          <a:noFill/>
          <a:ln/>
        </p:spPr>
        <p:txBody>
          <a:bodyPr wrap="square" lIns="0" tIns="0" rIns="0" bIns="0" rtlCol="0" anchor="t"/>
          <a:lstStyle/>
          <a:p>
            <a:pPr marL="0" indent="0">
              <a:buNone/>
            </a:pPr>
            <a:r>
              <a:rPr lang="en-US" sz="2600" b="1" dirty="0">
                <a:solidFill>
                  <a:schemeClr val="accent1"/>
                </a:solidFill>
              </a:rPr>
              <a:t>7</a:t>
            </a:r>
            <a:endParaRPr lang="en-US" sz="2600" dirty="0"/>
          </a:p>
        </p:txBody>
      </p:sp>
      <p:sp>
        <p:nvSpPr>
          <p:cNvPr id="11" name="text-72"/>
          <p:cNvSpPr txBox="1"/>
          <p:nvPr/>
        </p:nvSpPr>
        <p:spPr>
          <a:xfrm>
            <a:off x="2468880" y="2587752"/>
            <a:ext cx="1417320" cy="320040"/>
          </a:xfrm>
          <a:prstGeom prst="rect">
            <a:avLst/>
          </a:prstGeom>
          <a:noFill/>
          <a:ln/>
        </p:spPr>
        <p:txBody>
          <a:bodyPr wrap="square" lIns="0" tIns="0" rIns="0" bIns="0" rtlCol="0" anchor="t"/>
          <a:lstStyle/>
          <a:p>
            <a:pPr marL="0" indent="0">
              <a:buNone/>
            </a:pPr>
            <a:r>
              <a:rPr lang="en-US" sz="1200" dirty="0">
                <a:solidFill>
                  <a:schemeClr val="tx1"/>
                </a:solidFill>
              </a:rPr>
              <a:t>連立一次方程式</a:t>
            </a:r>
            <a:endParaRPr lang="en-US" sz="1200" dirty="0"/>
          </a:p>
        </p:txBody>
      </p:sp>
      <p:sp>
        <p:nvSpPr>
          <p:cNvPr id="12" name="card-73"/>
          <p:cNvSpPr/>
          <p:nvPr/>
        </p:nvSpPr>
        <p:spPr>
          <a:xfrm>
            <a:off x="4114800" y="1965960"/>
            <a:ext cx="1645920" cy="1005840"/>
          </a:xfrm>
          <a:prstGeom prst="roundRect">
            <a:avLst>
              <a:gd name="adj" fmla="val 7273"/>
            </a:avLst>
          </a:prstGeom>
          <a:solidFill>
            <a:schemeClr val="bg2"/>
          </a:solidFill>
          <a:ln w="12700">
            <a:solidFill>
              <a:srgbClr val="004352"/>
            </a:solidFill>
            <a:prstDash val="solid"/>
          </a:ln>
        </p:spPr>
        <p:txBody>
          <a:bodyPr/>
          <a:lstStyle/>
          <a:p>
            <a:endParaRPr lang="ja-JP" altLang="en-US"/>
          </a:p>
        </p:txBody>
      </p:sp>
      <p:sp>
        <p:nvSpPr>
          <p:cNvPr id="13" name="text-74"/>
          <p:cNvSpPr txBox="1"/>
          <p:nvPr/>
        </p:nvSpPr>
        <p:spPr>
          <a:xfrm>
            <a:off x="4251960" y="2057400"/>
            <a:ext cx="731520" cy="502920"/>
          </a:xfrm>
          <a:prstGeom prst="rect">
            <a:avLst/>
          </a:prstGeom>
          <a:noFill/>
          <a:ln/>
        </p:spPr>
        <p:txBody>
          <a:bodyPr wrap="square" lIns="0" tIns="0" rIns="0" bIns="0" rtlCol="0" anchor="t"/>
          <a:lstStyle/>
          <a:p>
            <a:pPr marL="0" indent="0">
              <a:buNone/>
            </a:pPr>
            <a:r>
              <a:rPr lang="en-US" sz="2600" b="1" dirty="0">
                <a:solidFill>
                  <a:schemeClr val="accent1"/>
                </a:solidFill>
              </a:rPr>
              <a:t>7</a:t>
            </a:r>
            <a:endParaRPr lang="en-US" sz="2600" dirty="0"/>
          </a:p>
        </p:txBody>
      </p:sp>
      <p:sp>
        <p:nvSpPr>
          <p:cNvPr id="14" name="text-75"/>
          <p:cNvSpPr txBox="1"/>
          <p:nvPr/>
        </p:nvSpPr>
        <p:spPr>
          <a:xfrm>
            <a:off x="4251960" y="2587752"/>
            <a:ext cx="1417320" cy="320040"/>
          </a:xfrm>
          <a:prstGeom prst="rect">
            <a:avLst/>
          </a:prstGeom>
          <a:noFill/>
          <a:ln/>
        </p:spPr>
        <p:txBody>
          <a:bodyPr wrap="square" lIns="0" tIns="0" rIns="0" bIns="0" rtlCol="0" anchor="t"/>
          <a:lstStyle/>
          <a:p>
            <a:pPr marL="0" indent="0">
              <a:buNone/>
            </a:pPr>
            <a:r>
              <a:rPr lang="en-US" sz="1200" dirty="0">
                <a:solidFill>
                  <a:schemeClr val="tx1"/>
                </a:solidFill>
              </a:rPr>
              <a:t>行列式</a:t>
            </a:r>
            <a:endParaRPr lang="en-US" sz="1200" dirty="0"/>
          </a:p>
        </p:txBody>
      </p:sp>
      <p:sp>
        <p:nvSpPr>
          <p:cNvPr id="15" name="card-76"/>
          <p:cNvSpPr/>
          <p:nvPr/>
        </p:nvSpPr>
        <p:spPr>
          <a:xfrm>
            <a:off x="548640" y="3108960"/>
            <a:ext cx="1645920" cy="1005840"/>
          </a:xfrm>
          <a:prstGeom prst="roundRect">
            <a:avLst>
              <a:gd name="adj" fmla="val 7273"/>
            </a:avLst>
          </a:prstGeom>
          <a:solidFill>
            <a:schemeClr val="bg2"/>
          </a:solidFill>
          <a:ln w="12700">
            <a:solidFill>
              <a:srgbClr val="004352"/>
            </a:solidFill>
            <a:prstDash val="solid"/>
          </a:ln>
        </p:spPr>
        <p:txBody>
          <a:bodyPr/>
          <a:lstStyle/>
          <a:p>
            <a:endParaRPr lang="ja-JP" altLang="en-US"/>
          </a:p>
        </p:txBody>
      </p:sp>
      <p:sp>
        <p:nvSpPr>
          <p:cNvPr id="16" name="text-77"/>
          <p:cNvSpPr txBox="1"/>
          <p:nvPr/>
        </p:nvSpPr>
        <p:spPr>
          <a:xfrm>
            <a:off x="685800" y="3200400"/>
            <a:ext cx="731520" cy="502920"/>
          </a:xfrm>
          <a:prstGeom prst="rect">
            <a:avLst/>
          </a:prstGeom>
          <a:noFill/>
          <a:ln/>
        </p:spPr>
        <p:txBody>
          <a:bodyPr wrap="square" lIns="0" tIns="0" rIns="0" bIns="0" rtlCol="0" anchor="t"/>
          <a:lstStyle/>
          <a:p>
            <a:pPr marL="0" indent="0">
              <a:buNone/>
            </a:pPr>
            <a:r>
              <a:rPr lang="en-US" sz="2600" b="1" dirty="0">
                <a:solidFill>
                  <a:schemeClr val="accent1"/>
                </a:solidFill>
              </a:rPr>
              <a:t>4</a:t>
            </a:r>
            <a:endParaRPr lang="en-US" sz="2600" dirty="0"/>
          </a:p>
        </p:txBody>
      </p:sp>
      <p:sp>
        <p:nvSpPr>
          <p:cNvPr id="17" name="text-78"/>
          <p:cNvSpPr txBox="1"/>
          <p:nvPr/>
        </p:nvSpPr>
        <p:spPr>
          <a:xfrm>
            <a:off x="685800" y="3730752"/>
            <a:ext cx="1417320" cy="320040"/>
          </a:xfrm>
          <a:prstGeom prst="rect">
            <a:avLst/>
          </a:prstGeom>
          <a:noFill/>
          <a:ln/>
        </p:spPr>
        <p:txBody>
          <a:bodyPr wrap="square" lIns="0" tIns="0" rIns="0" bIns="0" rtlCol="0" anchor="t"/>
          <a:lstStyle/>
          <a:p>
            <a:pPr marL="0" indent="0">
              <a:buNone/>
            </a:pPr>
            <a:r>
              <a:rPr lang="en-US" sz="1200" dirty="0">
                <a:solidFill>
                  <a:schemeClr val="tx1"/>
                </a:solidFill>
              </a:rPr>
              <a:t>逆行列</a:t>
            </a:r>
            <a:endParaRPr lang="en-US" sz="1200" dirty="0"/>
          </a:p>
        </p:txBody>
      </p:sp>
      <p:sp>
        <p:nvSpPr>
          <p:cNvPr id="18" name="card-79"/>
          <p:cNvSpPr/>
          <p:nvPr/>
        </p:nvSpPr>
        <p:spPr>
          <a:xfrm>
            <a:off x="2331720" y="3108960"/>
            <a:ext cx="1645920" cy="1005840"/>
          </a:xfrm>
          <a:prstGeom prst="roundRect">
            <a:avLst>
              <a:gd name="adj" fmla="val 7273"/>
            </a:avLst>
          </a:prstGeom>
          <a:solidFill>
            <a:schemeClr val="bg2"/>
          </a:solidFill>
          <a:ln w="12700">
            <a:solidFill>
              <a:srgbClr val="004352"/>
            </a:solidFill>
            <a:prstDash val="solid"/>
          </a:ln>
        </p:spPr>
        <p:txBody>
          <a:bodyPr/>
          <a:lstStyle/>
          <a:p>
            <a:endParaRPr lang="ja-JP" altLang="en-US"/>
          </a:p>
        </p:txBody>
      </p:sp>
      <p:sp>
        <p:nvSpPr>
          <p:cNvPr id="19" name="text-80"/>
          <p:cNvSpPr txBox="1"/>
          <p:nvPr/>
        </p:nvSpPr>
        <p:spPr>
          <a:xfrm>
            <a:off x="2468880" y="3200400"/>
            <a:ext cx="731520" cy="502920"/>
          </a:xfrm>
          <a:prstGeom prst="rect">
            <a:avLst/>
          </a:prstGeom>
          <a:noFill/>
          <a:ln/>
        </p:spPr>
        <p:txBody>
          <a:bodyPr wrap="square" lIns="0" tIns="0" rIns="0" bIns="0" rtlCol="0" anchor="t"/>
          <a:lstStyle/>
          <a:p>
            <a:pPr marL="0" indent="0">
              <a:buNone/>
            </a:pPr>
            <a:r>
              <a:rPr lang="en-US" sz="2600" b="1" dirty="0">
                <a:solidFill>
                  <a:schemeClr val="accent1"/>
                </a:solidFill>
              </a:rPr>
              <a:t>7</a:t>
            </a:r>
            <a:endParaRPr lang="en-US" sz="2600" dirty="0"/>
          </a:p>
        </p:txBody>
      </p:sp>
      <p:sp>
        <p:nvSpPr>
          <p:cNvPr id="20" name="text-81"/>
          <p:cNvSpPr txBox="1"/>
          <p:nvPr/>
        </p:nvSpPr>
        <p:spPr>
          <a:xfrm>
            <a:off x="2468880" y="3730752"/>
            <a:ext cx="1417320" cy="320040"/>
          </a:xfrm>
          <a:prstGeom prst="rect">
            <a:avLst/>
          </a:prstGeom>
          <a:noFill/>
          <a:ln/>
        </p:spPr>
        <p:txBody>
          <a:bodyPr wrap="square" lIns="0" tIns="0" rIns="0" bIns="0" rtlCol="0" anchor="t"/>
          <a:lstStyle/>
          <a:p>
            <a:pPr marL="0" indent="0">
              <a:buNone/>
            </a:pPr>
            <a:r>
              <a:rPr lang="en-US" sz="1200" dirty="0">
                <a:solidFill>
                  <a:schemeClr val="tx1"/>
                </a:solidFill>
              </a:rPr>
              <a:t>ベクトル空間</a:t>
            </a:r>
            <a:endParaRPr lang="en-US" sz="1200" dirty="0"/>
          </a:p>
        </p:txBody>
      </p:sp>
      <p:sp>
        <p:nvSpPr>
          <p:cNvPr id="21" name="card-82"/>
          <p:cNvSpPr/>
          <p:nvPr/>
        </p:nvSpPr>
        <p:spPr>
          <a:xfrm>
            <a:off x="4114800" y="3108960"/>
            <a:ext cx="1645920" cy="1005840"/>
          </a:xfrm>
          <a:prstGeom prst="roundRect">
            <a:avLst>
              <a:gd name="adj" fmla="val 7273"/>
            </a:avLst>
          </a:prstGeom>
          <a:solidFill>
            <a:schemeClr val="bg2"/>
          </a:solidFill>
          <a:ln w="12700">
            <a:solidFill>
              <a:srgbClr val="004352"/>
            </a:solidFill>
            <a:prstDash val="solid"/>
          </a:ln>
        </p:spPr>
        <p:txBody>
          <a:bodyPr/>
          <a:lstStyle/>
          <a:p>
            <a:endParaRPr lang="ja-JP" altLang="en-US"/>
          </a:p>
        </p:txBody>
      </p:sp>
      <p:sp>
        <p:nvSpPr>
          <p:cNvPr id="22" name="text-83"/>
          <p:cNvSpPr txBox="1"/>
          <p:nvPr/>
        </p:nvSpPr>
        <p:spPr>
          <a:xfrm>
            <a:off x="4251960" y="3200400"/>
            <a:ext cx="731520" cy="502920"/>
          </a:xfrm>
          <a:prstGeom prst="rect">
            <a:avLst/>
          </a:prstGeom>
          <a:noFill/>
          <a:ln/>
        </p:spPr>
        <p:txBody>
          <a:bodyPr wrap="square" lIns="0" tIns="0" rIns="0" bIns="0" rtlCol="0" anchor="t"/>
          <a:lstStyle/>
          <a:p>
            <a:pPr marL="0" indent="0">
              <a:buNone/>
            </a:pPr>
            <a:r>
              <a:rPr lang="en-US" sz="2600" b="1" dirty="0">
                <a:solidFill>
                  <a:schemeClr val="accent1"/>
                </a:solidFill>
              </a:rPr>
              <a:t>5</a:t>
            </a:r>
            <a:endParaRPr lang="en-US" sz="2600" dirty="0"/>
          </a:p>
        </p:txBody>
      </p:sp>
      <p:sp>
        <p:nvSpPr>
          <p:cNvPr id="23" name="text-84"/>
          <p:cNvSpPr txBox="1"/>
          <p:nvPr/>
        </p:nvSpPr>
        <p:spPr>
          <a:xfrm>
            <a:off x="4251960" y="3730752"/>
            <a:ext cx="1417320" cy="320040"/>
          </a:xfrm>
          <a:prstGeom prst="rect">
            <a:avLst/>
          </a:prstGeom>
          <a:noFill/>
          <a:ln/>
        </p:spPr>
        <p:txBody>
          <a:bodyPr wrap="square" lIns="0" tIns="0" rIns="0" bIns="0" rtlCol="0" anchor="t"/>
          <a:lstStyle/>
          <a:p>
            <a:pPr marL="0" indent="0">
              <a:buNone/>
            </a:pPr>
            <a:r>
              <a:rPr lang="en-US" sz="1200" dirty="0">
                <a:solidFill>
                  <a:schemeClr val="tx1"/>
                </a:solidFill>
              </a:rPr>
              <a:t>線形写像</a:t>
            </a:r>
            <a:endParaRPr lang="en-US" sz="1200" dirty="0"/>
          </a:p>
        </p:txBody>
      </p:sp>
      <p:sp>
        <p:nvSpPr>
          <p:cNvPr id="24" name="card-85"/>
          <p:cNvSpPr/>
          <p:nvPr/>
        </p:nvSpPr>
        <p:spPr>
          <a:xfrm>
            <a:off x="548640" y="4251960"/>
            <a:ext cx="1645920" cy="1005840"/>
          </a:xfrm>
          <a:prstGeom prst="roundRect">
            <a:avLst>
              <a:gd name="adj" fmla="val 7273"/>
            </a:avLst>
          </a:prstGeom>
          <a:solidFill>
            <a:schemeClr val="bg2"/>
          </a:solidFill>
          <a:ln w="12700">
            <a:solidFill>
              <a:srgbClr val="004352"/>
            </a:solidFill>
            <a:prstDash val="solid"/>
          </a:ln>
        </p:spPr>
        <p:txBody>
          <a:bodyPr/>
          <a:lstStyle/>
          <a:p>
            <a:endParaRPr lang="ja-JP" altLang="en-US"/>
          </a:p>
        </p:txBody>
      </p:sp>
      <p:sp>
        <p:nvSpPr>
          <p:cNvPr id="25" name="text-86"/>
          <p:cNvSpPr txBox="1"/>
          <p:nvPr/>
        </p:nvSpPr>
        <p:spPr>
          <a:xfrm>
            <a:off x="685800" y="4343400"/>
            <a:ext cx="731520" cy="502920"/>
          </a:xfrm>
          <a:prstGeom prst="rect">
            <a:avLst/>
          </a:prstGeom>
          <a:noFill/>
          <a:ln/>
        </p:spPr>
        <p:txBody>
          <a:bodyPr wrap="square" lIns="0" tIns="0" rIns="0" bIns="0" rtlCol="0" anchor="t"/>
          <a:lstStyle/>
          <a:p>
            <a:pPr marL="0" indent="0">
              <a:buNone/>
            </a:pPr>
            <a:r>
              <a:rPr lang="en-US" sz="2600" b="1" dirty="0">
                <a:solidFill>
                  <a:schemeClr val="accent1"/>
                </a:solidFill>
              </a:rPr>
              <a:t>5</a:t>
            </a:r>
            <a:endParaRPr lang="en-US" sz="2600" dirty="0"/>
          </a:p>
        </p:txBody>
      </p:sp>
      <p:sp>
        <p:nvSpPr>
          <p:cNvPr id="26" name="text-87"/>
          <p:cNvSpPr txBox="1"/>
          <p:nvPr/>
        </p:nvSpPr>
        <p:spPr>
          <a:xfrm>
            <a:off x="685800" y="4873752"/>
            <a:ext cx="1417320" cy="320040"/>
          </a:xfrm>
          <a:prstGeom prst="rect">
            <a:avLst/>
          </a:prstGeom>
          <a:noFill/>
          <a:ln/>
        </p:spPr>
        <p:txBody>
          <a:bodyPr wrap="square" lIns="0" tIns="0" rIns="0" bIns="0" rtlCol="0" anchor="t"/>
          <a:lstStyle/>
          <a:p>
            <a:pPr marL="0" indent="0">
              <a:buNone/>
            </a:pPr>
            <a:r>
              <a:rPr lang="en-US" sz="1050" dirty="0">
                <a:solidFill>
                  <a:schemeClr val="tx1"/>
                </a:solidFill>
              </a:rPr>
              <a:t>固有値・固有ベクトル</a:t>
            </a:r>
            <a:endParaRPr lang="en-US" sz="1050" dirty="0"/>
          </a:p>
        </p:txBody>
      </p:sp>
      <p:sp>
        <p:nvSpPr>
          <p:cNvPr id="27" name="card-88"/>
          <p:cNvSpPr/>
          <p:nvPr/>
        </p:nvSpPr>
        <p:spPr>
          <a:xfrm>
            <a:off x="2331720" y="4251960"/>
            <a:ext cx="1645920" cy="1005840"/>
          </a:xfrm>
          <a:prstGeom prst="roundRect">
            <a:avLst>
              <a:gd name="adj" fmla="val 7273"/>
            </a:avLst>
          </a:prstGeom>
          <a:solidFill>
            <a:schemeClr val="bg2"/>
          </a:solidFill>
          <a:ln w="12700">
            <a:solidFill>
              <a:srgbClr val="004352"/>
            </a:solidFill>
            <a:prstDash val="solid"/>
          </a:ln>
        </p:spPr>
        <p:txBody>
          <a:bodyPr/>
          <a:lstStyle/>
          <a:p>
            <a:endParaRPr lang="ja-JP" altLang="en-US"/>
          </a:p>
        </p:txBody>
      </p:sp>
      <p:sp>
        <p:nvSpPr>
          <p:cNvPr id="28" name="text-89"/>
          <p:cNvSpPr txBox="1"/>
          <p:nvPr/>
        </p:nvSpPr>
        <p:spPr>
          <a:xfrm>
            <a:off x="2468880" y="4343400"/>
            <a:ext cx="731520" cy="502920"/>
          </a:xfrm>
          <a:prstGeom prst="rect">
            <a:avLst/>
          </a:prstGeom>
          <a:noFill/>
          <a:ln/>
        </p:spPr>
        <p:txBody>
          <a:bodyPr wrap="square" lIns="0" tIns="0" rIns="0" bIns="0" rtlCol="0" anchor="t"/>
          <a:lstStyle/>
          <a:p>
            <a:pPr marL="0" indent="0">
              <a:buNone/>
            </a:pPr>
            <a:r>
              <a:rPr lang="en-US" sz="2600" b="1" dirty="0">
                <a:solidFill>
                  <a:schemeClr val="accent1"/>
                </a:solidFill>
              </a:rPr>
              <a:t>4</a:t>
            </a:r>
            <a:endParaRPr lang="en-US" sz="2600" dirty="0"/>
          </a:p>
        </p:txBody>
      </p:sp>
      <p:sp>
        <p:nvSpPr>
          <p:cNvPr id="29" name="text-90"/>
          <p:cNvSpPr txBox="1"/>
          <p:nvPr/>
        </p:nvSpPr>
        <p:spPr>
          <a:xfrm>
            <a:off x="2468880" y="4873752"/>
            <a:ext cx="1417320" cy="320040"/>
          </a:xfrm>
          <a:prstGeom prst="rect">
            <a:avLst/>
          </a:prstGeom>
          <a:noFill/>
          <a:ln/>
        </p:spPr>
        <p:txBody>
          <a:bodyPr wrap="square" lIns="0" tIns="0" rIns="0" bIns="0" rtlCol="0" anchor="t"/>
          <a:lstStyle/>
          <a:p>
            <a:pPr marL="0" indent="0">
              <a:buNone/>
            </a:pPr>
            <a:r>
              <a:rPr lang="en-US" sz="1200" dirty="0">
                <a:solidFill>
                  <a:schemeClr val="tx1"/>
                </a:solidFill>
              </a:rPr>
              <a:t>対角化</a:t>
            </a:r>
            <a:endParaRPr lang="en-US" sz="1200" dirty="0"/>
          </a:p>
        </p:txBody>
      </p:sp>
      <p:sp>
        <p:nvSpPr>
          <p:cNvPr id="30" name="card-91"/>
          <p:cNvSpPr/>
          <p:nvPr/>
        </p:nvSpPr>
        <p:spPr>
          <a:xfrm>
            <a:off x="4114800" y="4251960"/>
            <a:ext cx="1645920" cy="1005840"/>
          </a:xfrm>
          <a:prstGeom prst="roundRect">
            <a:avLst>
              <a:gd name="adj" fmla="val 7273"/>
            </a:avLst>
          </a:prstGeom>
          <a:solidFill>
            <a:schemeClr val="bg2"/>
          </a:solidFill>
          <a:ln w="12700">
            <a:solidFill>
              <a:srgbClr val="004352"/>
            </a:solidFill>
            <a:prstDash val="solid"/>
          </a:ln>
        </p:spPr>
        <p:txBody>
          <a:bodyPr/>
          <a:lstStyle/>
          <a:p>
            <a:endParaRPr lang="ja-JP" altLang="en-US"/>
          </a:p>
        </p:txBody>
      </p:sp>
      <p:sp>
        <p:nvSpPr>
          <p:cNvPr id="31" name="text-92"/>
          <p:cNvSpPr txBox="1"/>
          <p:nvPr/>
        </p:nvSpPr>
        <p:spPr>
          <a:xfrm>
            <a:off x="4251960" y="4343400"/>
            <a:ext cx="731520" cy="502920"/>
          </a:xfrm>
          <a:prstGeom prst="rect">
            <a:avLst/>
          </a:prstGeom>
          <a:noFill/>
          <a:ln/>
        </p:spPr>
        <p:txBody>
          <a:bodyPr wrap="square" lIns="0" tIns="0" rIns="0" bIns="0" rtlCol="0" anchor="t"/>
          <a:lstStyle/>
          <a:p>
            <a:pPr marL="0" indent="0">
              <a:buNone/>
            </a:pPr>
            <a:r>
              <a:rPr lang="en-US" sz="2600" b="1" dirty="0">
                <a:solidFill>
                  <a:schemeClr val="accent1"/>
                </a:solidFill>
              </a:rPr>
              <a:t>6</a:t>
            </a:r>
            <a:endParaRPr lang="en-US" sz="2600" dirty="0"/>
          </a:p>
        </p:txBody>
      </p:sp>
      <p:sp>
        <p:nvSpPr>
          <p:cNvPr id="32" name="text-93"/>
          <p:cNvSpPr txBox="1"/>
          <p:nvPr/>
        </p:nvSpPr>
        <p:spPr>
          <a:xfrm>
            <a:off x="4251960" y="4873752"/>
            <a:ext cx="1417320" cy="320040"/>
          </a:xfrm>
          <a:prstGeom prst="rect">
            <a:avLst/>
          </a:prstGeom>
          <a:noFill/>
          <a:ln/>
        </p:spPr>
        <p:txBody>
          <a:bodyPr wrap="square" lIns="0" tIns="0" rIns="0" bIns="0" rtlCol="0" anchor="t"/>
          <a:lstStyle/>
          <a:p>
            <a:pPr marL="0" indent="0">
              <a:buNone/>
            </a:pPr>
            <a:r>
              <a:rPr lang="en-US" sz="1200" dirty="0">
                <a:solidFill>
                  <a:schemeClr val="tx1"/>
                </a:solidFill>
              </a:rPr>
              <a:t>内積空間</a:t>
            </a:r>
            <a:endParaRPr lang="en-US" sz="1200" dirty="0"/>
          </a:p>
        </p:txBody>
      </p:sp>
      <p:sp>
        <p:nvSpPr>
          <p:cNvPr id="33" name="text-94"/>
          <p:cNvSpPr txBox="1"/>
          <p:nvPr/>
        </p:nvSpPr>
        <p:spPr>
          <a:xfrm>
            <a:off x="548640" y="5486400"/>
            <a:ext cx="5212080" cy="274320"/>
          </a:xfrm>
          <a:prstGeom prst="rect">
            <a:avLst/>
          </a:prstGeom>
          <a:noFill/>
          <a:ln/>
        </p:spPr>
        <p:txBody>
          <a:bodyPr wrap="square" lIns="0" tIns="0" rIns="0" bIns="0" rtlCol="0" anchor="t"/>
          <a:lstStyle/>
          <a:p>
            <a:pPr marL="0" indent="0">
              <a:buNone/>
            </a:pPr>
            <a:r>
              <a:rPr lang="en-US" sz="1200" dirty="0">
                <a:solidFill>
                  <a:schemeClr val="accent5"/>
                </a:solidFill>
              </a:rPr>
              <a:t>各概念に持たせた情報：定義／前提関係／根拠パターン／典型的誤解</a:t>
            </a:r>
            <a:endParaRPr lang="en-US" sz="1200" dirty="0"/>
          </a:p>
        </p:txBody>
      </p:sp>
      <p:sp>
        <p:nvSpPr>
          <p:cNvPr id="34" name="text-95"/>
          <p:cNvSpPr txBox="1"/>
          <p:nvPr/>
        </p:nvSpPr>
        <p:spPr>
          <a:xfrm>
            <a:off x="548640" y="5806440"/>
            <a:ext cx="5212080" cy="274320"/>
          </a:xfrm>
          <a:prstGeom prst="rect">
            <a:avLst/>
          </a:prstGeom>
          <a:noFill/>
          <a:ln/>
        </p:spPr>
        <p:txBody>
          <a:bodyPr wrap="square" lIns="0" tIns="0" rIns="0" bIns="0" rtlCol="0" anchor="t"/>
          <a:lstStyle/>
          <a:p>
            <a:pPr marL="0" indent="0">
              <a:buNone/>
            </a:pPr>
            <a:r>
              <a:rPr lang="en-US" sz="1200" b="1" dirty="0">
                <a:solidFill>
                  <a:schemeClr val="accent1"/>
                </a:solidFill>
              </a:rPr>
              <a:t>達成：網羅率100%・記入率100%・前提関係の循環参照0件</a:t>
            </a:r>
            <a:endParaRPr lang="en-US" sz="1200" dirty="0"/>
          </a:p>
        </p:txBody>
      </p:sp>
      <p:sp>
        <p:nvSpPr>
          <p:cNvPr id="35" name="card-96"/>
          <p:cNvSpPr/>
          <p:nvPr/>
        </p:nvSpPr>
        <p:spPr>
          <a:xfrm>
            <a:off x="6172200" y="1463040"/>
            <a:ext cx="5470855" cy="4572000"/>
          </a:xfrm>
          <a:prstGeom prst="roundRect">
            <a:avLst>
              <a:gd name="adj" fmla="val 1600"/>
            </a:avLst>
          </a:prstGeom>
          <a:solidFill>
            <a:schemeClr val="bg1"/>
          </a:solidFill>
          <a:ln w="19050">
            <a:solidFill>
              <a:schemeClr val="accent1"/>
            </a:solidFill>
            <a:prstDash val="solid"/>
          </a:ln>
        </p:spPr>
        <p:txBody>
          <a:bodyPr/>
          <a:lstStyle/>
          <a:p>
            <a:endParaRPr lang="ja-JP" altLang="en-US"/>
          </a:p>
        </p:txBody>
      </p:sp>
      <p:sp>
        <p:nvSpPr>
          <p:cNvPr id="36" name="pill-97"/>
          <p:cNvSpPr/>
          <p:nvPr/>
        </p:nvSpPr>
        <p:spPr>
          <a:xfrm>
            <a:off x="6446520" y="1691640"/>
            <a:ext cx="1463040" cy="310896"/>
          </a:xfrm>
          <a:prstGeom prst="roundRect">
            <a:avLst>
              <a:gd name="adj" fmla="val 41176"/>
            </a:avLst>
          </a:prstGeom>
          <a:solidFill>
            <a:schemeClr val="accent1"/>
          </a:solidFill>
          <a:ln/>
        </p:spPr>
        <p:txBody>
          <a:bodyPr wrap="square" lIns="0" tIns="0" rIns="0" bIns="0" rtlCol="0" anchor="ctr"/>
          <a:lstStyle/>
          <a:p>
            <a:pPr marL="0" indent="0" algn="ctr">
              <a:buNone/>
            </a:pPr>
            <a:r>
              <a:rPr lang="en-US" sz="1300" b="1" dirty="0">
                <a:solidFill>
                  <a:schemeClr val="bg1"/>
                </a:solidFill>
              </a:rPr>
              <a:t>LA-MAT-04</a:t>
            </a:r>
            <a:endParaRPr lang="en-US" sz="1300" dirty="0"/>
          </a:p>
        </p:txBody>
      </p:sp>
      <p:sp>
        <p:nvSpPr>
          <p:cNvPr id="37" name="text-98"/>
          <p:cNvSpPr txBox="1"/>
          <p:nvPr/>
        </p:nvSpPr>
        <p:spPr>
          <a:xfrm>
            <a:off x="8046720" y="1691640"/>
            <a:ext cx="2743200" cy="310896"/>
          </a:xfrm>
          <a:prstGeom prst="rect">
            <a:avLst/>
          </a:prstGeom>
          <a:noFill/>
          <a:ln/>
        </p:spPr>
        <p:txBody>
          <a:bodyPr wrap="square" lIns="0" tIns="0" rIns="0" bIns="0" rtlCol="0" anchor="ctr"/>
          <a:lstStyle/>
          <a:p>
            <a:pPr marL="0" indent="0">
              <a:buNone/>
            </a:pPr>
            <a:r>
              <a:rPr lang="en-US" sz="1800" b="1" dirty="0">
                <a:solidFill>
                  <a:schemeClr val="tx2"/>
                </a:solidFill>
              </a:rPr>
              <a:t>転置行列</a:t>
            </a:r>
            <a:endParaRPr lang="en-US" sz="1800" dirty="0"/>
          </a:p>
        </p:txBody>
      </p:sp>
      <p:sp>
        <p:nvSpPr>
          <p:cNvPr id="38" name="text-99"/>
          <p:cNvSpPr txBox="1"/>
          <p:nvPr/>
        </p:nvSpPr>
        <p:spPr>
          <a:xfrm>
            <a:off x="6446520" y="2240280"/>
            <a:ext cx="1463040" cy="274320"/>
          </a:xfrm>
          <a:prstGeom prst="rect">
            <a:avLst/>
          </a:prstGeom>
          <a:noFill/>
          <a:ln/>
        </p:spPr>
        <p:txBody>
          <a:bodyPr wrap="square" lIns="0" tIns="0" rIns="0" bIns="0" rtlCol="0" anchor="t"/>
          <a:lstStyle/>
          <a:p>
            <a:pPr marL="0" indent="0">
              <a:buNone/>
            </a:pPr>
            <a:r>
              <a:rPr lang="en-US" sz="1200" b="1" dirty="0">
                <a:solidFill>
                  <a:schemeClr val="accent1"/>
                </a:solidFill>
              </a:rPr>
              <a:t>定義</a:t>
            </a:r>
            <a:endParaRPr lang="en-US" sz="1200" dirty="0"/>
          </a:p>
        </p:txBody>
      </p:sp>
      <p:sp>
        <p:nvSpPr>
          <p:cNvPr id="39" name="text-100"/>
          <p:cNvSpPr txBox="1"/>
          <p:nvPr/>
        </p:nvSpPr>
        <p:spPr>
          <a:xfrm>
            <a:off x="6446520" y="2532888"/>
            <a:ext cx="4922215" cy="640080"/>
          </a:xfrm>
          <a:prstGeom prst="rect">
            <a:avLst/>
          </a:prstGeom>
          <a:noFill/>
          <a:ln/>
        </p:spPr>
        <p:txBody>
          <a:bodyPr wrap="square" lIns="0" tIns="0" rIns="0" bIns="0" rtlCol="0" anchor="t"/>
          <a:lstStyle/>
          <a:p>
            <a:pPr marL="0" indent="0">
              <a:buNone/>
            </a:pPr>
            <a:r>
              <a:rPr lang="en-US" sz="1300" dirty="0">
                <a:solidFill>
                  <a:schemeClr val="tx1"/>
                </a:solidFill>
              </a:rPr>
              <a:t>行列Aの転置A^Tが行と列を入れ替えたものであることの理解、(AB)^T = B^T A^T などの性質</a:t>
            </a:r>
            <a:endParaRPr lang="en-US" sz="1300" dirty="0"/>
          </a:p>
        </p:txBody>
      </p:sp>
      <p:sp>
        <p:nvSpPr>
          <p:cNvPr id="40" name="text-101"/>
          <p:cNvSpPr txBox="1"/>
          <p:nvPr/>
        </p:nvSpPr>
        <p:spPr>
          <a:xfrm>
            <a:off x="6446520" y="3291840"/>
            <a:ext cx="1463040" cy="274320"/>
          </a:xfrm>
          <a:prstGeom prst="rect">
            <a:avLst/>
          </a:prstGeom>
          <a:noFill/>
          <a:ln/>
        </p:spPr>
        <p:txBody>
          <a:bodyPr wrap="square" lIns="0" tIns="0" rIns="0" bIns="0" rtlCol="0" anchor="t"/>
          <a:lstStyle/>
          <a:p>
            <a:pPr marL="0" indent="0">
              <a:buNone/>
            </a:pPr>
            <a:r>
              <a:rPr lang="en-US" sz="1200" b="1" dirty="0">
                <a:solidFill>
                  <a:schemeClr val="accent1"/>
                </a:solidFill>
              </a:rPr>
              <a:t>前提関係</a:t>
            </a:r>
            <a:endParaRPr lang="en-US" sz="1200" dirty="0"/>
          </a:p>
        </p:txBody>
      </p:sp>
      <p:sp>
        <p:nvSpPr>
          <p:cNvPr id="41" name="text-102"/>
          <p:cNvSpPr txBox="1"/>
          <p:nvPr/>
        </p:nvSpPr>
        <p:spPr>
          <a:xfrm>
            <a:off x="6446520" y="3584448"/>
            <a:ext cx="4922215" cy="640080"/>
          </a:xfrm>
          <a:prstGeom prst="rect">
            <a:avLst/>
          </a:prstGeom>
          <a:noFill/>
          <a:ln/>
        </p:spPr>
        <p:txBody>
          <a:bodyPr wrap="square" lIns="0" tIns="0" rIns="0" bIns="0" rtlCol="0" anchor="t"/>
          <a:lstStyle/>
          <a:p>
            <a:pPr marL="0" indent="0">
              <a:buNone/>
            </a:pPr>
            <a:r>
              <a:rPr lang="en-US" sz="1300" dirty="0">
                <a:solidFill>
                  <a:schemeClr val="tx1"/>
                </a:solidFill>
              </a:rPr>
              <a:t>LA-MAT-03（行列の積）</a:t>
            </a:r>
            <a:endParaRPr lang="en-US" sz="1300" dirty="0"/>
          </a:p>
        </p:txBody>
      </p:sp>
      <p:sp>
        <p:nvSpPr>
          <p:cNvPr id="42" name="text-103"/>
          <p:cNvSpPr txBox="1"/>
          <p:nvPr/>
        </p:nvSpPr>
        <p:spPr>
          <a:xfrm>
            <a:off x="6446520" y="4023360"/>
            <a:ext cx="1463040" cy="274320"/>
          </a:xfrm>
          <a:prstGeom prst="rect">
            <a:avLst/>
          </a:prstGeom>
          <a:noFill/>
          <a:ln/>
        </p:spPr>
        <p:txBody>
          <a:bodyPr wrap="square" lIns="0" tIns="0" rIns="0" bIns="0" rtlCol="0" anchor="t"/>
          <a:lstStyle/>
          <a:p>
            <a:pPr marL="0" indent="0">
              <a:buNone/>
            </a:pPr>
            <a:r>
              <a:rPr lang="en-US" sz="1200" b="1" dirty="0">
                <a:solidFill>
                  <a:schemeClr val="accent1"/>
                </a:solidFill>
              </a:rPr>
              <a:t>根拠パターン</a:t>
            </a:r>
            <a:endParaRPr lang="en-US" sz="1200" dirty="0"/>
          </a:p>
        </p:txBody>
      </p:sp>
      <p:sp>
        <p:nvSpPr>
          <p:cNvPr id="43" name="text-104"/>
          <p:cNvSpPr txBox="1"/>
          <p:nvPr/>
        </p:nvSpPr>
        <p:spPr>
          <a:xfrm>
            <a:off x="6446520" y="4315968"/>
            <a:ext cx="4922215" cy="640080"/>
          </a:xfrm>
          <a:prstGeom prst="rect">
            <a:avLst/>
          </a:prstGeom>
          <a:noFill/>
          <a:ln/>
        </p:spPr>
        <p:txBody>
          <a:bodyPr wrap="square" lIns="0" tIns="0" rIns="0" bIns="0" rtlCol="0" anchor="t"/>
          <a:lstStyle/>
          <a:p>
            <a:pPr marL="0" indent="0">
              <a:buNone/>
            </a:pPr>
            <a:r>
              <a:rPr lang="en-US" sz="1300" dirty="0">
                <a:solidFill>
                  <a:schemeClr val="tx1"/>
                </a:solidFill>
              </a:rPr>
              <a:t>転置の際に添字の入れ替え（a_ij → a_ji）を誤る</a:t>
            </a:r>
            <a:endParaRPr lang="en-US" sz="1300" dirty="0"/>
          </a:p>
        </p:txBody>
      </p:sp>
      <p:sp>
        <p:nvSpPr>
          <p:cNvPr id="44" name="text-105"/>
          <p:cNvSpPr txBox="1"/>
          <p:nvPr/>
        </p:nvSpPr>
        <p:spPr>
          <a:xfrm>
            <a:off x="6446520" y="4937760"/>
            <a:ext cx="1463040" cy="274320"/>
          </a:xfrm>
          <a:prstGeom prst="rect">
            <a:avLst/>
          </a:prstGeom>
          <a:noFill/>
          <a:ln/>
        </p:spPr>
        <p:txBody>
          <a:bodyPr wrap="square" lIns="0" tIns="0" rIns="0" bIns="0" rtlCol="0" anchor="t"/>
          <a:lstStyle/>
          <a:p>
            <a:pPr marL="0" indent="0">
              <a:buNone/>
            </a:pPr>
            <a:r>
              <a:rPr lang="en-US" sz="1200" b="1" dirty="0">
                <a:solidFill>
                  <a:schemeClr val="accent1"/>
                </a:solidFill>
              </a:rPr>
              <a:t>典型的誤解</a:t>
            </a:r>
            <a:endParaRPr lang="en-US" sz="1200" dirty="0"/>
          </a:p>
        </p:txBody>
      </p:sp>
      <p:sp>
        <p:nvSpPr>
          <p:cNvPr id="45" name="text-106"/>
          <p:cNvSpPr txBox="1"/>
          <p:nvPr/>
        </p:nvSpPr>
        <p:spPr>
          <a:xfrm>
            <a:off x="6446520" y="5230368"/>
            <a:ext cx="4922215" cy="640080"/>
          </a:xfrm>
          <a:prstGeom prst="rect">
            <a:avLst/>
          </a:prstGeom>
          <a:noFill/>
          <a:ln/>
        </p:spPr>
        <p:txBody>
          <a:bodyPr wrap="square" lIns="0" tIns="0" rIns="0" bIns="0" rtlCol="0" anchor="t"/>
          <a:lstStyle/>
          <a:p>
            <a:pPr marL="0" indent="0">
              <a:buNone/>
            </a:pPr>
            <a:r>
              <a:rPr lang="en-US" sz="1300" dirty="0">
                <a:solidFill>
                  <a:schemeClr val="tx1"/>
                </a:solidFill>
              </a:rPr>
              <a:t>(AB)^T = A^T B^T だと誤解している（正しくは B^T A^T）</a:t>
            </a:r>
            <a:endParaRPr lang="en-US" sz="1300" dirty="0"/>
          </a:p>
        </p:txBody>
      </p:sp>
      <p:sp>
        <p:nvSpPr>
          <p:cNvPr id="3"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10</a:t>
            </a:fld>
            <a:endParaRPr lang="en-US"/>
          </a:p>
        </p:txBody>
      </p:sp>
    </p:spTree>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rtlCol="0" anchor="ctr"/>
          <a:lstStyle/>
          <a:p>
            <a:pPr marL="0" indent="0" algn="l">
              <a:buNone/>
            </a:pPr>
            <a:r>
              <a:rPr lang="en-US" sz="2800" b="1" dirty="0">
                <a:solidFill>
                  <a:schemeClr val="tx2"/>
                </a:solidFill>
              </a:rPr>
              <a:t>M2：不足概念・根拠・確信度・内省質問をJSONで出力</a:t>
            </a:r>
            <a:endParaRPr lang="en-US" sz="2800" dirty="0"/>
          </a:p>
        </p:txBody>
      </p:sp>
      <p:sp>
        <p:nvSpPr>
          <p:cNvPr id="4" name="card-107"/>
          <p:cNvSpPr/>
          <p:nvPr/>
        </p:nvSpPr>
        <p:spPr>
          <a:xfrm>
            <a:off x="548640" y="1463040"/>
            <a:ext cx="5760720" cy="4572000"/>
          </a:xfrm>
          <a:prstGeom prst="roundRect">
            <a:avLst>
              <a:gd name="adj" fmla="val 1600"/>
            </a:avLst>
          </a:prstGeom>
          <a:solidFill>
            <a:schemeClr val="bg2"/>
          </a:solidFill>
          <a:ln w="12700">
            <a:solidFill>
              <a:srgbClr val="004352"/>
            </a:solidFill>
            <a:prstDash val="solid"/>
          </a:ln>
        </p:spPr>
        <p:txBody>
          <a:bodyPr/>
          <a:lstStyle/>
          <a:p>
            <a:endParaRPr lang="ja-JP" altLang="en-US"/>
          </a:p>
        </p:txBody>
      </p:sp>
      <p:sp>
        <p:nvSpPr>
          <p:cNvPr id="5" name="pill-108"/>
          <p:cNvSpPr/>
          <p:nvPr/>
        </p:nvSpPr>
        <p:spPr>
          <a:xfrm>
            <a:off x="822960" y="1691640"/>
            <a:ext cx="1188720" cy="310896"/>
          </a:xfrm>
          <a:prstGeom prst="roundRect">
            <a:avLst>
              <a:gd name="adj" fmla="val 41176"/>
            </a:avLst>
          </a:prstGeom>
          <a:solidFill>
            <a:schemeClr val="accent1"/>
          </a:solidFill>
          <a:ln/>
        </p:spPr>
        <p:txBody>
          <a:bodyPr wrap="square" lIns="0" tIns="0" rIns="0" bIns="0" rtlCol="0" anchor="ctr"/>
          <a:lstStyle/>
          <a:p>
            <a:pPr marL="0" indent="0" algn="ctr">
              <a:buNone/>
            </a:pPr>
            <a:r>
              <a:rPr lang="en-US" sz="1200" b="1" dirty="0">
                <a:solidFill>
                  <a:schemeClr val="bg1"/>
                </a:solidFill>
              </a:rPr>
              <a:t>完了</a:t>
            </a:r>
            <a:endParaRPr lang="en-US" sz="1200" dirty="0"/>
          </a:p>
        </p:txBody>
      </p:sp>
      <p:sp>
        <p:nvSpPr>
          <p:cNvPr id="6" name="text-109"/>
          <p:cNvSpPr txBox="1"/>
          <p:nvPr/>
        </p:nvSpPr>
        <p:spPr>
          <a:xfrm>
            <a:off x="2194560" y="1691640"/>
            <a:ext cx="3931920" cy="310896"/>
          </a:xfrm>
          <a:prstGeom prst="rect">
            <a:avLst/>
          </a:prstGeom>
          <a:noFill/>
          <a:ln/>
        </p:spPr>
        <p:txBody>
          <a:bodyPr wrap="square" lIns="0" tIns="0" rIns="0" bIns="0" rtlCol="0" anchor="ctr"/>
          <a:lstStyle/>
          <a:p>
            <a:pPr marL="0" indent="0">
              <a:buNone/>
            </a:pPr>
            <a:r>
              <a:rPr lang="en-US" sz="1400" b="1" dirty="0">
                <a:solidFill>
                  <a:schemeClr val="tx2"/>
                </a:solidFill>
              </a:rPr>
              <a:t>出力例（M3 ケース9の実出力・抜粋）</a:t>
            </a:r>
            <a:endParaRPr lang="en-US" sz="1400" dirty="0"/>
          </a:p>
        </p:txBody>
      </p:sp>
      <p:sp>
        <p:nvSpPr>
          <p:cNvPr id="7" name="badge-110"/>
          <p:cNvSpPr/>
          <p:nvPr/>
        </p:nvSpPr>
        <p:spPr>
          <a:xfrm>
            <a:off x="822960" y="2240280"/>
            <a:ext cx="420624" cy="420624"/>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(a)</a:t>
            </a:r>
            <a:endParaRPr lang="en-US" sz="1200" dirty="0"/>
          </a:p>
        </p:txBody>
      </p:sp>
      <p:sp>
        <p:nvSpPr>
          <p:cNvPr id="8" name="text-111"/>
          <p:cNvSpPr txBox="1"/>
          <p:nvPr/>
        </p:nvSpPr>
        <p:spPr>
          <a:xfrm>
            <a:off x="1371600" y="2240280"/>
            <a:ext cx="1463040" cy="420624"/>
          </a:xfrm>
          <a:prstGeom prst="rect">
            <a:avLst/>
          </a:prstGeom>
          <a:noFill/>
          <a:ln/>
        </p:spPr>
        <p:txBody>
          <a:bodyPr wrap="square" lIns="0" tIns="0" rIns="0" bIns="0" rtlCol="0" anchor="ctr"/>
          <a:lstStyle/>
          <a:p>
            <a:pPr marL="0" indent="0">
              <a:buNone/>
            </a:pPr>
            <a:r>
              <a:rPr lang="en-US" sz="1300" b="1" dirty="0">
                <a:solidFill>
                  <a:schemeClr val="tx2"/>
                </a:solidFill>
              </a:rPr>
              <a:t>不足概念候補</a:t>
            </a:r>
            <a:endParaRPr lang="en-US" sz="1300" dirty="0"/>
          </a:p>
        </p:txBody>
      </p:sp>
      <p:sp>
        <p:nvSpPr>
          <p:cNvPr id="9" name="text-112"/>
          <p:cNvSpPr txBox="1"/>
          <p:nvPr/>
        </p:nvSpPr>
        <p:spPr>
          <a:xfrm>
            <a:off x="2788920" y="2313432"/>
            <a:ext cx="3246120" cy="502920"/>
          </a:xfrm>
          <a:prstGeom prst="rect">
            <a:avLst/>
          </a:prstGeom>
          <a:noFill/>
          <a:ln/>
        </p:spPr>
        <p:txBody>
          <a:bodyPr wrap="square" lIns="0" tIns="0" rIns="0" bIns="0" rtlCol="0" anchor="t"/>
          <a:lstStyle/>
          <a:p>
            <a:pPr marL="0" indent="0">
              <a:buNone/>
            </a:pPr>
            <a:r>
              <a:rPr lang="en-US" sz="1300" dirty="0">
                <a:solidFill>
                  <a:schemeClr val="tx1"/>
                </a:solidFill>
              </a:rPr>
              <a:t>LA-DIAG-01　対角化の定義</a:t>
            </a:r>
            <a:endParaRPr lang="en-US" sz="1300" dirty="0"/>
          </a:p>
        </p:txBody>
      </p:sp>
      <p:sp>
        <p:nvSpPr>
          <p:cNvPr id="10" name="badge-113"/>
          <p:cNvSpPr/>
          <p:nvPr/>
        </p:nvSpPr>
        <p:spPr>
          <a:xfrm>
            <a:off x="822960" y="3017520"/>
            <a:ext cx="420624" cy="420624"/>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(b)</a:t>
            </a:r>
            <a:endParaRPr lang="en-US" sz="1200" dirty="0"/>
          </a:p>
        </p:txBody>
      </p:sp>
      <p:sp>
        <p:nvSpPr>
          <p:cNvPr id="11" name="text-114"/>
          <p:cNvSpPr txBox="1"/>
          <p:nvPr/>
        </p:nvSpPr>
        <p:spPr>
          <a:xfrm>
            <a:off x="1371600" y="3017520"/>
            <a:ext cx="1463040" cy="420624"/>
          </a:xfrm>
          <a:prstGeom prst="rect">
            <a:avLst/>
          </a:prstGeom>
          <a:noFill/>
          <a:ln/>
        </p:spPr>
        <p:txBody>
          <a:bodyPr wrap="square" lIns="0" tIns="0" rIns="0" bIns="0" rtlCol="0" anchor="ctr"/>
          <a:lstStyle/>
          <a:p>
            <a:pPr marL="0" indent="0">
              <a:buNone/>
            </a:pPr>
            <a:r>
              <a:rPr lang="en-US" sz="1300" b="1" dirty="0">
                <a:solidFill>
                  <a:schemeClr val="tx2"/>
                </a:solidFill>
              </a:rPr>
              <a:t>根拠</a:t>
            </a:r>
            <a:endParaRPr lang="en-US" sz="1300" dirty="0"/>
          </a:p>
        </p:txBody>
      </p:sp>
      <p:sp>
        <p:nvSpPr>
          <p:cNvPr id="12" name="text-115"/>
          <p:cNvSpPr txBox="1"/>
          <p:nvPr/>
        </p:nvSpPr>
        <p:spPr>
          <a:xfrm>
            <a:off x="2788920" y="3090672"/>
            <a:ext cx="3246120" cy="777240"/>
          </a:xfrm>
          <a:prstGeom prst="rect">
            <a:avLst/>
          </a:prstGeom>
          <a:noFill/>
          <a:ln/>
        </p:spPr>
        <p:txBody>
          <a:bodyPr wrap="square" lIns="0" tIns="0" rIns="0" bIns="0" rtlCol="0" anchor="t"/>
          <a:lstStyle/>
          <a:p>
            <a:pPr marL="0" indent="0">
              <a:buNone/>
            </a:pPr>
            <a:r>
              <a:rPr lang="en-US" sz="1300" dirty="0">
                <a:solidFill>
                  <a:schemeClr val="tx1"/>
                </a:solidFill>
              </a:rPr>
              <a:t>「P=A、D=単位行列として対角化できると考えた」「固有ベクトルは求めていない」</a:t>
            </a:r>
            <a:endParaRPr lang="en-US" sz="1300" dirty="0"/>
          </a:p>
        </p:txBody>
      </p:sp>
      <p:sp>
        <p:nvSpPr>
          <p:cNvPr id="13" name="badge-116"/>
          <p:cNvSpPr/>
          <p:nvPr/>
        </p:nvSpPr>
        <p:spPr>
          <a:xfrm>
            <a:off x="822960" y="4069080"/>
            <a:ext cx="420624" cy="420624"/>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(c)</a:t>
            </a:r>
            <a:endParaRPr lang="en-US" sz="1200" dirty="0"/>
          </a:p>
        </p:txBody>
      </p:sp>
      <p:sp>
        <p:nvSpPr>
          <p:cNvPr id="14" name="text-117"/>
          <p:cNvSpPr txBox="1"/>
          <p:nvPr/>
        </p:nvSpPr>
        <p:spPr>
          <a:xfrm>
            <a:off x="1371600" y="4069080"/>
            <a:ext cx="1463040" cy="420624"/>
          </a:xfrm>
          <a:prstGeom prst="rect">
            <a:avLst/>
          </a:prstGeom>
          <a:noFill/>
          <a:ln/>
        </p:spPr>
        <p:txBody>
          <a:bodyPr wrap="square" lIns="0" tIns="0" rIns="0" bIns="0" rtlCol="0" anchor="ctr"/>
          <a:lstStyle/>
          <a:p>
            <a:pPr marL="0" indent="0">
              <a:buNone/>
            </a:pPr>
            <a:r>
              <a:rPr lang="en-US" sz="1300" b="1" dirty="0">
                <a:solidFill>
                  <a:schemeClr val="tx2"/>
                </a:solidFill>
              </a:rPr>
              <a:t>確信度</a:t>
            </a:r>
            <a:endParaRPr lang="en-US" sz="1300" dirty="0"/>
          </a:p>
        </p:txBody>
      </p:sp>
      <p:sp>
        <p:nvSpPr>
          <p:cNvPr id="15" name="text-118"/>
          <p:cNvSpPr txBox="1"/>
          <p:nvPr/>
        </p:nvSpPr>
        <p:spPr>
          <a:xfrm>
            <a:off x="2788920" y="4142232"/>
            <a:ext cx="3246120" cy="502920"/>
          </a:xfrm>
          <a:prstGeom prst="rect">
            <a:avLst/>
          </a:prstGeom>
          <a:noFill/>
          <a:ln/>
        </p:spPr>
        <p:txBody>
          <a:bodyPr wrap="square" lIns="0" tIns="0" rIns="0" bIns="0" rtlCol="0" anchor="t"/>
          <a:lstStyle/>
          <a:p>
            <a:pPr marL="0" indent="0">
              <a:buNone/>
            </a:pPr>
            <a:r>
              <a:rPr lang="en-US" sz="1300" dirty="0">
                <a:solidFill>
                  <a:schemeClr val="tx1"/>
                </a:solidFill>
              </a:rPr>
              <a:t>high</a:t>
            </a:r>
            <a:endParaRPr lang="en-US" sz="1300" dirty="0"/>
          </a:p>
        </p:txBody>
      </p:sp>
      <p:sp>
        <p:nvSpPr>
          <p:cNvPr id="16" name="badge-119"/>
          <p:cNvSpPr/>
          <p:nvPr/>
        </p:nvSpPr>
        <p:spPr>
          <a:xfrm>
            <a:off x="822960" y="4846320"/>
            <a:ext cx="420624" cy="420624"/>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(d)</a:t>
            </a:r>
            <a:endParaRPr lang="en-US" sz="1200" dirty="0"/>
          </a:p>
        </p:txBody>
      </p:sp>
      <p:sp>
        <p:nvSpPr>
          <p:cNvPr id="17" name="text-120"/>
          <p:cNvSpPr txBox="1"/>
          <p:nvPr/>
        </p:nvSpPr>
        <p:spPr>
          <a:xfrm>
            <a:off x="1371600" y="4846320"/>
            <a:ext cx="1463040" cy="420624"/>
          </a:xfrm>
          <a:prstGeom prst="rect">
            <a:avLst/>
          </a:prstGeom>
          <a:noFill/>
          <a:ln/>
        </p:spPr>
        <p:txBody>
          <a:bodyPr wrap="square" lIns="0" tIns="0" rIns="0" bIns="0" rtlCol="0" anchor="ctr"/>
          <a:lstStyle/>
          <a:p>
            <a:pPr marL="0" indent="0">
              <a:buNone/>
            </a:pPr>
            <a:r>
              <a:rPr lang="en-US" sz="1300" b="1" dirty="0">
                <a:solidFill>
                  <a:schemeClr val="tx2"/>
                </a:solidFill>
              </a:rPr>
              <a:t>内省質問</a:t>
            </a:r>
            <a:endParaRPr lang="en-US" sz="1300" dirty="0"/>
          </a:p>
        </p:txBody>
      </p:sp>
      <p:sp>
        <p:nvSpPr>
          <p:cNvPr id="18" name="text-121"/>
          <p:cNvSpPr txBox="1"/>
          <p:nvPr/>
        </p:nvSpPr>
        <p:spPr>
          <a:xfrm>
            <a:off x="2788920" y="4919472"/>
            <a:ext cx="3246120" cy="1005840"/>
          </a:xfrm>
          <a:prstGeom prst="rect">
            <a:avLst/>
          </a:prstGeom>
          <a:noFill/>
          <a:ln/>
        </p:spPr>
        <p:txBody>
          <a:bodyPr wrap="square" lIns="0" tIns="0" rIns="0" bIns="0" rtlCol="0" anchor="t"/>
          <a:lstStyle/>
          <a:p>
            <a:pPr marL="0" indent="0">
              <a:buNone/>
            </a:pPr>
            <a:r>
              <a:rPr lang="en-US" sz="1300" dirty="0">
                <a:solidFill>
                  <a:schemeClr val="tx1"/>
                </a:solidFill>
              </a:rPr>
              <a:t>行列Pの各列ベクトルや対角行列Dの対角成分は、元の行列Aのどのような性質・要素に対応して作られるものでしょうか？</a:t>
            </a:r>
            <a:endParaRPr lang="en-US" sz="1300" dirty="0"/>
          </a:p>
        </p:txBody>
      </p:sp>
      <p:sp>
        <p:nvSpPr>
          <p:cNvPr id="19" name="text-122"/>
          <p:cNvSpPr txBox="1"/>
          <p:nvPr/>
        </p:nvSpPr>
        <p:spPr>
          <a:xfrm>
            <a:off x="6675120" y="1463040"/>
            <a:ext cx="4967935" cy="320040"/>
          </a:xfrm>
          <a:prstGeom prst="rect">
            <a:avLst/>
          </a:prstGeom>
          <a:noFill/>
          <a:ln/>
        </p:spPr>
        <p:txBody>
          <a:bodyPr wrap="square" lIns="0" tIns="0" rIns="0" bIns="0" rtlCol="0" anchor="t"/>
          <a:lstStyle/>
          <a:p>
            <a:pPr marL="0" indent="0">
              <a:buNone/>
            </a:pPr>
            <a:r>
              <a:rPr lang="en-US" sz="1600" b="1" dirty="0">
                <a:solidFill>
                  <a:schemeClr val="tx2"/>
                </a:solidFill>
              </a:rPr>
              <a:t>検証で見つかった問題と対応</a:t>
            </a:r>
            <a:endParaRPr lang="en-US" sz="1600" dirty="0"/>
          </a:p>
        </p:txBody>
      </p:sp>
      <p:sp>
        <p:nvSpPr>
          <p:cNvPr id="25" name="card-128"/>
          <p:cNvSpPr/>
          <p:nvPr/>
        </p:nvSpPr>
        <p:spPr>
          <a:xfrm>
            <a:off x="6675120" y="2002536"/>
            <a:ext cx="4967935" cy="1737360"/>
          </a:xfrm>
          <a:prstGeom prst="roundRect">
            <a:avLst>
              <a:gd name="adj" fmla="val 4211"/>
            </a:avLst>
          </a:prstGeom>
          <a:solidFill>
            <a:schemeClr val="bg1"/>
          </a:solidFill>
          <a:ln w="12700">
            <a:solidFill>
              <a:srgbClr val="004352"/>
            </a:solidFill>
            <a:prstDash val="solid"/>
          </a:ln>
        </p:spPr>
        <p:txBody>
          <a:bodyPr/>
          <a:lstStyle/>
          <a:p>
            <a:endParaRPr lang="ja-JP" altLang="en-US"/>
          </a:p>
        </p:txBody>
      </p:sp>
      <p:sp>
        <p:nvSpPr>
          <p:cNvPr id="26" name="text-129"/>
          <p:cNvSpPr txBox="1"/>
          <p:nvPr/>
        </p:nvSpPr>
        <p:spPr>
          <a:xfrm>
            <a:off x="6903720" y="2139696"/>
            <a:ext cx="4510735" cy="292608"/>
          </a:xfrm>
          <a:prstGeom prst="rect">
            <a:avLst/>
          </a:prstGeom>
          <a:noFill/>
          <a:ln/>
        </p:spPr>
        <p:txBody>
          <a:bodyPr wrap="square" lIns="0" tIns="0" rIns="0" bIns="0" rtlCol="0" anchor="t"/>
          <a:lstStyle/>
          <a:p>
            <a:pPr marL="0" indent="0">
              <a:buNone/>
            </a:pPr>
            <a:r>
              <a:rPr lang="en-US" sz="1500" b="1" dirty="0">
                <a:solidFill>
                  <a:schemeClr val="accent2"/>
                </a:solidFill>
              </a:rPr>
              <a:t>概念IDの重複</a:t>
            </a:r>
            <a:endParaRPr lang="en-US" sz="1500" dirty="0"/>
          </a:p>
        </p:txBody>
      </p:sp>
      <p:sp>
        <p:nvSpPr>
          <p:cNvPr id="27" name="text-130"/>
          <p:cNvSpPr txBox="1"/>
          <p:nvPr/>
        </p:nvSpPr>
        <p:spPr>
          <a:xfrm>
            <a:off x="6903720" y="2478024"/>
            <a:ext cx="4510735" cy="502920"/>
          </a:xfrm>
          <a:prstGeom prst="rect">
            <a:avLst/>
          </a:prstGeom>
          <a:noFill/>
          <a:ln/>
        </p:spPr>
        <p:txBody>
          <a:bodyPr wrap="square" lIns="0" tIns="0" rIns="0" bIns="0" rtlCol="0" anchor="t"/>
          <a:lstStyle/>
          <a:p>
            <a:pPr marL="0" indent="0">
              <a:buNone/>
            </a:pPr>
            <a:r>
              <a:rPr lang="en-US" sz="1200" dirty="0">
                <a:solidFill>
                  <a:schemeClr val="tx1"/>
                </a:solidFill>
              </a:rPr>
              <a:t>LA-EIG-02（固有方程式における非自明解の存在条件）がLA-DET-06（行列式と正則性の同値性）と重複</a:t>
            </a:r>
            <a:endParaRPr lang="en-US" sz="1200" dirty="0"/>
          </a:p>
        </p:txBody>
      </p:sp>
      <p:sp>
        <p:nvSpPr>
          <p:cNvPr id="28" name="arrow-131"/>
          <p:cNvSpPr/>
          <p:nvPr/>
        </p:nvSpPr>
        <p:spPr>
          <a:xfrm>
            <a:off x="6903720" y="3145536"/>
            <a:ext cx="256032" cy="256032"/>
          </a:xfrm>
          <a:prstGeom prst="rightArrow">
            <a:avLst/>
          </a:prstGeom>
          <a:solidFill>
            <a:schemeClr val="accent1"/>
          </a:solidFill>
          <a:ln/>
        </p:spPr>
        <p:txBody>
          <a:bodyPr/>
          <a:lstStyle/>
          <a:p>
            <a:endParaRPr lang="ja-JP" altLang="en-US"/>
          </a:p>
        </p:txBody>
      </p:sp>
      <p:sp>
        <p:nvSpPr>
          <p:cNvPr id="29" name="text-132"/>
          <p:cNvSpPr txBox="1"/>
          <p:nvPr/>
        </p:nvSpPr>
        <p:spPr>
          <a:xfrm>
            <a:off x="7269480" y="3072384"/>
            <a:ext cx="4144975" cy="548640"/>
          </a:xfrm>
          <a:prstGeom prst="rect">
            <a:avLst/>
          </a:prstGeom>
          <a:noFill/>
          <a:ln/>
        </p:spPr>
        <p:txBody>
          <a:bodyPr wrap="square" lIns="0" tIns="0" rIns="0" bIns="0" rtlCol="0" anchor="ctr"/>
          <a:lstStyle/>
          <a:p>
            <a:pPr marL="0" indent="0">
              <a:buNone/>
            </a:pPr>
            <a:r>
              <a:rPr lang="en-US" sz="1300" b="1" dirty="0">
                <a:solidFill>
                  <a:schemeClr val="accent1"/>
                </a:solidFill>
              </a:rPr>
              <a:t>LA-DET-06の定義を一般化して統合（53 → 52概念）</a:t>
            </a:r>
            <a:endParaRPr lang="en-US" sz="1300" dirty="0"/>
          </a:p>
        </p:txBody>
      </p:sp>
      <p:sp>
        <p:nvSpPr>
          <p:cNvPr id="30" name="text-133"/>
          <p:cNvSpPr txBox="1"/>
          <p:nvPr/>
        </p:nvSpPr>
        <p:spPr>
          <a:xfrm>
            <a:off x="6675119" y="3959352"/>
            <a:ext cx="4967935" cy="274320"/>
          </a:xfrm>
          <a:prstGeom prst="rect">
            <a:avLst/>
          </a:prstGeom>
          <a:noFill/>
          <a:ln/>
        </p:spPr>
        <p:txBody>
          <a:bodyPr wrap="square" lIns="0" tIns="0" rIns="0" bIns="0" rtlCol="0" anchor="t"/>
          <a:lstStyle/>
          <a:p>
            <a:pPr marL="0" indent="0">
              <a:buNone/>
            </a:pPr>
            <a:r>
              <a:rPr lang="en-US" sz="1200" b="1" dirty="0">
                <a:solidFill>
                  <a:schemeClr val="accent1"/>
                </a:solidFill>
              </a:rPr>
              <a:t>サンプル5件：JSONパース成功率100%・リスト外の値0件</a:t>
            </a:r>
            <a:endParaRPr lang="en-US" sz="1200" dirty="0"/>
          </a:p>
        </p:txBody>
      </p:sp>
      <p:sp>
        <p:nvSpPr>
          <p:cNvPr id="3"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11</a:t>
            </a:fld>
            <a:endParaRPr lang="en-US"/>
          </a:p>
        </p:txBody>
      </p:sp>
    </p:spTree>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rtlCol="0" anchor="ctr"/>
          <a:lstStyle/>
          <a:p>
            <a:pPr marL="0" indent="0" algn="l">
              <a:buNone/>
            </a:pPr>
            <a:r>
              <a:rPr lang="en-US" sz="2800" b="1" dirty="0">
                <a:solidFill>
                  <a:schemeClr val="tx2"/>
                </a:solidFill>
              </a:rPr>
              <a:t>M3：疑似データでAIの推定を検証</a:t>
            </a:r>
            <a:endParaRPr lang="en-US" sz="2800" dirty="0"/>
          </a:p>
        </p:txBody>
      </p:sp>
      <p:sp>
        <p:nvSpPr>
          <p:cNvPr id="4" name="card-134"/>
          <p:cNvSpPr/>
          <p:nvPr/>
        </p:nvSpPr>
        <p:spPr>
          <a:xfrm>
            <a:off x="548640" y="1463040"/>
            <a:ext cx="3566160" cy="4572000"/>
          </a:xfrm>
          <a:prstGeom prst="roundRect">
            <a:avLst>
              <a:gd name="adj" fmla="val 2051"/>
            </a:avLst>
          </a:prstGeom>
          <a:solidFill>
            <a:schemeClr val="bg2"/>
          </a:solidFill>
          <a:ln w="12700">
            <a:solidFill>
              <a:srgbClr val="004352"/>
            </a:solidFill>
            <a:prstDash val="solid"/>
          </a:ln>
        </p:spPr>
        <p:txBody>
          <a:bodyPr/>
          <a:lstStyle/>
          <a:p>
            <a:endParaRPr lang="ja-JP" altLang="en-US"/>
          </a:p>
        </p:txBody>
      </p:sp>
      <p:sp>
        <p:nvSpPr>
          <p:cNvPr id="5" name="pill-135"/>
          <p:cNvSpPr/>
          <p:nvPr/>
        </p:nvSpPr>
        <p:spPr>
          <a:xfrm>
            <a:off x="822960" y="1664208"/>
            <a:ext cx="1554480" cy="310896"/>
          </a:xfrm>
          <a:prstGeom prst="roundRect">
            <a:avLst>
              <a:gd name="adj" fmla="val 41176"/>
            </a:avLst>
          </a:prstGeom>
          <a:solidFill>
            <a:schemeClr val="accent1"/>
          </a:solidFill>
          <a:ln/>
        </p:spPr>
        <p:txBody>
          <a:bodyPr wrap="square" lIns="0" tIns="0" rIns="0" bIns="0" rtlCol="0" anchor="ctr"/>
          <a:lstStyle/>
          <a:p>
            <a:pPr marL="0" indent="0" algn="ctr">
              <a:buNone/>
            </a:pPr>
            <a:r>
              <a:rPr lang="en-US" sz="1200" b="1" dirty="0">
                <a:solidFill>
                  <a:schemeClr val="bg1"/>
                </a:solidFill>
              </a:rPr>
              <a:t>タスクの概要</a:t>
            </a:r>
            <a:endParaRPr lang="en-US" sz="1200" dirty="0"/>
          </a:p>
        </p:txBody>
      </p:sp>
      <p:sp>
        <p:nvSpPr>
          <p:cNvPr id="6" name="badge-136"/>
          <p:cNvSpPr/>
          <p:nvPr/>
        </p:nvSpPr>
        <p:spPr>
          <a:xfrm>
            <a:off x="822960" y="2194560"/>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7" name="text-137"/>
          <p:cNvSpPr txBox="1"/>
          <p:nvPr/>
        </p:nvSpPr>
        <p:spPr>
          <a:xfrm>
            <a:off x="1371600" y="2194560"/>
            <a:ext cx="2560320" cy="384048"/>
          </a:xfrm>
          <a:prstGeom prst="rect">
            <a:avLst/>
          </a:prstGeom>
          <a:noFill/>
          <a:ln/>
        </p:spPr>
        <p:txBody>
          <a:bodyPr wrap="square" lIns="0" tIns="0" rIns="0" bIns="0" rtlCol="0" anchor="ctr"/>
          <a:lstStyle/>
          <a:p>
            <a:pPr marL="0" indent="0">
              <a:buNone/>
            </a:pPr>
            <a:r>
              <a:rPr lang="en-US" sz="1500" b="1" dirty="0">
                <a:solidFill>
                  <a:schemeClr val="tx2"/>
                </a:solidFill>
              </a:rPr>
              <a:t>疑似データ10件を自作</a:t>
            </a:r>
            <a:endParaRPr lang="en-US" sz="1500" dirty="0"/>
          </a:p>
        </p:txBody>
      </p:sp>
      <p:sp>
        <p:nvSpPr>
          <p:cNvPr id="8" name="text-138"/>
          <p:cNvSpPr txBox="1"/>
          <p:nvPr/>
        </p:nvSpPr>
        <p:spPr>
          <a:xfrm>
            <a:off x="1371600" y="2578608"/>
            <a:ext cx="2560320" cy="411480"/>
          </a:xfrm>
          <a:prstGeom prst="rect">
            <a:avLst/>
          </a:prstGeom>
          <a:noFill/>
          <a:ln/>
        </p:spPr>
        <p:txBody>
          <a:bodyPr wrap="square" lIns="0" tIns="0" rIns="0" bIns="0" rtlCol="0" anchor="t"/>
          <a:lstStyle/>
          <a:p>
            <a:pPr marL="0" indent="0">
              <a:buNone/>
            </a:pPr>
            <a:r>
              <a:rPr lang="en-US" sz="1150" dirty="0">
                <a:solidFill>
                  <a:schemeClr val="tx1"/>
                </a:solidFill>
              </a:rPr>
              <a:t>不足している概念IDは</a:t>
            </a:r>
            <a:endParaRPr lang="en-US" sz="1150" dirty="0"/>
          </a:p>
          <a:p>
            <a:pPr marL="0" indent="0">
              <a:buNone/>
            </a:pPr>
            <a:r>
              <a:rPr lang="en-US" sz="1150" dirty="0">
                <a:solidFill>
                  <a:schemeClr val="tx1"/>
                </a:solidFill>
              </a:rPr>
              <a:t>先に自分で決めておく</a:t>
            </a:r>
            <a:endParaRPr lang="en-US" sz="1150" dirty="0"/>
          </a:p>
        </p:txBody>
      </p:sp>
      <p:sp>
        <p:nvSpPr>
          <p:cNvPr id="9" name="badge-139"/>
          <p:cNvSpPr/>
          <p:nvPr/>
        </p:nvSpPr>
        <p:spPr>
          <a:xfrm>
            <a:off x="822960" y="3063240"/>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0" name="text-140"/>
          <p:cNvSpPr txBox="1"/>
          <p:nvPr/>
        </p:nvSpPr>
        <p:spPr>
          <a:xfrm>
            <a:off x="1371600" y="3063240"/>
            <a:ext cx="2560320" cy="384048"/>
          </a:xfrm>
          <a:prstGeom prst="rect">
            <a:avLst/>
          </a:prstGeom>
          <a:noFill/>
          <a:ln/>
        </p:spPr>
        <p:txBody>
          <a:bodyPr wrap="square" lIns="0" tIns="0" rIns="0" bIns="0" rtlCol="0" anchor="ctr"/>
          <a:lstStyle/>
          <a:p>
            <a:pPr marL="0" indent="0">
              <a:buNone/>
            </a:pPr>
            <a:r>
              <a:rPr lang="en-US" sz="1500" b="1" dirty="0">
                <a:solidFill>
                  <a:schemeClr val="tx2"/>
                </a:solidFill>
              </a:rPr>
              <a:t>AIに推定させる</a:t>
            </a:r>
            <a:endParaRPr lang="en-US" sz="1500" dirty="0"/>
          </a:p>
        </p:txBody>
      </p:sp>
      <p:sp>
        <p:nvSpPr>
          <p:cNvPr id="11" name="text-141"/>
          <p:cNvSpPr txBox="1"/>
          <p:nvPr/>
        </p:nvSpPr>
        <p:spPr>
          <a:xfrm>
            <a:off x="1371600" y="3447288"/>
            <a:ext cx="2560320" cy="411480"/>
          </a:xfrm>
          <a:prstGeom prst="rect">
            <a:avLst/>
          </a:prstGeom>
          <a:noFill/>
          <a:ln/>
        </p:spPr>
        <p:txBody>
          <a:bodyPr wrap="square" lIns="0" tIns="0" rIns="0" bIns="0" rtlCol="0" anchor="t"/>
          <a:lstStyle/>
          <a:p>
            <a:pPr marL="0" indent="0">
              <a:buNone/>
            </a:pPr>
            <a:r>
              <a:rPr lang="en-US" sz="1150" dirty="0">
                <a:solidFill>
                  <a:schemeClr val="tx1"/>
                </a:solidFill>
              </a:rPr>
              <a:t>Gemini API（3.6 Flash）で</a:t>
            </a:r>
            <a:endParaRPr lang="en-US" sz="1150" dirty="0"/>
          </a:p>
          <a:p>
            <a:pPr marL="0" indent="0">
              <a:buNone/>
            </a:pPr>
            <a:r>
              <a:rPr lang="en-US" sz="1150" dirty="0">
                <a:solidFill>
                  <a:schemeClr val="tx1"/>
                </a:solidFill>
              </a:rPr>
              <a:t>自動実行</a:t>
            </a:r>
            <a:endParaRPr lang="en-US" sz="1150" dirty="0"/>
          </a:p>
        </p:txBody>
      </p:sp>
      <p:sp>
        <p:nvSpPr>
          <p:cNvPr id="12" name="badge-142"/>
          <p:cNvSpPr/>
          <p:nvPr/>
        </p:nvSpPr>
        <p:spPr>
          <a:xfrm>
            <a:off x="822960" y="3931920"/>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3" name="text-143"/>
          <p:cNvSpPr txBox="1"/>
          <p:nvPr/>
        </p:nvSpPr>
        <p:spPr>
          <a:xfrm>
            <a:off x="1371600" y="3931920"/>
            <a:ext cx="2560320" cy="384048"/>
          </a:xfrm>
          <a:prstGeom prst="rect">
            <a:avLst/>
          </a:prstGeom>
          <a:noFill/>
          <a:ln/>
        </p:spPr>
        <p:txBody>
          <a:bodyPr wrap="square" lIns="0" tIns="0" rIns="0" bIns="0" rtlCol="0" anchor="ctr"/>
          <a:lstStyle/>
          <a:p>
            <a:pPr marL="0" indent="0">
              <a:buNone/>
            </a:pPr>
            <a:r>
              <a:rPr lang="en-US" sz="1500" b="1" dirty="0">
                <a:solidFill>
                  <a:schemeClr val="tx2"/>
                </a:solidFill>
              </a:rPr>
              <a:t>概念IDを比較</a:t>
            </a:r>
            <a:endParaRPr lang="en-US" sz="1500" dirty="0"/>
          </a:p>
        </p:txBody>
      </p:sp>
      <p:sp>
        <p:nvSpPr>
          <p:cNvPr id="14" name="text-144"/>
          <p:cNvSpPr txBox="1"/>
          <p:nvPr/>
        </p:nvSpPr>
        <p:spPr>
          <a:xfrm>
            <a:off x="1371600" y="4315968"/>
            <a:ext cx="2560320" cy="411480"/>
          </a:xfrm>
          <a:prstGeom prst="rect">
            <a:avLst/>
          </a:prstGeom>
          <a:noFill/>
          <a:ln/>
        </p:spPr>
        <p:txBody>
          <a:bodyPr wrap="square" lIns="0" tIns="0" rIns="0" bIns="0" rtlCol="0" anchor="t"/>
          <a:lstStyle/>
          <a:p>
            <a:pPr marL="0" indent="0">
              <a:buNone/>
            </a:pPr>
            <a:r>
              <a:rPr lang="en-US" sz="1150" dirty="0">
                <a:solidFill>
                  <a:schemeClr val="tx1"/>
                </a:solidFill>
              </a:rPr>
              <a:t>AIの出力と、自己判定した</a:t>
            </a:r>
            <a:endParaRPr lang="en-US" sz="1150" dirty="0"/>
          </a:p>
          <a:p>
            <a:pPr marL="0" indent="0">
              <a:buNone/>
            </a:pPr>
            <a:r>
              <a:rPr lang="en-US" sz="1150" dirty="0">
                <a:solidFill>
                  <a:schemeClr val="tx1"/>
                </a:solidFill>
              </a:rPr>
              <a:t>概念IDが一致するかを確認</a:t>
            </a:r>
            <a:endParaRPr lang="en-US" sz="1150" dirty="0"/>
          </a:p>
        </p:txBody>
      </p:sp>
      <p:sp>
        <p:nvSpPr>
          <p:cNvPr id="15" name="rule-145"/>
          <p:cNvSpPr/>
          <p:nvPr/>
        </p:nvSpPr>
        <p:spPr>
          <a:xfrm>
            <a:off x="822960" y="4846320"/>
            <a:ext cx="3017520" cy="0"/>
          </a:xfrm>
          <a:prstGeom prst="line">
            <a:avLst/>
          </a:prstGeom>
          <a:noFill/>
          <a:ln w="12700">
            <a:solidFill>
              <a:srgbClr val="004352"/>
            </a:solidFill>
            <a:prstDash val="solid"/>
          </a:ln>
        </p:spPr>
        <p:txBody>
          <a:bodyPr/>
          <a:lstStyle/>
          <a:p>
            <a:endParaRPr lang="ja-JP" altLang="en-US"/>
          </a:p>
        </p:txBody>
      </p:sp>
      <p:sp>
        <p:nvSpPr>
          <p:cNvPr id="16" name="text-146"/>
          <p:cNvSpPr txBox="1"/>
          <p:nvPr/>
        </p:nvSpPr>
        <p:spPr>
          <a:xfrm>
            <a:off x="822960" y="4956048"/>
            <a:ext cx="3017520" cy="274320"/>
          </a:xfrm>
          <a:prstGeom prst="rect">
            <a:avLst/>
          </a:prstGeom>
          <a:noFill/>
          <a:ln/>
        </p:spPr>
        <p:txBody>
          <a:bodyPr wrap="square" lIns="0" tIns="0" rIns="0" bIns="0" rtlCol="0" anchor="t"/>
          <a:lstStyle/>
          <a:p>
            <a:pPr marL="0" indent="0">
              <a:buNone/>
            </a:pPr>
            <a:r>
              <a:rPr lang="en-US" sz="1300" b="1" dirty="0">
                <a:solidFill>
                  <a:schemeClr val="tx2"/>
                </a:solidFill>
              </a:rPr>
              <a:t>結果：達成基準を満たして完了</a:t>
            </a:r>
            <a:endParaRPr lang="en-US" sz="1300" dirty="0"/>
          </a:p>
        </p:txBody>
      </p:sp>
      <p:sp>
        <p:nvSpPr>
          <p:cNvPr id="17" name="text-147"/>
          <p:cNvSpPr txBox="1"/>
          <p:nvPr/>
        </p:nvSpPr>
        <p:spPr>
          <a:xfrm>
            <a:off x="822960" y="5285232"/>
            <a:ext cx="3017520" cy="548640"/>
          </a:xfrm>
          <a:prstGeom prst="rect">
            <a:avLst/>
          </a:prstGeom>
          <a:noFill/>
          <a:ln/>
        </p:spPr>
        <p:txBody>
          <a:bodyPr wrap="square" lIns="0" tIns="0" rIns="0" bIns="0" rtlCol="0" anchor="t"/>
          <a:lstStyle/>
          <a:p>
            <a:pPr marL="0" indent="0">
              <a:buNone/>
            </a:pPr>
            <a:r>
              <a:rPr lang="en-US" sz="1200" dirty="0">
                <a:solidFill>
                  <a:schemeClr val="tx1"/>
                </a:solidFill>
              </a:rPr>
              <a:t>一致率 100%（9/9件）</a:t>
            </a:r>
            <a:endParaRPr lang="en-US" sz="1200" dirty="0"/>
          </a:p>
          <a:p>
            <a:pPr marL="0" indent="0">
              <a:buNone/>
            </a:pPr>
            <a:r>
              <a:rPr lang="en-US" sz="1200" dirty="0">
                <a:solidFill>
                  <a:schemeClr val="tx1"/>
                </a:solidFill>
              </a:rPr>
              <a:t>根拠の妥当性 100%／形式エラー 0%</a:t>
            </a:r>
            <a:endParaRPr lang="en-US" sz="1200" dirty="0"/>
          </a:p>
        </p:txBody>
      </p:sp>
      <p:sp>
        <p:nvSpPr>
          <p:cNvPr id="18" name="pill-148"/>
          <p:cNvSpPr/>
          <p:nvPr/>
        </p:nvSpPr>
        <p:spPr>
          <a:xfrm>
            <a:off x="4389120" y="1463040"/>
            <a:ext cx="1554480" cy="310896"/>
          </a:xfrm>
          <a:prstGeom prst="roundRect">
            <a:avLst>
              <a:gd name="adj" fmla="val 41176"/>
            </a:avLst>
          </a:prstGeom>
          <a:solidFill>
            <a:schemeClr val="accent2"/>
          </a:solidFill>
          <a:ln/>
        </p:spPr>
        <p:txBody>
          <a:bodyPr wrap="square" lIns="0" tIns="0" rIns="0" bIns="0" rtlCol="0" anchor="ctr"/>
          <a:lstStyle/>
          <a:p>
            <a:pPr marL="0" indent="0" algn="ctr">
              <a:buNone/>
            </a:pPr>
            <a:r>
              <a:rPr lang="en-US" sz="1200" b="1" dirty="0">
                <a:solidFill>
                  <a:schemeClr val="bg1"/>
                </a:solidFill>
              </a:rPr>
              <a:t>詰まった部分</a:t>
            </a:r>
            <a:endParaRPr lang="en-US" sz="1200" dirty="0"/>
          </a:p>
        </p:txBody>
      </p:sp>
      <p:sp>
        <p:nvSpPr>
          <p:cNvPr id="19" name="pill-149"/>
          <p:cNvSpPr/>
          <p:nvPr/>
        </p:nvSpPr>
        <p:spPr>
          <a:xfrm>
            <a:off x="8304124" y="1463040"/>
            <a:ext cx="1554480" cy="310896"/>
          </a:xfrm>
          <a:prstGeom prst="roundRect">
            <a:avLst>
              <a:gd name="adj" fmla="val 41176"/>
            </a:avLst>
          </a:prstGeom>
          <a:solidFill>
            <a:schemeClr val="accent1"/>
          </a:solidFill>
          <a:ln/>
        </p:spPr>
        <p:txBody>
          <a:bodyPr wrap="square" lIns="0" tIns="0" rIns="0" bIns="0" rtlCol="0" anchor="ctr"/>
          <a:lstStyle/>
          <a:p>
            <a:pPr marL="0" indent="0" algn="ctr">
              <a:buNone/>
            </a:pPr>
            <a:r>
              <a:rPr lang="en-US" sz="1200" b="1" dirty="0">
                <a:solidFill>
                  <a:schemeClr val="bg1"/>
                </a:solidFill>
              </a:rPr>
              <a:t>解決策</a:t>
            </a:r>
            <a:endParaRPr lang="en-US" sz="1200" dirty="0"/>
          </a:p>
        </p:txBody>
      </p:sp>
      <p:sp>
        <p:nvSpPr>
          <p:cNvPr id="20" name="card-150"/>
          <p:cNvSpPr/>
          <p:nvPr/>
        </p:nvSpPr>
        <p:spPr>
          <a:xfrm>
            <a:off x="4389120" y="1920240"/>
            <a:ext cx="3338932" cy="2011680"/>
          </a:xfrm>
          <a:prstGeom prst="roundRect">
            <a:avLst>
              <a:gd name="adj" fmla="val 3636"/>
            </a:avLst>
          </a:prstGeom>
          <a:solidFill>
            <a:schemeClr val="accent4"/>
          </a:solidFill>
          <a:ln w="12700">
            <a:solidFill>
              <a:srgbClr val="000000"/>
            </a:solidFill>
            <a:prstDash val="solid"/>
          </a:ln>
        </p:spPr>
        <p:txBody>
          <a:bodyPr/>
          <a:lstStyle/>
          <a:p>
            <a:endParaRPr lang="ja-JP" altLang="en-US"/>
          </a:p>
        </p:txBody>
      </p:sp>
      <p:sp>
        <p:nvSpPr>
          <p:cNvPr id="21" name="text-151"/>
          <p:cNvSpPr txBox="1"/>
          <p:nvPr/>
        </p:nvSpPr>
        <p:spPr>
          <a:xfrm>
            <a:off x="4590288" y="2057400"/>
            <a:ext cx="2973172" cy="320040"/>
          </a:xfrm>
          <a:prstGeom prst="rect">
            <a:avLst/>
          </a:prstGeom>
          <a:noFill/>
          <a:ln/>
        </p:spPr>
        <p:txBody>
          <a:bodyPr wrap="square" lIns="0" tIns="0" rIns="0" bIns="0" rtlCol="0" anchor="t"/>
          <a:lstStyle/>
          <a:p>
            <a:pPr marL="0" indent="0">
              <a:buNone/>
            </a:pPr>
            <a:r>
              <a:rPr lang="en-US" sz="1500" b="1" dirty="0">
                <a:solidFill>
                  <a:schemeClr val="accent2"/>
                </a:solidFill>
              </a:rPr>
              <a:t>似た概念と取り違える（2件）</a:t>
            </a:r>
            <a:endParaRPr lang="en-US" sz="1500" dirty="0"/>
          </a:p>
        </p:txBody>
      </p:sp>
      <p:sp>
        <p:nvSpPr>
          <p:cNvPr id="22" name="text-152"/>
          <p:cNvSpPr txBox="1"/>
          <p:nvPr/>
        </p:nvSpPr>
        <p:spPr>
          <a:xfrm>
            <a:off x="4590288" y="2468880"/>
            <a:ext cx="2973172" cy="548640"/>
          </a:xfrm>
          <a:prstGeom prst="rect">
            <a:avLst/>
          </a:prstGeom>
          <a:noFill/>
          <a:ln/>
        </p:spPr>
        <p:txBody>
          <a:bodyPr wrap="square" lIns="0" tIns="0" rIns="0" bIns="0" rtlCol="0" anchor="t"/>
          <a:lstStyle/>
          <a:p>
            <a:pPr marL="0" indent="0">
              <a:buNone/>
            </a:pPr>
            <a:r>
              <a:rPr lang="en-US" sz="1200" dirty="0">
                <a:solidFill>
                  <a:schemeClr val="tx1"/>
                </a:solidFill>
              </a:rPr>
              <a:t>AIが余分な概念を挙げた／</a:t>
            </a:r>
            <a:endParaRPr lang="en-US" sz="1200" dirty="0"/>
          </a:p>
          <a:p>
            <a:pPr marL="0" indent="0">
              <a:buNone/>
            </a:pPr>
            <a:r>
              <a:rPr lang="en-US" sz="1200" dirty="0">
                <a:solidFill>
                  <a:schemeClr val="tx1"/>
                </a:solidFill>
              </a:rPr>
              <a:t>隣の概念を選んだ</a:t>
            </a:r>
            <a:endParaRPr lang="en-US" sz="1200" dirty="0"/>
          </a:p>
        </p:txBody>
      </p:sp>
      <p:sp>
        <p:nvSpPr>
          <p:cNvPr id="23" name="text-153"/>
          <p:cNvSpPr txBox="1"/>
          <p:nvPr/>
        </p:nvSpPr>
        <p:spPr>
          <a:xfrm>
            <a:off x="4590288" y="3154680"/>
            <a:ext cx="2973172" cy="548640"/>
          </a:xfrm>
          <a:prstGeom prst="rect">
            <a:avLst/>
          </a:prstGeom>
          <a:noFill/>
          <a:ln/>
        </p:spPr>
        <p:txBody>
          <a:bodyPr wrap="square" lIns="0" tIns="0" rIns="0" bIns="0" rtlCol="0" anchor="t"/>
          <a:lstStyle/>
          <a:p>
            <a:pPr marL="0" indent="0">
              <a:buNone/>
            </a:pPr>
            <a:r>
              <a:rPr lang="en-US" sz="1200" b="1" dirty="0">
                <a:solidFill>
                  <a:schemeClr val="accent2"/>
                </a:solidFill>
              </a:rPr>
              <a:t>原因：根拠パターンの文言が曖昧で、</a:t>
            </a:r>
            <a:endParaRPr lang="en-US" sz="1200" dirty="0"/>
          </a:p>
          <a:p>
            <a:pPr marL="0" indent="0">
              <a:buNone/>
            </a:pPr>
            <a:r>
              <a:rPr lang="en-US" sz="1200" b="1" dirty="0">
                <a:solidFill>
                  <a:schemeClr val="accent2"/>
                </a:solidFill>
              </a:rPr>
              <a:t>似た概念と区別できなかった</a:t>
            </a:r>
            <a:endParaRPr lang="en-US" sz="1200" dirty="0"/>
          </a:p>
        </p:txBody>
      </p:sp>
      <p:sp>
        <p:nvSpPr>
          <p:cNvPr id="24" name="arrow-154"/>
          <p:cNvSpPr/>
          <p:nvPr/>
        </p:nvSpPr>
        <p:spPr>
          <a:xfrm>
            <a:off x="7846924" y="2752344"/>
            <a:ext cx="338328" cy="347472"/>
          </a:xfrm>
          <a:prstGeom prst="rightArrow">
            <a:avLst/>
          </a:prstGeom>
          <a:solidFill>
            <a:schemeClr val="accent1"/>
          </a:solidFill>
          <a:ln/>
        </p:spPr>
        <p:txBody>
          <a:bodyPr/>
          <a:lstStyle/>
          <a:p>
            <a:endParaRPr lang="ja-JP" altLang="en-US"/>
          </a:p>
        </p:txBody>
      </p:sp>
      <p:sp>
        <p:nvSpPr>
          <p:cNvPr id="25" name="card-155"/>
          <p:cNvSpPr/>
          <p:nvPr/>
        </p:nvSpPr>
        <p:spPr>
          <a:xfrm>
            <a:off x="8304124" y="1920240"/>
            <a:ext cx="3338932" cy="2011680"/>
          </a:xfrm>
          <a:prstGeom prst="roundRect">
            <a:avLst>
              <a:gd name="adj" fmla="val 3636"/>
            </a:avLst>
          </a:prstGeom>
          <a:solidFill>
            <a:schemeClr val="bg2"/>
          </a:solidFill>
          <a:ln w="12700">
            <a:solidFill>
              <a:srgbClr val="004352"/>
            </a:solidFill>
            <a:prstDash val="solid"/>
          </a:ln>
        </p:spPr>
        <p:txBody>
          <a:bodyPr/>
          <a:lstStyle/>
          <a:p>
            <a:endParaRPr lang="ja-JP" altLang="en-US"/>
          </a:p>
        </p:txBody>
      </p:sp>
      <p:sp>
        <p:nvSpPr>
          <p:cNvPr id="26" name="text-156"/>
          <p:cNvSpPr txBox="1"/>
          <p:nvPr/>
        </p:nvSpPr>
        <p:spPr>
          <a:xfrm>
            <a:off x="8505292" y="2057400"/>
            <a:ext cx="2973172" cy="320040"/>
          </a:xfrm>
          <a:prstGeom prst="rect">
            <a:avLst/>
          </a:prstGeom>
          <a:noFill/>
          <a:ln/>
        </p:spPr>
        <p:txBody>
          <a:bodyPr wrap="square" lIns="0" tIns="0" rIns="0" bIns="0" rtlCol="0" anchor="t"/>
          <a:lstStyle/>
          <a:p>
            <a:pPr marL="0" indent="0">
              <a:buNone/>
            </a:pPr>
            <a:r>
              <a:rPr lang="en-US" sz="1500" b="1" dirty="0">
                <a:solidFill>
                  <a:schemeClr val="tx2"/>
                </a:solidFill>
              </a:rPr>
              <a:t>根拠パターンを具体化</a:t>
            </a:r>
            <a:endParaRPr lang="en-US" sz="1500" dirty="0"/>
          </a:p>
        </p:txBody>
      </p:sp>
      <p:sp>
        <p:nvSpPr>
          <p:cNvPr id="27" name="text-157"/>
          <p:cNvSpPr txBox="1"/>
          <p:nvPr/>
        </p:nvSpPr>
        <p:spPr>
          <a:xfrm>
            <a:off x="8505292" y="2468880"/>
            <a:ext cx="2973172" cy="960120"/>
          </a:xfrm>
          <a:prstGeom prst="rect">
            <a:avLst/>
          </a:prstGeom>
          <a:noFill/>
          <a:ln/>
        </p:spPr>
        <p:txBody>
          <a:bodyPr wrap="square" lIns="0" tIns="0" rIns="0" bIns="0" rtlCol="0" anchor="t"/>
          <a:lstStyle/>
          <a:p>
            <a:pPr marL="0" indent="0">
              <a:buNone/>
            </a:pPr>
            <a:r>
              <a:rPr lang="en-US" sz="1200" dirty="0">
                <a:solidFill>
                  <a:schemeClr val="tx1"/>
                </a:solidFill>
              </a:rPr>
              <a:t>例：対角化の定義</a:t>
            </a:r>
            <a:endParaRPr lang="en-US" sz="1200" dirty="0"/>
          </a:p>
          <a:p>
            <a:pPr marL="0" indent="0">
              <a:buNone/>
            </a:pPr>
            <a:r>
              <a:rPr lang="en-US" sz="1200" dirty="0">
                <a:solidFill>
                  <a:schemeClr val="tx1"/>
                </a:solidFill>
              </a:rPr>
              <a:t>「P, Dの役割を取り違える」</a:t>
            </a:r>
            <a:endParaRPr lang="en-US" sz="1200" dirty="0"/>
          </a:p>
          <a:p>
            <a:pPr marL="0" indent="0">
              <a:buNone/>
            </a:pPr>
            <a:r>
              <a:rPr lang="en-US" sz="1200" dirty="0">
                <a:solidFill>
                  <a:schemeClr val="tx1"/>
                </a:solidFill>
              </a:rPr>
              <a:t>→「無関係な行列を当てはめて</a:t>
            </a:r>
            <a:endParaRPr lang="en-US" sz="1200" dirty="0"/>
          </a:p>
          <a:p>
            <a:pPr marL="0" indent="0">
              <a:buNone/>
            </a:pPr>
            <a:r>
              <a:rPr lang="en-US" sz="1200" dirty="0">
                <a:solidFill>
                  <a:schemeClr val="tx1"/>
                </a:solidFill>
              </a:rPr>
              <a:t>　 対角化したと判断する」</a:t>
            </a:r>
            <a:endParaRPr lang="en-US" sz="1200" dirty="0"/>
          </a:p>
        </p:txBody>
      </p:sp>
      <p:sp>
        <p:nvSpPr>
          <p:cNvPr id="28" name="text-158"/>
          <p:cNvSpPr txBox="1"/>
          <p:nvPr/>
        </p:nvSpPr>
        <p:spPr>
          <a:xfrm>
            <a:off x="8505292" y="3520440"/>
            <a:ext cx="2973172" cy="274320"/>
          </a:xfrm>
          <a:prstGeom prst="rect">
            <a:avLst/>
          </a:prstGeom>
          <a:noFill/>
          <a:ln/>
        </p:spPr>
        <p:txBody>
          <a:bodyPr wrap="square" lIns="0" tIns="0" rIns="0" bIns="0" rtlCol="0" anchor="t"/>
          <a:lstStyle/>
          <a:p>
            <a:pPr marL="0" indent="0">
              <a:buNone/>
            </a:pPr>
            <a:r>
              <a:rPr lang="en-US" sz="1250" b="1" dirty="0">
                <a:solidFill>
                  <a:schemeClr val="tx2"/>
                </a:solidFill>
              </a:rPr>
              <a:t>再実行して2件とも一致</a:t>
            </a:r>
            <a:endParaRPr lang="en-US" sz="1250" dirty="0"/>
          </a:p>
        </p:txBody>
      </p:sp>
      <p:sp>
        <p:nvSpPr>
          <p:cNvPr id="29" name="card-159"/>
          <p:cNvSpPr/>
          <p:nvPr/>
        </p:nvSpPr>
        <p:spPr>
          <a:xfrm>
            <a:off x="4389120" y="4023360"/>
            <a:ext cx="3338932" cy="2011680"/>
          </a:xfrm>
          <a:prstGeom prst="roundRect">
            <a:avLst>
              <a:gd name="adj" fmla="val 3636"/>
            </a:avLst>
          </a:prstGeom>
          <a:solidFill>
            <a:schemeClr val="accent4"/>
          </a:solidFill>
          <a:ln w="12700">
            <a:solidFill>
              <a:srgbClr val="000000"/>
            </a:solidFill>
            <a:prstDash val="solid"/>
          </a:ln>
        </p:spPr>
        <p:txBody>
          <a:bodyPr/>
          <a:lstStyle/>
          <a:p>
            <a:endParaRPr lang="ja-JP" altLang="en-US"/>
          </a:p>
        </p:txBody>
      </p:sp>
      <p:sp>
        <p:nvSpPr>
          <p:cNvPr id="30" name="text-160"/>
          <p:cNvSpPr txBox="1"/>
          <p:nvPr/>
        </p:nvSpPr>
        <p:spPr>
          <a:xfrm>
            <a:off x="4590288" y="4160520"/>
            <a:ext cx="2973172" cy="320040"/>
          </a:xfrm>
          <a:prstGeom prst="rect">
            <a:avLst/>
          </a:prstGeom>
          <a:noFill/>
          <a:ln/>
        </p:spPr>
        <p:txBody>
          <a:bodyPr wrap="square" lIns="0" tIns="0" rIns="0" bIns="0" rtlCol="0" anchor="t"/>
          <a:lstStyle/>
          <a:p>
            <a:pPr marL="0" indent="0">
              <a:buNone/>
            </a:pPr>
            <a:r>
              <a:rPr lang="en-US" sz="1500" b="1" dirty="0">
                <a:solidFill>
                  <a:schemeClr val="accent2"/>
                </a:solidFill>
              </a:rPr>
              <a:t>確信度が下がらない（1件）</a:t>
            </a:r>
            <a:endParaRPr lang="en-US" sz="1500" dirty="0"/>
          </a:p>
        </p:txBody>
      </p:sp>
      <p:sp>
        <p:nvSpPr>
          <p:cNvPr id="31" name="text-161"/>
          <p:cNvSpPr txBox="1"/>
          <p:nvPr/>
        </p:nvSpPr>
        <p:spPr>
          <a:xfrm>
            <a:off x="4590288" y="4572000"/>
            <a:ext cx="2973172" cy="548640"/>
          </a:xfrm>
          <a:prstGeom prst="rect">
            <a:avLst/>
          </a:prstGeom>
          <a:noFill/>
          <a:ln/>
        </p:spPr>
        <p:txBody>
          <a:bodyPr wrap="square" lIns="0" tIns="0" rIns="0" bIns="0" rtlCol="0" anchor="t"/>
          <a:lstStyle/>
          <a:p>
            <a:pPr marL="0" indent="0">
              <a:buNone/>
            </a:pPr>
            <a:r>
              <a:rPr lang="en-US" sz="1200" dirty="0">
                <a:solidFill>
                  <a:schemeClr val="tx1"/>
                </a:solidFill>
              </a:rPr>
              <a:t>どちらの概念とも取れる曖昧な解答</a:t>
            </a:r>
            <a:endParaRPr lang="en-US" sz="1200" dirty="0"/>
          </a:p>
          <a:p>
            <a:pPr marL="0" indent="0">
              <a:buNone/>
            </a:pPr>
            <a:r>
              <a:rPr lang="en-US" sz="1200" dirty="0">
                <a:solidFill>
                  <a:schemeClr val="tx1"/>
                </a:solidFill>
              </a:rPr>
              <a:t>でも、AIは1つに絞り込んだ</a:t>
            </a:r>
            <a:endParaRPr lang="en-US" sz="1200" dirty="0"/>
          </a:p>
        </p:txBody>
      </p:sp>
      <p:sp>
        <p:nvSpPr>
          <p:cNvPr id="32" name="text-162"/>
          <p:cNvSpPr txBox="1"/>
          <p:nvPr/>
        </p:nvSpPr>
        <p:spPr>
          <a:xfrm>
            <a:off x="4590288" y="5257800"/>
            <a:ext cx="2973172" cy="548640"/>
          </a:xfrm>
          <a:prstGeom prst="rect">
            <a:avLst/>
          </a:prstGeom>
          <a:noFill/>
          <a:ln/>
        </p:spPr>
        <p:txBody>
          <a:bodyPr wrap="square" lIns="0" tIns="0" rIns="0" bIns="0" rtlCol="0" anchor="t"/>
          <a:lstStyle/>
          <a:p>
            <a:pPr marL="0" indent="0">
              <a:buNone/>
            </a:pPr>
            <a:r>
              <a:rPr lang="en-US" sz="1200" b="1" dirty="0">
                <a:solidFill>
                  <a:schemeClr val="accent2"/>
                </a:solidFill>
              </a:rPr>
              <a:t>原因：自己説明の言い回しに近い</a:t>
            </a:r>
            <a:endParaRPr lang="en-US" sz="1200" dirty="0"/>
          </a:p>
          <a:p>
            <a:pPr marL="0" indent="0">
              <a:buNone/>
            </a:pPr>
            <a:r>
              <a:rPr lang="en-US" sz="1200" b="1" dirty="0">
                <a:solidFill>
                  <a:schemeClr val="accent2"/>
                </a:solidFill>
              </a:rPr>
              <a:t>概念へ偏る</a:t>
            </a:r>
            <a:endParaRPr lang="en-US" sz="1200" dirty="0"/>
          </a:p>
        </p:txBody>
      </p:sp>
      <p:sp>
        <p:nvSpPr>
          <p:cNvPr id="33" name="arrow-163"/>
          <p:cNvSpPr/>
          <p:nvPr/>
        </p:nvSpPr>
        <p:spPr>
          <a:xfrm>
            <a:off x="7846924" y="4855464"/>
            <a:ext cx="338328" cy="347472"/>
          </a:xfrm>
          <a:prstGeom prst="rightArrow">
            <a:avLst/>
          </a:prstGeom>
          <a:solidFill>
            <a:schemeClr val="accent1"/>
          </a:solidFill>
          <a:ln/>
        </p:spPr>
        <p:txBody>
          <a:bodyPr/>
          <a:lstStyle/>
          <a:p>
            <a:endParaRPr lang="ja-JP" altLang="en-US"/>
          </a:p>
        </p:txBody>
      </p:sp>
      <p:sp>
        <p:nvSpPr>
          <p:cNvPr id="34" name="card-164"/>
          <p:cNvSpPr/>
          <p:nvPr/>
        </p:nvSpPr>
        <p:spPr>
          <a:xfrm>
            <a:off x="8304124" y="4023360"/>
            <a:ext cx="3338932" cy="2011680"/>
          </a:xfrm>
          <a:prstGeom prst="roundRect">
            <a:avLst>
              <a:gd name="adj" fmla="val 3636"/>
            </a:avLst>
          </a:prstGeom>
          <a:solidFill>
            <a:schemeClr val="bg2"/>
          </a:solidFill>
          <a:ln w="12700">
            <a:solidFill>
              <a:srgbClr val="004352"/>
            </a:solidFill>
            <a:prstDash val="solid"/>
          </a:ln>
        </p:spPr>
        <p:txBody>
          <a:bodyPr/>
          <a:lstStyle/>
          <a:p>
            <a:endParaRPr lang="ja-JP" altLang="en-US"/>
          </a:p>
        </p:txBody>
      </p:sp>
      <p:sp>
        <p:nvSpPr>
          <p:cNvPr id="35" name="text-165"/>
          <p:cNvSpPr txBox="1"/>
          <p:nvPr/>
        </p:nvSpPr>
        <p:spPr>
          <a:xfrm>
            <a:off x="8505292" y="4160520"/>
            <a:ext cx="2973172" cy="320040"/>
          </a:xfrm>
          <a:prstGeom prst="rect">
            <a:avLst/>
          </a:prstGeom>
          <a:noFill/>
          <a:ln/>
        </p:spPr>
        <p:txBody>
          <a:bodyPr wrap="square" lIns="0" tIns="0" rIns="0" bIns="0" rtlCol="0" anchor="t"/>
          <a:lstStyle/>
          <a:p>
            <a:pPr marL="0" indent="0">
              <a:buNone/>
            </a:pPr>
            <a:r>
              <a:rPr lang="en-US" sz="1500" b="1" dirty="0">
                <a:solidFill>
                  <a:schemeClr val="tx2"/>
                </a:solidFill>
              </a:rPr>
              <a:t>未解決のため保留</a:t>
            </a:r>
            <a:endParaRPr lang="en-US" sz="1500" dirty="0"/>
          </a:p>
        </p:txBody>
      </p:sp>
      <p:sp>
        <p:nvSpPr>
          <p:cNvPr id="36" name="text-166"/>
          <p:cNvSpPr txBox="1"/>
          <p:nvPr/>
        </p:nvSpPr>
        <p:spPr>
          <a:xfrm>
            <a:off x="8505292" y="4572000"/>
            <a:ext cx="2973172" cy="960120"/>
          </a:xfrm>
          <a:prstGeom prst="rect">
            <a:avLst/>
          </a:prstGeom>
          <a:noFill/>
          <a:ln/>
        </p:spPr>
        <p:txBody>
          <a:bodyPr wrap="square" lIns="0" tIns="0" rIns="0" bIns="0" rtlCol="0" anchor="t"/>
          <a:lstStyle/>
          <a:p>
            <a:pPr marL="0" indent="0">
              <a:buNone/>
            </a:pPr>
            <a:r>
              <a:rPr lang="en-US" sz="1200" dirty="0">
                <a:solidFill>
                  <a:schemeClr val="tx1"/>
                </a:solidFill>
              </a:rPr>
              <a:t>根拠パターンの改訂後も改善せず</a:t>
            </a:r>
            <a:endParaRPr lang="en-US" sz="1200" dirty="0"/>
          </a:p>
          <a:p>
            <a:pPr marL="0" indent="0">
              <a:buNone/>
            </a:pPr>
            <a:r>
              <a:rPr lang="en-US" sz="1200" dirty="0">
                <a:solidFill>
                  <a:schemeClr val="tx1"/>
                </a:solidFill>
              </a:rPr>
              <a:t>ケース設計の問題として</a:t>
            </a:r>
            <a:endParaRPr lang="en-US" sz="1200" dirty="0"/>
          </a:p>
          <a:p>
            <a:pPr marL="0" indent="0">
              <a:buNone/>
            </a:pPr>
            <a:r>
              <a:rPr lang="en-US" sz="1200" dirty="0">
                <a:solidFill>
                  <a:schemeClr val="tx1"/>
                </a:solidFill>
              </a:rPr>
              <a:t>一致率の集計から除外</a:t>
            </a:r>
            <a:endParaRPr lang="en-US" sz="1200" dirty="0"/>
          </a:p>
        </p:txBody>
      </p:sp>
      <p:sp>
        <p:nvSpPr>
          <p:cNvPr id="37" name="text-167"/>
          <p:cNvSpPr txBox="1"/>
          <p:nvPr/>
        </p:nvSpPr>
        <p:spPr>
          <a:xfrm>
            <a:off x="8505292" y="5623560"/>
            <a:ext cx="2973172" cy="274320"/>
          </a:xfrm>
          <a:prstGeom prst="rect">
            <a:avLst/>
          </a:prstGeom>
          <a:noFill/>
          <a:ln/>
        </p:spPr>
        <p:txBody>
          <a:bodyPr wrap="square" lIns="0" tIns="0" rIns="0" bIns="0" rtlCol="0" anchor="t"/>
          <a:lstStyle/>
          <a:p>
            <a:pPr marL="0" indent="0">
              <a:buNone/>
            </a:pPr>
            <a:r>
              <a:rPr lang="en-US" sz="1250" b="1" dirty="0">
                <a:solidFill>
                  <a:schemeClr val="tx2"/>
                </a:solidFill>
              </a:rPr>
              <a:t>現在の課題として継続</a:t>
            </a:r>
            <a:endParaRPr lang="en-US" sz="1250" dirty="0"/>
          </a:p>
        </p:txBody>
      </p:sp>
      <p:sp>
        <p:nvSpPr>
          <p:cNvPr id="3"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12</a:t>
            </a:fld>
            <a:endParaRPr lang="en-US"/>
          </a:p>
        </p:txBody>
      </p:sp>
    </p:spTree>
    <p:extLst>
      <p:ext uri="{BB962C8B-B14F-4D97-AF65-F5344CB8AC3E}">
        <p14:creationId xmlns:p14="http://schemas.microsoft.com/office/powerpoint/2010/main" val="2706771251"/>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rtlCol="0" anchor="ctr"/>
          <a:lstStyle/>
          <a:p>
            <a:pPr marL="0" indent="0" algn="l">
              <a:buNone/>
            </a:pPr>
            <a:r>
              <a:rPr lang="en-US" sz="2800" b="1" dirty="0">
                <a:solidFill>
                  <a:schemeClr val="tx2"/>
                </a:solidFill>
              </a:rPr>
              <a:t>現在の課題</a:t>
            </a:r>
            <a:endParaRPr lang="en-US" sz="2800" dirty="0"/>
          </a:p>
        </p:txBody>
      </p:sp>
      <p:sp>
        <p:nvSpPr>
          <p:cNvPr id="4" name="card-184"/>
          <p:cNvSpPr/>
          <p:nvPr/>
        </p:nvSpPr>
        <p:spPr>
          <a:xfrm>
            <a:off x="548640" y="1463040"/>
            <a:ext cx="11094415" cy="1417320"/>
          </a:xfrm>
          <a:prstGeom prst="roundRect">
            <a:avLst>
              <a:gd name="adj" fmla="val 5161"/>
            </a:avLst>
          </a:prstGeom>
          <a:solidFill>
            <a:schemeClr val="bg2"/>
          </a:solidFill>
          <a:ln w="12700">
            <a:solidFill>
              <a:srgbClr val="004352"/>
            </a:solidFill>
            <a:prstDash val="solid"/>
          </a:ln>
        </p:spPr>
        <p:txBody>
          <a:bodyPr/>
          <a:lstStyle/>
          <a:p>
            <a:endParaRPr lang="ja-JP" altLang="en-US"/>
          </a:p>
        </p:txBody>
      </p:sp>
      <p:sp>
        <p:nvSpPr>
          <p:cNvPr id="5" name="badge-185"/>
          <p:cNvSpPr/>
          <p:nvPr/>
        </p:nvSpPr>
        <p:spPr>
          <a:xfrm>
            <a:off x="868680" y="1828800"/>
            <a:ext cx="685800" cy="685800"/>
          </a:xfrm>
          <a:prstGeom prst="ellipse">
            <a:avLst/>
          </a:prstGeom>
          <a:solidFill>
            <a:schemeClr val="accent2"/>
          </a:solid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6" name="text-186"/>
          <p:cNvSpPr txBox="1"/>
          <p:nvPr/>
        </p:nvSpPr>
        <p:spPr>
          <a:xfrm>
            <a:off x="1874520" y="1627632"/>
            <a:ext cx="9448495" cy="365760"/>
          </a:xfrm>
          <a:prstGeom prst="rect">
            <a:avLst/>
          </a:prstGeom>
          <a:noFill/>
          <a:ln/>
        </p:spPr>
        <p:txBody>
          <a:bodyPr wrap="square" lIns="0" tIns="0" rIns="0" bIns="0" rtlCol="0" anchor="ctr"/>
          <a:lstStyle/>
          <a:p>
            <a:pPr marL="0" indent="0">
              <a:buNone/>
            </a:pPr>
            <a:r>
              <a:rPr lang="en-US" sz="1900" b="1" dirty="0">
                <a:solidFill>
                  <a:schemeClr val="tx2"/>
                </a:solidFill>
              </a:rPr>
              <a:t>根拠パターンの曖昧さで、概念の切り分けが効かなくなる</a:t>
            </a:r>
            <a:endParaRPr lang="en-US" sz="1900" dirty="0"/>
          </a:p>
        </p:txBody>
      </p:sp>
      <p:sp>
        <p:nvSpPr>
          <p:cNvPr id="7" name="text-187"/>
          <p:cNvSpPr txBox="1"/>
          <p:nvPr/>
        </p:nvSpPr>
        <p:spPr>
          <a:xfrm>
            <a:off x="1874520" y="2066544"/>
            <a:ext cx="9448495" cy="320040"/>
          </a:xfrm>
          <a:prstGeom prst="rect">
            <a:avLst/>
          </a:prstGeom>
          <a:noFill/>
          <a:ln/>
        </p:spPr>
        <p:txBody>
          <a:bodyPr wrap="square" lIns="0" tIns="0" rIns="0" bIns="0" rtlCol="0" anchor="ctr"/>
          <a:lstStyle/>
          <a:p>
            <a:pPr marL="0" indent="0">
              <a:buNone/>
            </a:pPr>
            <a:r>
              <a:rPr lang="en-US" sz="1350" dirty="0">
                <a:solidFill>
                  <a:schemeClr val="tx1"/>
                </a:solidFill>
              </a:rPr>
              <a:t>M2（LA-EIG-02とLA-DET-06の重複）、M3（LA-DET-06の混入、LA-DIAG-01と02の混同）で繰り返し発生。</a:t>
            </a:r>
            <a:endParaRPr lang="en-US" sz="1350" dirty="0"/>
          </a:p>
        </p:txBody>
      </p:sp>
      <p:sp>
        <p:nvSpPr>
          <p:cNvPr id="8" name="text-188"/>
          <p:cNvSpPr txBox="1"/>
          <p:nvPr/>
        </p:nvSpPr>
        <p:spPr>
          <a:xfrm>
            <a:off x="1874520" y="2404872"/>
            <a:ext cx="9448495" cy="320040"/>
          </a:xfrm>
          <a:prstGeom prst="rect">
            <a:avLst/>
          </a:prstGeom>
          <a:noFill/>
          <a:ln/>
        </p:spPr>
        <p:txBody>
          <a:bodyPr wrap="square" lIns="0" tIns="0" rIns="0" bIns="0" rtlCol="0" anchor="ctr"/>
          <a:lstStyle/>
          <a:p>
            <a:pPr marL="0" indent="0">
              <a:buNone/>
            </a:pPr>
            <a:r>
              <a:rPr lang="en-US" sz="1350" b="1" dirty="0">
                <a:solidFill>
                  <a:schemeClr val="accent2"/>
                </a:solidFill>
              </a:rPr>
              <a:t>残りの概念にも同様の曖昧さが潜んでいる可能性があり、継続的な見直しが必要</a:t>
            </a:r>
            <a:endParaRPr lang="en-US" sz="1350" dirty="0"/>
          </a:p>
        </p:txBody>
      </p:sp>
      <p:sp>
        <p:nvSpPr>
          <p:cNvPr id="9" name="card-189"/>
          <p:cNvSpPr/>
          <p:nvPr/>
        </p:nvSpPr>
        <p:spPr>
          <a:xfrm>
            <a:off x="548640" y="3063240"/>
            <a:ext cx="11094415" cy="1417320"/>
          </a:xfrm>
          <a:prstGeom prst="roundRect">
            <a:avLst>
              <a:gd name="adj" fmla="val 5161"/>
            </a:avLst>
          </a:prstGeom>
          <a:solidFill>
            <a:schemeClr val="bg2"/>
          </a:solidFill>
          <a:ln w="12700">
            <a:solidFill>
              <a:srgbClr val="004352"/>
            </a:solidFill>
            <a:prstDash val="solid"/>
          </a:ln>
        </p:spPr>
        <p:txBody>
          <a:bodyPr/>
          <a:lstStyle/>
          <a:p>
            <a:endParaRPr lang="ja-JP" altLang="en-US"/>
          </a:p>
        </p:txBody>
      </p:sp>
      <p:sp>
        <p:nvSpPr>
          <p:cNvPr id="10" name="badge-190"/>
          <p:cNvSpPr/>
          <p:nvPr/>
        </p:nvSpPr>
        <p:spPr>
          <a:xfrm>
            <a:off x="868680" y="3429000"/>
            <a:ext cx="685800" cy="685800"/>
          </a:xfrm>
          <a:prstGeom prst="ellipse">
            <a:avLst/>
          </a:prstGeom>
          <a:solidFill>
            <a:schemeClr val="accent2"/>
          </a:solid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1" name="text-191"/>
          <p:cNvSpPr txBox="1"/>
          <p:nvPr/>
        </p:nvSpPr>
        <p:spPr>
          <a:xfrm>
            <a:off x="1874520" y="3227832"/>
            <a:ext cx="9448495" cy="365760"/>
          </a:xfrm>
          <a:prstGeom prst="rect">
            <a:avLst/>
          </a:prstGeom>
          <a:noFill/>
          <a:ln/>
        </p:spPr>
        <p:txBody>
          <a:bodyPr wrap="square" lIns="0" tIns="0" rIns="0" bIns="0" rtlCol="0" anchor="ctr"/>
          <a:lstStyle/>
          <a:p>
            <a:pPr marL="0" indent="0">
              <a:buNone/>
            </a:pPr>
            <a:r>
              <a:rPr lang="en-US" sz="1900" b="1" dirty="0">
                <a:solidFill>
                  <a:schemeClr val="tx2"/>
                </a:solidFill>
              </a:rPr>
              <a:t>曖昧な解答でも確信度が下がらない</a:t>
            </a:r>
            <a:endParaRPr lang="en-US" sz="1900" dirty="0"/>
          </a:p>
        </p:txBody>
      </p:sp>
      <p:sp>
        <p:nvSpPr>
          <p:cNvPr id="12" name="text-192"/>
          <p:cNvSpPr txBox="1"/>
          <p:nvPr/>
        </p:nvSpPr>
        <p:spPr>
          <a:xfrm>
            <a:off x="1874520" y="3666744"/>
            <a:ext cx="9448495" cy="320040"/>
          </a:xfrm>
          <a:prstGeom prst="rect">
            <a:avLst/>
          </a:prstGeom>
          <a:noFill/>
          <a:ln/>
        </p:spPr>
        <p:txBody>
          <a:bodyPr wrap="square" lIns="0" tIns="0" rIns="0" bIns="0" rtlCol="0" anchor="ctr"/>
          <a:lstStyle/>
          <a:p>
            <a:pPr marL="0" indent="0">
              <a:buNone/>
            </a:pPr>
            <a:r>
              <a:rPr lang="en-US" sz="1350" dirty="0">
                <a:solidFill>
                  <a:schemeClr val="tx1"/>
                </a:solidFill>
              </a:rPr>
              <a:t>確信度 low を狙ったケース5は、改訂後も high のまま1概念に絞られ、保留となった。</a:t>
            </a:r>
            <a:endParaRPr lang="en-US" sz="1350" dirty="0"/>
          </a:p>
        </p:txBody>
      </p:sp>
      <p:sp>
        <p:nvSpPr>
          <p:cNvPr id="13" name="text-193"/>
          <p:cNvSpPr txBox="1"/>
          <p:nvPr/>
        </p:nvSpPr>
        <p:spPr>
          <a:xfrm>
            <a:off x="1874520" y="4005072"/>
            <a:ext cx="9448495" cy="320040"/>
          </a:xfrm>
          <a:prstGeom prst="rect">
            <a:avLst/>
          </a:prstGeom>
          <a:noFill/>
          <a:ln/>
        </p:spPr>
        <p:txBody>
          <a:bodyPr wrap="square" lIns="0" tIns="0" rIns="0" bIns="0" rtlCol="0" anchor="ctr"/>
          <a:lstStyle/>
          <a:p>
            <a:pPr marL="0" indent="0">
              <a:buNone/>
            </a:pPr>
            <a:r>
              <a:rPr lang="en-US" sz="1350" b="1" dirty="0">
                <a:solidFill>
                  <a:schemeClr val="accent2"/>
                </a:solidFill>
              </a:rPr>
              <a:t>AIは自己説明の言い回しに近い概念へ偏る傾向（2例）。確信度 low の挙動は未検証</a:t>
            </a:r>
            <a:endParaRPr lang="en-US" sz="1350" dirty="0"/>
          </a:p>
        </p:txBody>
      </p:sp>
      <p:sp>
        <p:nvSpPr>
          <p:cNvPr id="14" name="card-194"/>
          <p:cNvSpPr/>
          <p:nvPr/>
        </p:nvSpPr>
        <p:spPr>
          <a:xfrm>
            <a:off x="548640" y="4663440"/>
            <a:ext cx="11094415" cy="1417320"/>
          </a:xfrm>
          <a:prstGeom prst="roundRect">
            <a:avLst>
              <a:gd name="adj" fmla="val 5161"/>
            </a:avLst>
          </a:prstGeom>
          <a:solidFill>
            <a:schemeClr val="bg2"/>
          </a:solidFill>
          <a:ln w="12700">
            <a:solidFill>
              <a:srgbClr val="004352"/>
            </a:solidFill>
            <a:prstDash val="solid"/>
          </a:ln>
        </p:spPr>
        <p:txBody>
          <a:bodyPr/>
          <a:lstStyle/>
          <a:p>
            <a:endParaRPr lang="ja-JP" altLang="en-US"/>
          </a:p>
        </p:txBody>
      </p:sp>
      <p:sp>
        <p:nvSpPr>
          <p:cNvPr id="15" name="badge-195"/>
          <p:cNvSpPr/>
          <p:nvPr/>
        </p:nvSpPr>
        <p:spPr>
          <a:xfrm>
            <a:off x="868680" y="5029200"/>
            <a:ext cx="685800" cy="685800"/>
          </a:xfrm>
          <a:prstGeom prst="ellipse">
            <a:avLst/>
          </a:prstGeom>
          <a:solidFill>
            <a:schemeClr val="accent2"/>
          </a:solid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16" name="text-196"/>
          <p:cNvSpPr txBox="1"/>
          <p:nvPr/>
        </p:nvSpPr>
        <p:spPr>
          <a:xfrm>
            <a:off x="1874520" y="4828032"/>
            <a:ext cx="9448495" cy="365760"/>
          </a:xfrm>
          <a:prstGeom prst="rect">
            <a:avLst/>
          </a:prstGeom>
          <a:noFill/>
          <a:ln/>
        </p:spPr>
        <p:txBody>
          <a:bodyPr wrap="square" lIns="0" tIns="0" rIns="0" bIns="0" rtlCol="0" anchor="ctr"/>
          <a:lstStyle/>
          <a:p>
            <a:pPr marL="0" indent="0">
              <a:buNone/>
            </a:pPr>
            <a:r>
              <a:rPr lang="en-US" sz="1900" b="1" dirty="0">
                <a:solidFill>
                  <a:schemeClr val="tx2"/>
                </a:solidFill>
              </a:rPr>
              <a:t>検証が自作の疑似データ10件にとどまる</a:t>
            </a:r>
            <a:endParaRPr lang="en-US" sz="1900" dirty="0"/>
          </a:p>
        </p:txBody>
      </p:sp>
      <p:sp>
        <p:nvSpPr>
          <p:cNvPr id="17" name="text-197"/>
          <p:cNvSpPr txBox="1"/>
          <p:nvPr/>
        </p:nvSpPr>
        <p:spPr>
          <a:xfrm>
            <a:off x="1874520" y="5266944"/>
            <a:ext cx="9448495" cy="320040"/>
          </a:xfrm>
          <a:prstGeom prst="rect">
            <a:avLst/>
          </a:prstGeom>
          <a:noFill/>
          <a:ln/>
        </p:spPr>
        <p:txBody>
          <a:bodyPr wrap="square" lIns="0" tIns="0" rIns="0" bIns="0" rtlCol="0" anchor="ctr"/>
          <a:lstStyle/>
          <a:p>
            <a:pPr marL="0" indent="0">
              <a:buNone/>
            </a:pPr>
            <a:r>
              <a:rPr lang="en-US" sz="1350" dirty="0">
                <a:solidFill>
                  <a:schemeClr val="tx1"/>
                </a:solidFill>
              </a:rPr>
              <a:t>想定ラベルは筆者単独の判定で、概念IDの改訂に伴いラベル自体も変わった（ケース9）。</a:t>
            </a:r>
            <a:endParaRPr lang="en-US" sz="1350" dirty="0"/>
          </a:p>
        </p:txBody>
      </p:sp>
      <p:sp>
        <p:nvSpPr>
          <p:cNvPr id="18" name="text-198"/>
          <p:cNvSpPr txBox="1"/>
          <p:nvPr/>
        </p:nvSpPr>
        <p:spPr>
          <a:xfrm>
            <a:off x="1874520" y="5605272"/>
            <a:ext cx="9448495" cy="320040"/>
          </a:xfrm>
          <a:prstGeom prst="rect">
            <a:avLst/>
          </a:prstGeom>
          <a:noFill/>
          <a:ln/>
        </p:spPr>
        <p:txBody>
          <a:bodyPr wrap="square" lIns="0" tIns="0" rIns="0" bIns="0" rtlCol="0" anchor="ctr"/>
          <a:lstStyle/>
          <a:p>
            <a:pPr marL="0" indent="0">
              <a:buNone/>
            </a:pPr>
            <a:r>
              <a:rPr lang="en-US" sz="1350" b="1" dirty="0">
                <a:solidFill>
                  <a:schemeClr val="accent2"/>
                </a:solidFill>
              </a:rPr>
              <a:t>実際の学習者の解答過程では未検証</a:t>
            </a:r>
            <a:endParaRPr lang="en-US" sz="135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13</a:t>
            </a:fld>
            <a:endParaRPr lang="en-US"/>
          </a:p>
        </p:txBody>
      </p:sp>
    </p:spTree>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rtlCol="0" anchor="ctr"/>
          <a:lstStyle/>
          <a:p>
            <a:pPr marL="0" indent="0" algn="l">
              <a:buNone/>
            </a:pPr>
            <a:r>
              <a:rPr lang="en-US" sz="2800" b="1" dirty="0">
                <a:solidFill>
                  <a:schemeClr val="tx2"/>
                </a:solidFill>
              </a:rPr>
              <a:t>M4：概念マップの完成イメージ</a:t>
            </a:r>
            <a:endParaRPr lang="en-US" sz="2800" dirty="0"/>
          </a:p>
        </p:txBody>
      </p:sp>
      <p:sp>
        <p:nvSpPr>
          <p:cNvPr id="4" name="card-199"/>
          <p:cNvSpPr/>
          <p:nvPr/>
        </p:nvSpPr>
        <p:spPr>
          <a:xfrm>
            <a:off x="548640" y="1492068"/>
            <a:ext cx="7086600" cy="4572000"/>
          </a:xfrm>
          <a:prstGeom prst="roundRect">
            <a:avLst>
              <a:gd name="adj" fmla="val 1600"/>
            </a:avLst>
          </a:prstGeom>
          <a:solidFill>
            <a:schemeClr val="bg1"/>
          </a:solidFill>
          <a:ln w="12700">
            <a:solidFill>
              <a:srgbClr val="004352"/>
            </a:solidFill>
            <a:prstDash val="solid"/>
          </a:ln>
        </p:spPr>
        <p:txBody>
          <a:bodyPr/>
          <a:lstStyle/>
          <a:p>
            <a:endParaRPr lang="ja-JP" altLang="en-US"/>
          </a:p>
        </p:txBody>
      </p:sp>
      <p:sp>
        <p:nvSpPr>
          <p:cNvPr id="5" name="pill-200"/>
          <p:cNvSpPr/>
          <p:nvPr/>
        </p:nvSpPr>
        <p:spPr>
          <a:xfrm>
            <a:off x="777240" y="1645920"/>
            <a:ext cx="2651760" cy="274320"/>
          </a:xfrm>
          <a:prstGeom prst="roundRect">
            <a:avLst>
              <a:gd name="adj" fmla="val 46667"/>
            </a:avLst>
          </a:prstGeom>
          <a:solidFill>
            <a:schemeClr val="accent5"/>
          </a:solidFill>
          <a:ln/>
        </p:spPr>
        <p:txBody>
          <a:bodyPr wrap="square" lIns="0" tIns="0" rIns="0" bIns="0" rtlCol="0" anchor="ctr"/>
          <a:lstStyle/>
          <a:p>
            <a:pPr marL="0" indent="0" algn="ctr">
              <a:buNone/>
            </a:pPr>
            <a:r>
              <a:rPr lang="en-US" sz="1100" b="1" dirty="0">
                <a:solidFill>
                  <a:schemeClr val="bg1"/>
                </a:solidFill>
              </a:rPr>
              <a:t>イメージ（M4で実装予定）</a:t>
            </a:r>
            <a:endParaRPr lang="en-US" sz="1100" dirty="0"/>
          </a:p>
        </p:txBody>
      </p:sp>
      <p:sp>
        <p:nvSpPr>
          <p:cNvPr id="6" name="node-201"/>
          <p:cNvSpPr/>
          <p:nvPr/>
        </p:nvSpPr>
        <p:spPr>
          <a:xfrm>
            <a:off x="777240" y="2331720"/>
            <a:ext cx="1463040" cy="868680"/>
          </a:xfrm>
          <a:prstGeom prst="roundRect">
            <a:avLst>
              <a:gd name="adj" fmla="val 8421"/>
            </a:avLst>
          </a:prstGeom>
          <a:solidFill>
            <a:schemeClr val="accent1"/>
          </a:solidFill>
          <a:ln/>
        </p:spPr>
        <p:txBody>
          <a:bodyPr wrap="square" lIns="635" tIns="635" rIns="635" bIns="635" rtlCol="0" anchor="ctr"/>
          <a:lstStyle/>
          <a:p>
            <a:pPr marL="0" indent="0" algn="ctr">
              <a:buNone/>
            </a:pPr>
            <a:r>
              <a:rPr lang="en-US" sz="1100" b="1" dirty="0">
                <a:solidFill>
                  <a:schemeClr val="bg1"/>
                </a:solidFill>
              </a:rPr>
              <a:t>LA-EIG-04</a:t>
            </a:r>
            <a:endParaRPr lang="en-US" sz="1100" dirty="0"/>
          </a:p>
          <a:p>
            <a:pPr marL="0" indent="0" algn="ctr">
              <a:buNone/>
            </a:pPr>
            <a:r>
              <a:rPr lang="en-US" sz="1000" dirty="0">
                <a:solidFill>
                  <a:schemeClr val="bg1"/>
                </a:solidFill>
              </a:rPr>
              <a:t>固有空間</a:t>
            </a:r>
            <a:endParaRPr lang="en-US" sz="1100" dirty="0"/>
          </a:p>
        </p:txBody>
      </p:sp>
      <p:sp>
        <p:nvSpPr>
          <p:cNvPr id="7" name="node-202"/>
          <p:cNvSpPr/>
          <p:nvPr/>
        </p:nvSpPr>
        <p:spPr>
          <a:xfrm>
            <a:off x="777240" y="3977640"/>
            <a:ext cx="1463040" cy="868680"/>
          </a:xfrm>
          <a:prstGeom prst="roundRect">
            <a:avLst>
              <a:gd name="adj" fmla="val 8421"/>
            </a:avLst>
          </a:prstGeom>
          <a:solidFill>
            <a:schemeClr val="accent1"/>
          </a:solidFill>
          <a:ln/>
        </p:spPr>
        <p:txBody>
          <a:bodyPr wrap="square" lIns="635" tIns="635" rIns="635" bIns="635" rtlCol="0" anchor="ctr"/>
          <a:lstStyle/>
          <a:p>
            <a:pPr marL="0" indent="0" algn="ctr">
              <a:buNone/>
            </a:pPr>
            <a:r>
              <a:rPr lang="en-US" sz="1100" b="1" dirty="0">
                <a:solidFill>
                  <a:schemeClr val="bg1"/>
                </a:solidFill>
              </a:rPr>
              <a:t>LA-INV-01</a:t>
            </a:r>
            <a:endParaRPr lang="en-US" sz="1100" dirty="0"/>
          </a:p>
          <a:p>
            <a:pPr marL="0" indent="0" algn="ctr">
              <a:buNone/>
            </a:pPr>
            <a:r>
              <a:rPr lang="en-US" sz="1000" dirty="0">
                <a:solidFill>
                  <a:schemeClr val="bg1"/>
                </a:solidFill>
              </a:rPr>
              <a:t>逆行列の定義</a:t>
            </a:r>
            <a:endParaRPr lang="en-US" sz="1100" dirty="0"/>
          </a:p>
        </p:txBody>
      </p:sp>
      <p:sp>
        <p:nvSpPr>
          <p:cNvPr id="8" name="node-203"/>
          <p:cNvSpPr/>
          <p:nvPr/>
        </p:nvSpPr>
        <p:spPr>
          <a:xfrm>
            <a:off x="2499055" y="3154680"/>
            <a:ext cx="1463040" cy="868680"/>
          </a:xfrm>
          <a:prstGeom prst="roundRect">
            <a:avLst>
              <a:gd name="adj" fmla="val 8421"/>
            </a:avLst>
          </a:prstGeom>
          <a:solidFill>
            <a:schemeClr val="accent2"/>
          </a:solidFill>
          <a:ln/>
        </p:spPr>
        <p:txBody>
          <a:bodyPr wrap="square" lIns="635" tIns="635" rIns="635" bIns="635" rtlCol="0" anchor="ctr"/>
          <a:lstStyle/>
          <a:p>
            <a:pPr marL="0" indent="0" algn="ctr">
              <a:buNone/>
            </a:pPr>
            <a:r>
              <a:rPr lang="en-US" sz="1100" b="1" dirty="0">
                <a:solidFill>
                  <a:schemeClr val="bg1"/>
                </a:solidFill>
              </a:rPr>
              <a:t>LA-DIAG-01</a:t>
            </a:r>
            <a:endParaRPr lang="en-US" sz="1100" dirty="0"/>
          </a:p>
          <a:p>
            <a:pPr marL="0" indent="0" algn="ctr">
              <a:buNone/>
            </a:pPr>
            <a:r>
              <a:rPr lang="en-US" sz="1000" dirty="0">
                <a:solidFill>
                  <a:schemeClr val="bg1"/>
                </a:solidFill>
              </a:rPr>
              <a:t>対角化の定義</a:t>
            </a:r>
            <a:endParaRPr lang="en-US" sz="1100" dirty="0"/>
          </a:p>
        </p:txBody>
      </p:sp>
      <p:sp>
        <p:nvSpPr>
          <p:cNvPr id="9" name="node-204"/>
          <p:cNvSpPr/>
          <p:nvPr/>
        </p:nvSpPr>
        <p:spPr>
          <a:xfrm>
            <a:off x="4220870" y="3154680"/>
            <a:ext cx="1463040" cy="868680"/>
          </a:xfrm>
          <a:prstGeom prst="roundRect">
            <a:avLst>
              <a:gd name="adj" fmla="val 8421"/>
            </a:avLst>
          </a:prstGeom>
          <a:solidFill>
            <a:schemeClr val="bg1"/>
          </a:solidFill>
          <a:ln w="12700">
            <a:solidFill>
              <a:srgbClr val="004352"/>
            </a:solidFill>
          </a:ln>
        </p:spPr>
        <p:txBody>
          <a:bodyPr wrap="square" lIns="635" tIns="635" rIns="635" bIns="635" rtlCol="0" anchor="ctr"/>
          <a:lstStyle/>
          <a:p>
            <a:pPr marL="0" indent="0" algn="ctr">
              <a:buNone/>
            </a:pPr>
            <a:r>
              <a:rPr lang="en-US" sz="1100" b="1" dirty="0">
                <a:solidFill>
                  <a:schemeClr val="tx1"/>
                </a:solidFill>
              </a:rPr>
              <a:t>LA-DIAG-02</a:t>
            </a:r>
            <a:endParaRPr lang="en-US" sz="1100" dirty="0"/>
          </a:p>
          <a:p>
            <a:pPr marL="0" indent="0" algn="ctr">
              <a:buNone/>
            </a:pPr>
            <a:r>
              <a:rPr lang="en-US" sz="1000" dirty="0">
                <a:solidFill>
                  <a:schemeClr val="tx1"/>
                </a:solidFill>
              </a:rPr>
              <a:t>固有ベクトルによる</a:t>
            </a:r>
            <a:endParaRPr lang="en-US" sz="1100" dirty="0"/>
          </a:p>
          <a:p>
            <a:pPr marL="0" indent="0" algn="ctr">
              <a:buNone/>
            </a:pPr>
            <a:r>
              <a:rPr lang="en-US" sz="1000" dirty="0">
                <a:solidFill>
                  <a:schemeClr val="tx1"/>
                </a:solidFill>
              </a:rPr>
              <a:t>対角化の手順</a:t>
            </a:r>
            <a:endParaRPr lang="en-US" sz="1100" dirty="0"/>
          </a:p>
        </p:txBody>
      </p:sp>
      <p:sp>
        <p:nvSpPr>
          <p:cNvPr id="10" name="node-205"/>
          <p:cNvSpPr/>
          <p:nvPr/>
        </p:nvSpPr>
        <p:spPr>
          <a:xfrm>
            <a:off x="5942686" y="2331720"/>
            <a:ext cx="1463040" cy="868680"/>
          </a:xfrm>
          <a:prstGeom prst="roundRect">
            <a:avLst>
              <a:gd name="adj" fmla="val 8421"/>
            </a:avLst>
          </a:prstGeom>
          <a:solidFill>
            <a:schemeClr val="bg1"/>
          </a:solidFill>
          <a:ln w="12700">
            <a:solidFill>
              <a:srgbClr val="004352"/>
            </a:solidFill>
          </a:ln>
        </p:spPr>
        <p:txBody>
          <a:bodyPr wrap="square" lIns="635" tIns="635" rIns="635" bIns="635" rtlCol="0" anchor="ctr"/>
          <a:lstStyle/>
          <a:p>
            <a:pPr marL="0" indent="0" algn="ctr">
              <a:buNone/>
            </a:pPr>
            <a:r>
              <a:rPr lang="en-US" sz="1100" b="1" dirty="0">
                <a:solidFill>
                  <a:schemeClr val="tx1"/>
                </a:solidFill>
              </a:rPr>
              <a:t>LA-DIAG-03</a:t>
            </a:r>
            <a:endParaRPr lang="en-US" sz="1100" dirty="0"/>
          </a:p>
          <a:p>
            <a:pPr marL="0" indent="0" algn="ctr">
              <a:buNone/>
            </a:pPr>
            <a:r>
              <a:rPr lang="en-US" sz="1000" dirty="0">
                <a:solidFill>
                  <a:schemeClr val="tx1"/>
                </a:solidFill>
              </a:rPr>
              <a:t>対角化可能性の</a:t>
            </a:r>
            <a:endParaRPr lang="en-US" sz="1100" dirty="0"/>
          </a:p>
          <a:p>
            <a:pPr marL="0" indent="0" algn="ctr">
              <a:buNone/>
            </a:pPr>
            <a:r>
              <a:rPr lang="en-US" sz="1000" dirty="0">
                <a:solidFill>
                  <a:schemeClr val="tx1"/>
                </a:solidFill>
              </a:rPr>
              <a:t>判定条件</a:t>
            </a:r>
            <a:endParaRPr lang="en-US" sz="1100" dirty="0"/>
          </a:p>
        </p:txBody>
      </p:sp>
      <p:sp>
        <p:nvSpPr>
          <p:cNvPr id="11" name="node-206"/>
          <p:cNvSpPr/>
          <p:nvPr/>
        </p:nvSpPr>
        <p:spPr>
          <a:xfrm>
            <a:off x="5942686" y="3977640"/>
            <a:ext cx="1463040" cy="868680"/>
          </a:xfrm>
          <a:prstGeom prst="roundRect">
            <a:avLst>
              <a:gd name="adj" fmla="val 8421"/>
            </a:avLst>
          </a:prstGeom>
          <a:solidFill>
            <a:schemeClr val="bg1"/>
          </a:solidFill>
          <a:ln w="12700">
            <a:solidFill>
              <a:srgbClr val="004352"/>
            </a:solidFill>
          </a:ln>
        </p:spPr>
        <p:txBody>
          <a:bodyPr wrap="square" lIns="635" tIns="635" rIns="635" bIns="635" rtlCol="0" anchor="ctr"/>
          <a:lstStyle/>
          <a:p>
            <a:pPr marL="0" indent="0" algn="ctr">
              <a:buNone/>
            </a:pPr>
            <a:r>
              <a:rPr lang="en-US" sz="1100" b="1" dirty="0">
                <a:solidFill>
                  <a:schemeClr val="tx1"/>
                </a:solidFill>
              </a:rPr>
              <a:t>LA-DIAG-04</a:t>
            </a:r>
            <a:endParaRPr lang="en-US" sz="1100" dirty="0"/>
          </a:p>
          <a:p>
            <a:pPr marL="0" indent="0" algn="ctr">
              <a:buNone/>
            </a:pPr>
            <a:r>
              <a:rPr lang="en-US" sz="1000" dirty="0">
                <a:solidFill>
                  <a:schemeClr val="tx1"/>
                </a:solidFill>
              </a:rPr>
              <a:t>対角化の応用</a:t>
            </a:r>
            <a:endParaRPr lang="en-US" sz="1100" dirty="0"/>
          </a:p>
          <a:p>
            <a:pPr marL="0" indent="0" algn="ctr">
              <a:buNone/>
            </a:pPr>
            <a:r>
              <a:rPr lang="en-US" sz="1000" dirty="0">
                <a:solidFill>
                  <a:schemeClr val="tx1"/>
                </a:solidFill>
              </a:rPr>
              <a:t>（A^nの計算等）</a:t>
            </a:r>
            <a:endParaRPr lang="en-US" sz="1100" dirty="0"/>
          </a:p>
        </p:txBody>
      </p:sp>
      <p:sp>
        <p:nvSpPr>
          <p:cNvPr id="12" name="edge-207"/>
          <p:cNvSpPr/>
          <p:nvPr/>
        </p:nvSpPr>
        <p:spPr>
          <a:xfrm>
            <a:off x="2240280" y="2766060"/>
            <a:ext cx="258775" cy="640080"/>
          </a:xfrm>
          <a:prstGeom prst="line">
            <a:avLst/>
          </a:prstGeom>
          <a:noFill/>
          <a:ln w="19050">
            <a:solidFill>
              <a:srgbClr val="000000"/>
            </a:solidFill>
            <a:prstDash val="solid"/>
            <a:tailEnd type="triangle"/>
          </a:ln>
        </p:spPr>
        <p:txBody>
          <a:bodyPr/>
          <a:lstStyle/>
          <a:p>
            <a:endParaRPr lang="ja-JP" altLang="en-US"/>
          </a:p>
        </p:txBody>
      </p:sp>
      <p:sp>
        <p:nvSpPr>
          <p:cNvPr id="13" name="edge-208"/>
          <p:cNvSpPr/>
          <p:nvPr/>
        </p:nvSpPr>
        <p:spPr>
          <a:xfrm flipV="1">
            <a:off x="2240280" y="3771900"/>
            <a:ext cx="258775" cy="640080"/>
          </a:xfrm>
          <a:prstGeom prst="line">
            <a:avLst/>
          </a:prstGeom>
          <a:noFill/>
          <a:ln w="19050">
            <a:solidFill>
              <a:srgbClr val="000000"/>
            </a:solidFill>
            <a:prstDash val="solid"/>
            <a:tailEnd type="triangle"/>
          </a:ln>
        </p:spPr>
        <p:txBody>
          <a:bodyPr/>
          <a:lstStyle/>
          <a:p>
            <a:endParaRPr lang="ja-JP" altLang="en-US"/>
          </a:p>
        </p:txBody>
      </p:sp>
      <p:sp>
        <p:nvSpPr>
          <p:cNvPr id="14" name="edge-209"/>
          <p:cNvSpPr/>
          <p:nvPr/>
        </p:nvSpPr>
        <p:spPr>
          <a:xfrm>
            <a:off x="3962095" y="3589020"/>
            <a:ext cx="258775" cy="0"/>
          </a:xfrm>
          <a:prstGeom prst="line">
            <a:avLst/>
          </a:prstGeom>
          <a:noFill/>
          <a:ln w="19050">
            <a:solidFill>
              <a:srgbClr val="000000"/>
            </a:solidFill>
            <a:prstDash val="solid"/>
            <a:tailEnd type="triangle"/>
          </a:ln>
        </p:spPr>
        <p:txBody>
          <a:bodyPr/>
          <a:lstStyle/>
          <a:p>
            <a:endParaRPr lang="ja-JP" altLang="en-US"/>
          </a:p>
        </p:txBody>
      </p:sp>
      <p:sp>
        <p:nvSpPr>
          <p:cNvPr id="15" name="edge-210"/>
          <p:cNvSpPr/>
          <p:nvPr/>
        </p:nvSpPr>
        <p:spPr>
          <a:xfrm flipV="1">
            <a:off x="5683910" y="2766060"/>
            <a:ext cx="258775" cy="640080"/>
          </a:xfrm>
          <a:prstGeom prst="line">
            <a:avLst/>
          </a:prstGeom>
          <a:noFill/>
          <a:ln w="19050">
            <a:solidFill>
              <a:srgbClr val="000000"/>
            </a:solidFill>
            <a:prstDash val="solid"/>
            <a:tailEnd type="triangle"/>
          </a:ln>
        </p:spPr>
        <p:txBody>
          <a:bodyPr/>
          <a:lstStyle/>
          <a:p>
            <a:endParaRPr lang="ja-JP" altLang="en-US"/>
          </a:p>
        </p:txBody>
      </p:sp>
      <p:sp>
        <p:nvSpPr>
          <p:cNvPr id="16" name="edge-211"/>
          <p:cNvSpPr/>
          <p:nvPr/>
        </p:nvSpPr>
        <p:spPr>
          <a:xfrm>
            <a:off x="5683910" y="3771900"/>
            <a:ext cx="258775" cy="640080"/>
          </a:xfrm>
          <a:prstGeom prst="line">
            <a:avLst/>
          </a:prstGeom>
          <a:noFill/>
          <a:ln w="19050">
            <a:solidFill>
              <a:srgbClr val="000000"/>
            </a:solidFill>
            <a:prstDash val="solid"/>
            <a:tailEnd type="triangle"/>
          </a:ln>
        </p:spPr>
        <p:txBody>
          <a:bodyPr/>
          <a:lstStyle/>
          <a:p>
            <a:endParaRPr lang="ja-JP" altLang="en-US"/>
          </a:p>
        </p:txBody>
      </p:sp>
      <p:sp>
        <p:nvSpPr>
          <p:cNvPr id="17" name="legend-212"/>
          <p:cNvSpPr/>
          <p:nvPr/>
        </p:nvSpPr>
        <p:spPr>
          <a:xfrm>
            <a:off x="777240" y="5394960"/>
            <a:ext cx="274320" cy="219456"/>
          </a:xfrm>
          <a:prstGeom prst="roundRect">
            <a:avLst>
              <a:gd name="adj" fmla="val 16667"/>
            </a:avLst>
          </a:prstGeom>
          <a:solidFill>
            <a:schemeClr val="accent1"/>
          </a:solidFill>
          <a:ln/>
        </p:spPr>
        <p:txBody>
          <a:bodyPr/>
          <a:lstStyle/>
          <a:p>
            <a:endParaRPr lang="ja-JP" altLang="en-US"/>
          </a:p>
        </p:txBody>
      </p:sp>
      <p:sp>
        <p:nvSpPr>
          <p:cNvPr id="18" name="text-213"/>
          <p:cNvSpPr txBox="1"/>
          <p:nvPr/>
        </p:nvSpPr>
        <p:spPr>
          <a:xfrm>
            <a:off x="1124712" y="5349240"/>
            <a:ext cx="2011680" cy="310896"/>
          </a:xfrm>
          <a:prstGeom prst="rect">
            <a:avLst/>
          </a:prstGeom>
          <a:noFill/>
          <a:ln/>
        </p:spPr>
        <p:txBody>
          <a:bodyPr wrap="square" lIns="0" tIns="0" rIns="0" bIns="0" rtlCol="0" anchor="ctr"/>
          <a:lstStyle/>
          <a:p>
            <a:pPr marL="0" indent="0">
              <a:buNone/>
            </a:pPr>
            <a:r>
              <a:rPr lang="en-US" sz="1100" dirty="0">
                <a:solidFill>
                  <a:schemeClr val="accent5"/>
                </a:solidFill>
              </a:rPr>
              <a:t>前提となる概念</a:t>
            </a:r>
            <a:endParaRPr lang="en-US" sz="1100" dirty="0"/>
          </a:p>
        </p:txBody>
      </p:sp>
      <p:sp>
        <p:nvSpPr>
          <p:cNvPr id="19" name="legend-214"/>
          <p:cNvSpPr/>
          <p:nvPr/>
        </p:nvSpPr>
        <p:spPr>
          <a:xfrm>
            <a:off x="3017520" y="5394960"/>
            <a:ext cx="274320" cy="219456"/>
          </a:xfrm>
          <a:prstGeom prst="roundRect">
            <a:avLst>
              <a:gd name="adj" fmla="val 16667"/>
            </a:avLst>
          </a:prstGeom>
          <a:solidFill>
            <a:schemeClr val="accent2"/>
          </a:solidFill>
          <a:ln/>
        </p:spPr>
        <p:txBody>
          <a:bodyPr/>
          <a:lstStyle/>
          <a:p>
            <a:endParaRPr lang="ja-JP" altLang="en-US"/>
          </a:p>
        </p:txBody>
      </p:sp>
      <p:sp>
        <p:nvSpPr>
          <p:cNvPr id="20" name="text-215"/>
          <p:cNvSpPr txBox="1"/>
          <p:nvPr/>
        </p:nvSpPr>
        <p:spPr>
          <a:xfrm>
            <a:off x="3364992" y="5349240"/>
            <a:ext cx="2011680" cy="310896"/>
          </a:xfrm>
          <a:prstGeom prst="rect">
            <a:avLst/>
          </a:prstGeom>
          <a:noFill/>
          <a:ln/>
        </p:spPr>
        <p:txBody>
          <a:bodyPr wrap="square" lIns="0" tIns="0" rIns="0" bIns="0" rtlCol="0" anchor="ctr"/>
          <a:lstStyle/>
          <a:p>
            <a:pPr marL="0" indent="0">
              <a:buNone/>
            </a:pPr>
            <a:r>
              <a:rPr lang="en-US" sz="1100" dirty="0">
                <a:solidFill>
                  <a:schemeClr val="accent5"/>
                </a:solidFill>
              </a:rPr>
              <a:t>不足と推定された概念</a:t>
            </a:r>
            <a:endParaRPr lang="en-US" sz="1100" dirty="0"/>
          </a:p>
        </p:txBody>
      </p:sp>
      <p:sp>
        <p:nvSpPr>
          <p:cNvPr id="21" name="legend-216"/>
          <p:cNvSpPr/>
          <p:nvPr/>
        </p:nvSpPr>
        <p:spPr>
          <a:xfrm>
            <a:off x="5257800" y="5394960"/>
            <a:ext cx="274320" cy="219456"/>
          </a:xfrm>
          <a:prstGeom prst="roundRect">
            <a:avLst>
              <a:gd name="adj" fmla="val 16667"/>
            </a:avLst>
          </a:prstGeom>
          <a:solidFill>
            <a:schemeClr val="bg1"/>
          </a:solidFill>
          <a:ln w="12700">
            <a:solidFill>
              <a:srgbClr val="004352"/>
            </a:solidFill>
            <a:prstDash val="solid"/>
          </a:ln>
        </p:spPr>
        <p:txBody>
          <a:bodyPr/>
          <a:lstStyle/>
          <a:p>
            <a:endParaRPr lang="ja-JP" altLang="en-US"/>
          </a:p>
        </p:txBody>
      </p:sp>
      <p:sp>
        <p:nvSpPr>
          <p:cNvPr id="22" name="text-217"/>
          <p:cNvSpPr txBox="1"/>
          <p:nvPr/>
        </p:nvSpPr>
        <p:spPr>
          <a:xfrm>
            <a:off x="5605272" y="5349240"/>
            <a:ext cx="2011680" cy="310896"/>
          </a:xfrm>
          <a:prstGeom prst="rect">
            <a:avLst/>
          </a:prstGeom>
          <a:noFill/>
          <a:ln/>
        </p:spPr>
        <p:txBody>
          <a:bodyPr wrap="square" lIns="0" tIns="0" rIns="0" bIns="0" rtlCol="0" anchor="ctr"/>
          <a:lstStyle/>
          <a:p>
            <a:pPr marL="0" indent="0">
              <a:buNone/>
            </a:pPr>
            <a:r>
              <a:rPr lang="en-US" sz="1100" dirty="0">
                <a:solidFill>
                  <a:schemeClr val="accent5"/>
                </a:solidFill>
              </a:rPr>
              <a:t>この概念を前提とする概念</a:t>
            </a:r>
            <a:endParaRPr lang="en-US" sz="1100" dirty="0"/>
          </a:p>
        </p:txBody>
      </p:sp>
      <p:sp>
        <p:nvSpPr>
          <p:cNvPr id="23" name="card-218"/>
          <p:cNvSpPr/>
          <p:nvPr/>
        </p:nvSpPr>
        <p:spPr>
          <a:xfrm>
            <a:off x="7909560" y="1463040"/>
            <a:ext cx="3733495" cy="4572000"/>
          </a:xfrm>
          <a:prstGeom prst="roundRect">
            <a:avLst>
              <a:gd name="adj" fmla="val 1959"/>
            </a:avLst>
          </a:prstGeom>
          <a:solidFill>
            <a:schemeClr val="bg2"/>
          </a:solidFill>
          <a:ln w="12700">
            <a:solidFill>
              <a:srgbClr val="004352"/>
            </a:solidFill>
            <a:prstDash val="solid"/>
          </a:ln>
        </p:spPr>
        <p:txBody>
          <a:bodyPr/>
          <a:lstStyle/>
          <a:p>
            <a:endParaRPr lang="ja-JP" altLang="en-US"/>
          </a:p>
        </p:txBody>
      </p:sp>
      <p:sp>
        <p:nvSpPr>
          <p:cNvPr id="24" name="text-219"/>
          <p:cNvSpPr txBox="1"/>
          <p:nvPr/>
        </p:nvSpPr>
        <p:spPr>
          <a:xfrm>
            <a:off x="8138160" y="1645920"/>
            <a:ext cx="3276295" cy="320040"/>
          </a:xfrm>
          <a:prstGeom prst="rect">
            <a:avLst/>
          </a:prstGeom>
          <a:noFill/>
          <a:ln/>
        </p:spPr>
        <p:txBody>
          <a:bodyPr wrap="square" lIns="0" tIns="0" rIns="0" bIns="0" rtlCol="0" anchor="t"/>
          <a:lstStyle/>
          <a:p>
            <a:pPr marL="0" indent="0">
              <a:buNone/>
            </a:pPr>
            <a:r>
              <a:rPr lang="en-US" sz="1500" b="1" dirty="0">
                <a:solidFill>
                  <a:schemeClr val="tx2"/>
                </a:solidFill>
              </a:rPr>
              <a:t>学習者へのフィードバック</a:t>
            </a:r>
            <a:endParaRPr lang="en-US" sz="1500" dirty="0"/>
          </a:p>
        </p:txBody>
      </p:sp>
      <p:sp>
        <p:nvSpPr>
          <p:cNvPr id="25" name="text-220"/>
          <p:cNvSpPr txBox="1"/>
          <p:nvPr/>
        </p:nvSpPr>
        <p:spPr>
          <a:xfrm>
            <a:off x="8138160" y="2103120"/>
            <a:ext cx="3276295" cy="237744"/>
          </a:xfrm>
          <a:prstGeom prst="rect">
            <a:avLst/>
          </a:prstGeom>
          <a:noFill/>
          <a:ln/>
        </p:spPr>
        <p:txBody>
          <a:bodyPr wrap="square" lIns="0" tIns="0" rIns="0" bIns="0" rtlCol="0" anchor="t"/>
          <a:lstStyle/>
          <a:p>
            <a:pPr marL="0" indent="0">
              <a:buNone/>
            </a:pPr>
            <a:r>
              <a:rPr lang="en-US" sz="1100" b="1" dirty="0">
                <a:solidFill>
                  <a:schemeClr val="accent1"/>
                </a:solidFill>
              </a:rPr>
              <a:t>不足概念</a:t>
            </a:r>
            <a:endParaRPr lang="en-US" sz="1100" dirty="0"/>
          </a:p>
        </p:txBody>
      </p:sp>
      <p:sp>
        <p:nvSpPr>
          <p:cNvPr id="26" name="text-221"/>
          <p:cNvSpPr txBox="1"/>
          <p:nvPr/>
        </p:nvSpPr>
        <p:spPr>
          <a:xfrm>
            <a:off x="8138160" y="2359152"/>
            <a:ext cx="3276295" cy="320040"/>
          </a:xfrm>
          <a:prstGeom prst="rect">
            <a:avLst/>
          </a:prstGeom>
          <a:noFill/>
          <a:ln/>
        </p:spPr>
        <p:txBody>
          <a:bodyPr wrap="square" lIns="0" tIns="0" rIns="0" bIns="0" rtlCol="0" anchor="t"/>
          <a:lstStyle/>
          <a:p>
            <a:pPr marL="0" indent="0">
              <a:buNone/>
            </a:pPr>
            <a:r>
              <a:rPr lang="en-US" sz="1250" dirty="0">
                <a:solidFill>
                  <a:schemeClr val="tx1"/>
                </a:solidFill>
              </a:rPr>
              <a:t>LA-DIAG-01　対角化の定義</a:t>
            </a:r>
            <a:endParaRPr lang="en-US" sz="1250" dirty="0"/>
          </a:p>
        </p:txBody>
      </p:sp>
      <p:sp>
        <p:nvSpPr>
          <p:cNvPr id="27" name="text-222"/>
          <p:cNvSpPr txBox="1"/>
          <p:nvPr/>
        </p:nvSpPr>
        <p:spPr>
          <a:xfrm>
            <a:off x="8138160" y="2862072"/>
            <a:ext cx="3276295" cy="237744"/>
          </a:xfrm>
          <a:prstGeom prst="rect">
            <a:avLst/>
          </a:prstGeom>
          <a:noFill/>
          <a:ln/>
        </p:spPr>
        <p:txBody>
          <a:bodyPr wrap="square" lIns="0" tIns="0" rIns="0" bIns="0" rtlCol="0" anchor="t"/>
          <a:lstStyle/>
          <a:p>
            <a:pPr marL="0" indent="0">
              <a:buNone/>
            </a:pPr>
            <a:r>
              <a:rPr lang="en-US" sz="1100" b="1" dirty="0">
                <a:solidFill>
                  <a:schemeClr val="accent1"/>
                </a:solidFill>
              </a:rPr>
              <a:t>確信度</a:t>
            </a:r>
            <a:endParaRPr lang="en-US" sz="1100" dirty="0"/>
          </a:p>
        </p:txBody>
      </p:sp>
      <p:sp>
        <p:nvSpPr>
          <p:cNvPr id="28" name="text-223"/>
          <p:cNvSpPr txBox="1"/>
          <p:nvPr/>
        </p:nvSpPr>
        <p:spPr>
          <a:xfrm>
            <a:off x="8138160" y="3118104"/>
            <a:ext cx="3276295" cy="320040"/>
          </a:xfrm>
          <a:prstGeom prst="rect">
            <a:avLst/>
          </a:prstGeom>
          <a:noFill/>
          <a:ln/>
        </p:spPr>
        <p:txBody>
          <a:bodyPr wrap="square" lIns="0" tIns="0" rIns="0" bIns="0" rtlCol="0" anchor="t"/>
          <a:lstStyle/>
          <a:p>
            <a:pPr marL="0" indent="0">
              <a:buNone/>
            </a:pPr>
            <a:r>
              <a:rPr lang="en-US" sz="1250" dirty="0">
                <a:solidFill>
                  <a:schemeClr val="tx1"/>
                </a:solidFill>
              </a:rPr>
              <a:t>high</a:t>
            </a:r>
            <a:endParaRPr lang="en-US" sz="1250" dirty="0"/>
          </a:p>
        </p:txBody>
      </p:sp>
      <p:sp>
        <p:nvSpPr>
          <p:cNvPr id="29" name="text-224"/>
          <p:cNvSpPr txBox="1"/>
          <p:nvPr/>
        </p:nvSpPr>
        <p:spPr>
          <a:xfrm>
            <a:off x="8138160" y="3621024"/>
            <a:ext cx="3276295" cy="237744"/>
          </a:xfrm>
          <a:prstGeom prst="rect">
            <a:avLst/>
          </a:prstGeom>
          <a:noFill/>
          <a:ln/>
        </p:spPr>
        <p:txBody>
          <a:bodyPr wrap="square" lIns="0" tIns="0" rIns="0" bIns="0" rtlCol="0" anchor="t"/>
          <a:lstStyle/>
          <a:p>
            <a:pPr marL="0" indent="0">
              <a:buNone/>
            </a:pPr>
            <a:r>
              <a:rPr lang="en-US" sz="1100" b="1" dirty="0">
                <a:solidFill>
                  <a:schemeClr val="accent1"/>
                </a:solidFill>
              </a:rPr>
              <a:t>根拠</a:t>
            </a:r>
            <a:endParaRPr lang="en-US" sz="1100" dirty="0"/>
          </a:p>
        </p:txBody>
      </p:sp>
      <p:sp>
        <p:nvSpPr>
          <p:cNvPr id="30" name="text-225"/>
          <p:cNvSpPr txBox="1"/>
          <p:nvPr/>
        </p:nvSpPr>
        <p:spPr>
          <a:xfrm>
            <a:off x="8138160" y="3877056"/>
            <a:ext cx="3276295" cy="548640"/>
          </a:xfrm>
          <a:prstGeom prst="rect">
            <a:avLst/>
          </a:prstGeom>
          <a:noFill/>
          <a:ln/>
        </p:spPr>
        <p:txBody>
          <a:bodyPr wrap="square" lIns="0" tIns="0" rIns="0" bIns="0" rtlCol="0" anchor="t"/>
          <a:lstStyle/>
          <a:p>
            <a:pPr marL="0" indent="0">
              <a:buNone/>
            </a:pPr>
            <a:r>
              <a:rPr lang="en-US" sz="1250" dirty="0">
                <a:solidFill>
                  <a:schemeClr val="tx1"/>
                </a:solidFill>
              </a:rPr>
              <a:t>「P=A、D=単位行列として対角化できると考えた」</a:t>
            </a:r>
            <a:endParaRPr lang="en-US" sz="1250" dirty="0"/>
          </a:p>
        </p:txBody>
      </p:sp>
      <p:sp>
        <p:nvSpPr>
          <p:cNvPr id="31" name="text-226"/>
          <p:cNvSpPr txBox="1"/>
          <p:nvPr/>
        </p:nvSpPr>
        <p:spPr>
          <a:xfrm>
            <a:off x="8138160" y="4608576"/>
            <a:ext cx="3276295" cy="237744"/>
          </a:xfrm>
          <a:prstGeom prst="rect">
            <a:avLst/>
          </a:prstGeom>
          <a:noFill/>
          <a:ln/>
        </p:spPr>
        <p:txBody>
          <a:bodyPr wrap="square" lIns="0" tIns="0" rIns="0" bIns="0" rtlCol="0" anchor="t"/>
          <a:lstStyle/>
          <a:p>
            <a:pPr marL="0" indent="0">
              <a:buNone/>
            </a:pPr>
            <a:r>
              <a:rPr lang="en-US" sz="1100" b="1" dirty="0">
                <a:solidFill>
                  <a:schemeClr val="accent1"/>
                </a:solidFill>
              </a:rPr>
              <a:t>内省質問</a:t>
            </a:r>
            <a:endParaRPr lang="en-US" sz="1100" dirty="0"/>
          </a:p>
        </p:txBody>
      </p:sp>
      <p:sp>
        <p:nvSpPr>
          <p:cNvPr id="32" name="text-227"/>
          <p:cNvSpPr txBox="1"/>
          <p:nvPr/>
        </p:nvSpPr>
        <p:spPr>
          <a:xfrm>
            <a:off x="8138160" y="4864608"/>
            <a:ext cx="3276295" cy="1051560"/>
          </a:xfrm>
          <a:prstGeom prst="rect">
            <a:avLst/>
          </a:prstGeom>
          <a:noFill/>
          <a:ln/>
        </p:spPr>
        <p:txBody>
          <a:bodyPr wrap="square" lIns="0" tIns="0" rIns="0" bIns="0" rtlCol="0" anchor="t"/>
          <a:lstStyle/>
          <a:p>
            <a:pPr marL="0" indent="0">
              <a:buNone/>
            </a:pPr>
            <a:r>
              <a:rPr lang="en-US" sz="1250" dirty="0">
                <a:solidFill>
                  <a:schemeClr val="tx1"/>
                </a:solidFill>
              </a:rPr>
              <a:t>行列Pの各列ベクトルや対角行列Dの対角成分は、元の行列Aのどのような性質・要素に対応して作られるものでしょうか？</a:t>
            </a:r>
            <a:endParaRPr lang="en-US" sz="1250" dirty="0"/>
          </a:p>
        </p:txBody>
      </p:sp>
      <p:sp>
        <p:nvSpPr>
          <p:cNvPr id="3"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14</a:t>
            </a:fld>
            <a:endParaRPr lang="en-US"/>
          </a:p>
        </p:txBody>
      </p:sp>
    </p:spTree>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D294B-B771-5B95-4D13-56A83D097D3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E54667E-54E9-6809-2D66-F61CD9A7F480}"/>
              </a:ext>
            </a:extLst>
          </p:cNvPr>
          <p:cNvSpPr>
            <a:spLocks noGrp="1"/>
          </p:cNvSpPr>
          <p:nvPr>
            <p:ph type="title" idx="100" hasCustomPrompt="1"/>
          </p:nvPr>
        </p:nvSpPr>
        <p:spPr>
          <a:xfrm>
            <a:off x="548640" y="365760"/>
            <a:ext cx="11094415" cy="822960"/>
          </a:xfrm>
          <a:prstGeom prst="rect">
            <a:avLst/>
          </a:prstGeom>
          <a:noFill/>
          <a:ln/>
        </p:spPr>
        <p:txBody>
          <a:bodyPr wrap="square" rtlCol="0" anchor="ctr"/>
          <a:lstStyle/>
          <a:p>
            <a:pPr marL="0" indent="0" algn="l">
              <a:buNone/>
            </a:pPr>
            <a:r>
              <a:rPr lang="en-US" sz="2800" b="1" dirty="0" err="1">
                <a:solidFill>
                  <a:schemeClr val="tx2"/>
                </a:solidFill>
              </a:rPr>
              <a:t>今後の方針</a:t>
            </a:r>
            <a:endParaRPr lang="en-US" sz="2800" dirty="0"/>
          </a:p>
        </p:txBody>
      </p:sp>
      <p:sp>
        <p:nvSpPr>
          <p:cNvPr id="4" name="card-228">
            <a:extLst>
              <a:ext uri="{FF2B5EF4-FFF2-40B4-BE49-F238E27FC236}">
                <a16:creationId xmlns:a16="http://schemas.microsoft.com/office/drawing/2014/main" id="{6EBADF0C-2B39-B840-B758-6A6F8D02BD86}"/>
              </a:ext>
            </a:extLst>
          </p:cNvPr>
          <p:cNvSpPr/>
          <p:nvPr/>
        </p:nvSpPr>
        <p:spPr>
          <a:xfrm>
            <a:off x="548640" y="1463040"/>
            <a:ext cx="5135728" cy="3246120"/>
          </a:xfrm>
          <a:prstGeom prst="roundRect">
            <a:avLst>
              <a:gd name="adj" fmla="val 2254"/>
            </a:avLst>
          </a:prstGeom>
          <a:solidFill>
            <a:schemeClr val="bg2"/>
          </a:solidFill>
          <a:ln w="12700">
            <a:solidFill>
              <a:srgbClr val="004352"/>
            </a:solidFill>
            <a:prstDash val="solid"/>
          </a:ln>
        </p:spPr>
        <p:txBody>
          <a:bodyPr/>
          <a:lstStyle/>
          <a:p>
            <a:endParaRPr lang="ja-JP" altLang="en-US"/>
          </a:p>
        </p:txBody>
      </p:sp>
      <p:sp>
        <p:nvSpPr>
          <p:cNvPr id="5" name="badge-229">
            <a:extLst>
              <a:ext uri="{FF2B5EF4-FFF2-40B4-BE49-F238E27FC236}">
                <a16:creationId xmlns:a16="http://schemas.microsoft.com/office/drawing/2014/main" id="{08D73169-40FE-D9ED-8070-F9802DCFAE2D}"/>
              </a:ext>
            </a:extLst>
          </p:cNvPr>
          <p:cNvSpPr/>
          <p:nvPr/>
        </p:nvSpPr>
        <p:spPr>
          <a:xfrm>
            <a:off x="822960" y="1737360"/>
            <a:ext cx="731520" cy="7315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M4</a:t>
            </a:r>
            <a:endParaRPr lang="en-US" sz="1800" dirty="0"/>
          </a:p>
        </p:txBody>
      </p:sp>
      <p:sp>
        <p:nvSpPr>
          <p:cNvPr id="6" name="text-230">
            <a:extLst>
              <a:ext uri="{FF2B5EF4-FFF2-40B4-BE49-F238E27FC236}">
                <a16:creationId xmlns:a16="http://schemas.microsoft.com/office/drawing/2014/main" id="{2DFFC7CF-3B6E-C8C2-271A-FF830409B762}"/>
              </a:ext>
            </a:extLst>
          </p:cNvPr>
          <p:cNvSpPr txBox="1"/>
          <p:nvPr/>
        </p:nvSpPr>
        <p:spPr>
          <a:xfrm>
            <a:off x="1737360" y="1737360"/>
            <a:ext cx="3764128" cy="731520"/>
          </a:xfrm>
          <a:prstGeom prst="rect">
            <a:avLst/>
          </a:prstGeom>
          <a:noFill/>
          <a:ln/>
        </p:spPr>
        <p:txBody>
          <a:bodyPr wrap="square" lIns="0" tIns="0" rIns="0" bIns="0" rtlCol="0" anchor="ctr"/>
          <a:lstStyle/>
          <a:p>
            <a:pPr marL="0" indent="0">
              <a:buNone/>
            </a:pPr>
            <a:r>
              <a:rPr lang="en-US" sz="1700" b="1" dirty="0">
                <a:solidFill>
                  <a:schemeClr val="tx2"/>
                </a:solidFill>
              </a:rPr>
              <a:t>概念マップの可視化と</a:t>
            </a:r>
            <a:endParaRPr lang="en-US" sz="1700" dirty="0"/>
          </a:p>
          <a:p>
            <a:pPr marL="0" indent="0">
              <a:buNone/>
            </a:pPr>
            <a:r>
              <a:rPr lang="en-US" sz="1700" b="1" dirty="0">
                <a:solidFill>
                  <a:schemeClr val="tx2"/>
                </a:solidFill>
              </a:rPr>
              <a:t>フィードバック提示</a:t>
            </a:r>
            <a:endParaRPr lang="en-US" sz="1700" dirty="0"/>
          </a:p>
        </p:txBody>
      </p:sp>
      <p:sp>
        <p:nvSpPr>
          <p:cNvPr id="7" name="text-231">
            <a:extLst>
              <a:ext uri="{FF2B5EF4-FFF2-40B4-BE49-F238E27FC236}">
                <a16:creationId xmlns:a16="http://schemas.microsoft.com/office/drawing/2014/main" id="{932048A0-2BE3-3199-AFEF-E0971EF5F915}"/>
              </a:ext>
            </a:extLst>
          </p:cNvPr>
          <p:cNvSpPr txBox="1"/>
          <p:nvPr/>
        </p:nvSpPr>
        <p:spPr>
          <a:xfrm>
            <a:off x="868680" y="2697480"/>
            <a:ext cx="4587088" cy="1325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前提関係を踏まえた概念マップを生成</a:t>
            </a:r>
            <a:endParaRPr lang="en-US" sz="1400" dirty="0"/>
          </a:p>
          <a:p>
            <a:pPr marL="342900" indent="-342900">
              <a:spcAft>
                <a:spcPts val="800"/>
              </a:spcAft>
              <a:buSzPct val="100000"/>
              <a:buChar char="•"/>
            </a:pPr>
            <a:r>
              <a:rPr lang="en-US" sz="1400" dirty="0">
                <a:solidFill>
                  <a:schemeClr val="tx1"/>
                </a:solidFill>
              </a:rPr>
              <a:t>学習者向けフィードバックとして提示</a:t>
            </a:r>
            <a:endParaRPr lang="en-US" sz="1400" dirty="0"/>
          </a:p>
          <a:p>
            <a:pPr marL="342900" indent="-342900">
              <a:spcAft>
                <a:spcPts val="800"/>
              </a:spcAft>
              <a:buSzPct val="100000"/>
              <a:buChar char="•"/>
            </a:pPr>
            <a:r>
              <a:rPr lang="en-US" sz="1400" dirty="0">
                <a:solidFill>
                  <a:schemeClr val="tx1"/>
                </a:solidFill>
              </a:rPr>
              <a:t>解答過程の入力から提示までを自動実行</a:t>
            </a:r>
            <a:endParaRPr lang="en-US" sz="1400" dirty="0"/>
          </a:p>
        </p:txBody>
      </p:sp>
      <p:sp>
        <p:nvSpPr>
          <p:cNvPr id="8" name="pill-232">
            <a:extLst>
              <a:ext uri="{FF2B5EF4-FFF2-40B4-BE49-F238E27FC236}">
                <a16:creationId xmlns:a16="http://schemas.microsoft.com/office/drawing/2014/main" id="{9BA3FF4F-32FE-DBA1-0730-40F1BE9C1B32}"/>
              </a:ext>
            </a:extLst>
          </p:cNvPr>
          <p:cNvSpPr/>
          <p:nvPr/>
        </p:nvSpPr>
        <p:spPr>
          <a:xfrm>
            <a:off x="868680" y="4114800"/>
            <a:ext cx="4495648" cy="384048"/>
          </a:xfrm>
          <a:prstGeom prst="roundRect">
            <a:avLst>
              <a:gd name="adj" fmla="val 33333"/>
            </a:avLst>
          </a:prstGeom>
          <a:solidFill>
            <a:schemeClr val="accent1"/>
          </a:solidFill>
          <a:ln/>
        </p:spPr>
        <p:txBody>
          <a:bodyPr wrap="square" lIns="0" tIns="0" rIns="0" bIns="0" rtlCol="0" anchor="ctr"/>
          <a:lstStyle/>
          <a:p>
            <a:pPr marL="0" indent="0" algn="ctr">
              <a:buNone/>
            </a:pPr>
            <a:r>
              <a:rPr lang="en-US" sz="1400" b="1" dirty="0">
                <a:solidFill>
                  <a:schemeClr val="bg1"/>
                </a:solidFill>
              </a:rPr>
              <a:t>フローの完成</a:t>
            </a:r>
            <a:endParaRPr lang="en-US" sz="1400" dirty="0"/>
          </a:p>
        </p:txBody>
      </p:sp>
      <p:sp>
        <p:nvSpPr>
          <p:cNvPr id="9" name="arrow-233">
            <a:extLst>
              <a:ext uri="{FF2B5EF4-FFF2-40B4-BE49-F238E27FC236}">
                <a16:creationId xmlns:a16="http://schemas.microsoft.com/office/drawing/2014/main" id="{9771170B-9523-441D-6AAF-F22467ED7914}"/>
              </a:ext>
            </a:extLst>
          </p:cNvPr>
          <p:cNvSpPr/>
          <p:nvPr/>
        </p:nvSpPr>
        <p:spPr>
          <a:xfrm>
            <a:off x="5885536" y="2875788"/>
            <a:ext cx="420624" cy="420624"/>
          </a:xfrm>
          <a:prstGeom prst="rightArrow">
            <a:avLst/>
          </a:prstGeom>
          <a:solidFill>
            <a:schemeClr val="accent1"/>
          </a:solidFill>
          <a:ln/>
        </p:spPr>
        <p:txBody>
          <a:bodyPr/>
          <a:lstStyle/>
          <a:p>
            <a:endParaRPr lang="ja-JP" altLang="en-US"/>
          </a:p>
        </p:txBody>
      </p:sp>
      <p:sp>
        <p:nvSpPr>
          <p:cNvPr id="10" name="card-234">
            <a:extLst>
              <a:ext uri="{FF2B5EF4-FFF2-40B4-BE49-F238E27FC236}">
                <a16:creationId xmlns:a16="http://schemas.microsoft.com/office/drawing/2014/main" id="{98BE2557-ABC9-F968-2433-7821942C2A04}"/>
              </a:ext>
            </a:extLst>
          </p:cNvPr>
          <p:cNvSpPr/>
          <p:nvPr/>
        </p:nvSpPr>
        <p:spPr>
          <a:xfrm>
            <a:off x="6507328" y="1463040"/>
            <a:ext cx="5135728" cy="3246120"/>
          </a:xfrm>
          <a:prstGeom prst="roundRect">
            <a:avLst>
              <a:gd name="adj" fmla="val 2254"/>
            </a:avLst>
          </a:prstGeom>
          <a:solidFill>
            <a:schemeClr val="bg2"/>
          </a:solidFill>
          <a:ln w="12700">
            <a:solidFill>
              <a:srgbClr val="004352"/>
            </a:solidFill>
            <a:prstDash val="solid"/>
          </a:ln>
        </p:spPr>
        <p:txBody>
          <a:bodyPr/>
          <a:lstStyle/>
          <a:p>
            <a:endParaRPr lang="ja-JP" altLang="en-US"/>
          </a:p>
        </p:txBody>
      </p:sp>
      <p:sp>
        <p:nvSpPr>
          <p:cNvPr id="11" name="badge-235">
            <a:extLst>
              <a:ext uri="{FF2B5EF4-FFF2-40B4-BE49-F238E27FC236}">
                <a16:creationId xmlns:a16="http://schemas.microsoft.com/office/drawing/2014/main" id="{9235B5B2-492D-07D2-8152-747CF77E94D1}"/>
              </a:ext>
            </a:extLst>
          </p:cNvPr>
          <p:cNvSpPr/>
          <p:nvPr/>
        </p:nvSpPr>
        <p:spPr>
          <a:xfrm>
            <a:off x="6781648" y="1737360"/>
            <a:ext cx="731520" cy="7315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M5</a:t>
            </a:r>
            <a:endParaRPr lang="en-US" sz="1800" dirty="0"/>
          </a:p>
        </p:txBody>
      </p:sp>
      <p:sp>
        <p:nvSpPr>
          <p:cNvPr id="12" name="text-236">
            <a:extLst>
              <a:ext uri="{FF2B5EF4-FFF2-40B4-BE49-F238E27FC236}">
                <a16:creationId xmlns:a16="http://schemas.microsoft.com/office/drawing/2014/main" id="{F9D57503-67AA-6ACE-2D8F-F8323EFF7A7F}"/>
              </a:ext>
            </a:extLst>
          </p:cNvPr>
          <p:cNvSpPr txBox="1"/>
          <p:nvPr/>
        </p:nvSpPr>
        <p:spPr>
          <a:xfrm>
            <a:off x="7696048" y="1737360"/>
            <a:ext cx="3764128" cy="731520"/>
          </a:xfrm>
          <a:prstGeom prst="rect">
            <a:avLst/>
          </a:prstGeom>
          <a:noFill/>
          <a:ln/>
        </p:spPr>
        <p:txBody>
          <a:bodyPr wrap="square" lIns="0" tIns="0" rIns="0" bIns="0" rtlCol="0" anchor="ctr"/>
          <a:lstStyle/>
          <a:p>
            <a:pPr marL="0" indent="0">
              <a:buNone/>
            </a:pPr>
            <a:r>
              <a:rPr lang="en-US" sz="1700" b="1" dirty="0">
                <a:solidFill>
                  <a:schemeClr val="tx2"/>
                </a:solidFill>
              </a:rPr>
              <a:t>学習者データによる妥当性検証</a:t>
            </a:r>
            <a:endParaRPr lang="en-US" sz="1700" dirty="0"/>
          </a:p>
        </p:txBody>
      </p:sp>
      <p:sp>
        <p:nvSpPr>
          <p:cNvPr id="13" name="text-237">
            <a:extLst>
              <a:ext uri="{FF2B5EF4-FFF2-40B4-BE49-F238E27FC236}">
                <a16:creationId xmlns:a16="http://schemas.microsoft.com/office/drawing/2014/main" id="{08BABC18-B2BE-8377-CE5B-002FCC24D025}"/>
              </a:ext>
            </a:extLst>
          </p:cNvPr>
          <p:cNvSpPr txBox="1"/>
          <p:nvPr/>
        </p:nvSpPr>
        <p:spPr>
          <a:xfrm>
            <a:off x="6827368" y="2697480"/>
            <a:ext cx="4587088" cy="1325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学習者5名分の解答過程を収集</a:t>
            </a:r>
            <a:endParaRPr lang="en-US" sz="1400" dirty="0"/>
          </a:p>
          <a:p>
            <a:pPr marL="342900" indent="-342900">
              <a:spcAft>
                <a:spcPts val="800"/>
              </a:spcAft>
              <a:buSzPct val="100000"/>
              <a:buChar char="•"/>
            </a:pPr>
            <a:r>
              <a:rPr lang="en-US" sz="1400" dirty="0">
                <a:solidFill>
                  <a:schemeClr val="tx1"/>
                </a:solidFill>
              </a:rPr>
              <a:t>AIの出力を見る前に、筆者が不足概念を判定</a:t>
            </a:r>
            <a:endParaRPr lang="en-US" sz="1400" dirty="0"/>
          </a:p>
          <a:p>
            <a:pPr marL="342900" indent="-342900">
              <a:spcAft>
                <a:spcPts val="800"/>
              </a:spcAft>
              <a:buSzPct val="100000"/>
              <a:buChar char="•"/>
            </a:pPr>
            <a:r>
              <a:rPr lang="en-US" sz="1400" dirty="0">
                <a:solidFill>
                  <a:schemeClr val="tx1"/>
                </a:solidFill>
              </a:rPr>
              <a:t>AIの推定と照合し、一致率を算出</a:t>
            </a:r>
            <a:endParaRPr lang="en-US" sz="1400" dirty="0"/>
          </a:p>
        </p:txBody>
      </p:sp>
      <p:sp>
        <p:nvSpPr>
          <p:cNvPr id="14" name="pill-238">
            <a:extLst>
              <a:ext uri="{FF2B5EF4-FFF2-40B4-BE49-F238E27FC236}">
                <a16:creationId xmlns:a16="http://schemas.microsoft.com/office/drawing/2014/main" id="{AE94C20D-49F8-E150-4840-F4766EC032C5}"/>
              </a:ext>
            </a:extLst>
          </p:cNvPr>
          <p:cNvSpPr/>
          <p:nvPr/>
        </p:nvSpPr>
        <p:spPr>
          <a:xfrm>
            <a:off x="6827368" y="4114800"/>
            <a:ext cx="4495648" cy="384048"/>
          </a:xfrm>
          <a:prstGeom prst="roundRect">
            <a:avLst>
              <a:gd name="adj" fmla="val 33333"/>
            </a:avLst>
          </a:prstGeom>
          <a:solidFill>
            <a:schemeClr val="accent1"/>
          </a:solidFill>
          <a:ln/>
        </p:spPr>
        <p:txBody>
          <a:bodyPr wrap="square" lIns="0" tIns="0" rIns="0" bIns="0" rtlCol="0" anchor="ctr"/>
          <a:lstStyle/>
          <a:p>
            <a:pPr marL="0" indent="0" algn="ctr">
              <a:buNone/>
            </a:pPr>
            <a:r>
              <a:rPr lang="en-US" sz="1400" b="1" dirty="0">
                <a:solidFill>
                  <a:schemeClr val="bg1"/>
                </a:solidFill>
              </a:rPr>
              <a:t>基準：一致率70%以上</a:t>
            </a:r>
            <a:endParaRPr lang="en-US" sz="1400" dirty="0"/>
          </a:p>
        </p:txBody>
      </p:sp>
      <p:sp>
        <p:nvSpPr>
          <p:cNvPr id="15" name="card-239">
            <a:extLst>
              <a:ext uri="{FF2B5EF4-FFF2-40B4-BE49-F238E27FC236}">
                <a16:creationId xmlns:a16="http://schemas.microsoft.com/office/drawing/2014/main" id="{E4D00D5B-8943-E2C1-35E3-8C9A56DB1982}"/>
              </a:ext>
            </a:extLst>
          </p:cNvPr>
          <p:cNvSpPr/>
          <p:nvPr/>
        </p:nvSpPr>
        <p:spPr>
          <a:xfrm>
            <a:off x="548640" y="4983480"/>
            <a:ext cx="11094415" cy="1051560"/>
          </a:xfrm>
          <a:prstGeom prst="roundRect">
            <a:avLst>
              <a:gd name="adj" fmla="val 6957"/>
            </a:avLst>
          </a:prstGeom>
          <a:solidFill>
            <a:schemeClr val="accent4"/>
          </a:solidFill>
          <a:ln w="12700">
            <a:solidFill>
              <a:srgbClr val="000000"/>
            </a:solidFill>
            <a:prstDash val="solid"/>
          </a:ln>
        </p:spPr>
        <p:txBody>
          <a:bodyPr/>
          <a:lstStyle/>
          <a:p>
            <a:endParaRPr lang="ja-JP" altLang="en-US"/>
          </a:p>
        </p:txBody>
      </p:sp>
      <p:sp>
        <p:nvSpPr>
          <p:cNvPr id="16" name="text-240">
            <a:extLst>
              <a:ext uri="{FF2B5EF4-FFF2-40B4-BE49-F238E27FC236}">
                <a16:creationId xmlns:a16="http://schemas.microsoft.com/office/drawing/2014/main" id="{A1BA0F88-6E3C-C093-0EC0-D59518C5536B}"/>
              </a:ext>
            </a:extLst>
          </p:cNvPr>
          <p:cNvSpPr txBox="1"/>
          <p:nvPr/>
        </p:nvSpPr>
        <p:spPr>
          <a:xfrm>
            <a:off x="868680" y="4983480"/>
            <a:ext cx="822960" cy="1051560"/>
          </a:xfrm>
          <a:prstGeom prst="rect">
            <a:avLst/>
          </a:prstGeom>
          <a:noFill/>
          <a:ln/>
        </p:spPr>
        <p:txBody>
          <a:bodyPr wrap="square" lIns="0" tIns="0" rIns="0" bIns="0" rtlCol="0" anchor="ctr"/>
          <a:lstStyle/>
          <a:p>
            <a:pPr marL="0" indent="0">
              <a:buNone/>
            </a:pPr>
            <a:r>
              <a:rPr lang="en-US" sz="1600" b="1" dirty="0">
                <a:solidFill>
                  <a:schemeClr val="accent2"/>
                </a:solidFill>
              </a:rPr>
              <a:t>限界</a:t>
            </a:r>
            <a:endParaRPr lang="en-US" sz="1600" dirty="0"/>
          </a:p>
        </p:txBody>
      </p:sp>
      <p:sp>
        <p:nvSpPr>
          <p:cNvPr id="17" name="text-241">
            <a:extLst>
              <a:ext uri="{FF2B5EF4-FFF2-40B4-BE49-F238E27FC236}">
                <a16:creationId xmlns:a16="http://schemas.microsoft.com/office/drawing/2014/main" id="{EABA2F0F-54B7-462D-C484-7B5A01584B94}"/>
              </a:ext>
            </a:extLst>
          </p:cNvPr>
          <p:cNvSpPr txBox="1"/>
          <p:nvPr/>
        </p:nvSpPr>
        <p:spPr>
          <a:xfrm>
            <a:off x="1737360" y="4983480"/>
            <a:ext cx="9631375" cy="1051560"/>
          </a:xfrm>
          <a:prstGeom prst="rect">
            <a:avLst/>
          </a:prstGeom>
          <a:noFill/>
          <a:ln/>
        </p:spPr>
        <p:txBody>
          <a:bodyPr wrap="square" lIns="0" tIns="0" rIns="0" bIns="0" rtlCol="0" anchor="ctr"/>
          <a:lstStyle/>
          <a:p>
            <a:pPr marL="0" indent="0">
              <a:buNone/>
            </a:pPr>
            <a:r>
              <a:rPr lang="en-US" sz="1500" dirty="0">
                <a:solidFill>
                  <a:schemeClr val="tx1"/>
                </a:solidFill>
              </a:rPr>
              <a:t>評価者が筆者単独であるため、評価者間信頼性の検証は対象外とし、一次的な妥当性検証として位置づける。</a:t>
            </a:r>
            <a:endParaRPr lang="en-US" sz="1500" dirty="0"/>
          </a:p>
        </p:txBody>
      </p:sp>
      <p:sp>
        <p:nvSpPr>
          <p:cNvPr id="25" name="Slide Number Placeholder 0">
            <a:extLst>
              <a:ext uri="{FF2B5EF4-FFF2-40B4-BE49-F238E27FC236}">
                <a16:creationId xmlns:a16="http://schemas.microsoft.com/office/drawing/2014/main" id="{0EA922DE-9A70-D47E-412D-DD68263008F0}"/>
              </a:ext>
            </a:extLst>
          </p:cNvPr>
          <p:cNvSpPr>
            <a:spLocks noGrp="1"/>
          </p:cNvSpPr>
          <p:nvPr>
            <p:ph type="sldNum" sz="quarter" idx="4294967295"/>
          </p:nvPr>
        </p:nvSpPr>
        <p:spPr>
          <a:xfrm>
            <a:off x="11155680" y="6382512"/>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15</a:t>
            </a:fld>
            <a:endParaRPr lang="en-US"/>
          </a:p>
        </p:txBody>
      </p:sp>
    </p:spTree>
    <p:extLst>
      <p:ext uri="{BB962C8B-B14F-4D97-AF65-F5344CB8AC3E}">
        <p14:creationId xmlns:p14="http://schemas.microsoft.com/office/powerpoint/2010/main" val="722930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rtlCol="0" anchor="ctr"/>
          <a:lstStyle/>
          <a:p>
            <a:pPr marL="0" indent="0" algn="l">
              <a:buNone/>
            </a:pPr>
            <a:r>
              <a:rPr lang="en-US" sz="2800" b="1" dirty="0">
                <a:solidFill>
                  <a:schemeClr val="bg1"/>
                </a:solidFill>
              </a:rPr>
              <a:t>まとめ</a:t>
            </a:r>
            <a:endParaRPr lang="en-US" sz="2800" dirty="0"/>
          </a:p>
        </p:txBody>
      </p:sp>
      <p:sp>
        <p:nvSpPr>
          <p:cNvPr id="4" name="pill-242"/>
          <p:cNvSpPr/>
          <p:nvPr/>
        </p:nvSpPr>
        <p:spPr>
          <a:xfrm>
            <a:off x="548640" y="1737360"/>
            <a:ext cx="1188720" cy="457200"/>
          </a:xfrm>
          <a:prstGeom prst="roundRect">
            <a:avLst>
              <a:gd name="adj" fmla="val 28000"/>
            </a:avLst>
          </a:prstGeom>
          <a:solidFill>
            <a:schemeClr val="bg1"/>
          </a:solidFill>
          <a:ln/>
        </p:spPr>
        <p:txBody>
          <a:bodyPr wrap="square" lIns="0" tIns="0" rIns="0" bIns="0" rtlCol="0" anchor="ctr"/>
          <a:lstStyle/>
          <a:p>
            <a:pPr marL="0" indent="0" algn="ctr">
              <a:buNone/>
            </a:pPr>
            <a:r>
              <a:rPr lang="en-US" sz="1500" b="1" dirty="0">
                <a:solidFill>
                  <a:schemeClr val="tx2"/>
                </a:solidFill>
              </a:rPr>
              <a:t>目的</a:t>
            </a:r>
            <a:endParaRPr lang="en-US" sz="1500" dirty="0"/>
          </a:p>
        </p:txBody>
      </p:sp>
      <p:sp>
        <p:nvSpPr>
          <p:cNvPr id="5" name="text-243"/>
          <p:cNvSpPr txBox="1"/>
          <p:nvPr/>
        </p:nvSpPr>
        <p:spPr>
          <a:xfrm>
            <a:off x="2057400" y="1554480"/>
            <a:ext cx="9585655" cy="822960"/>
          </a:xfrm>
          <a:prstGeom prst="rect">
            <a:avLst/>
          </a:prstGeom>
          <a:noFill/>
          <a:ln/>
        </p:spPr>
        <p:txBody>
          <a:bodyPr wrap="square" lIns="0" tIns="0" rIns="0" bIns="0" rtlCol="0" anchor="ctr"/>
          <a:lstStyle/>
          <a:p>
            <a:pPr marL="0" indent="0">
              <a:buNone/>
            </a:pPr>
            <a:r>
              <a:rPr lang="en-US" sz="1600" dirty="0">
                <a:solidFill>
                  <a:schemeClr val="bg1"/>
                </a:solidFill>
              </a:rPr>
              <a:t>解答過程から不足概念と根拠を推定して概念マップで提示するフローを完成させ、妥当性を検証する</a:t>
            </a:r>
            <a:endParaRPr lang="en-US" sz="1600" dirty="0"/>
          </a:p>
        </p:txBody>
      </p:sp>
      <p:sp>
        <p:nvSpPr>
          <p:cNvPr id="6" name="pill-244"/>
          <p:cNvSpPr/>
          <p:nvPr/>
        </p:nvSpPr>
        <p:spPr>
          <a:xfrm>
            <a:off x="548640" y="2852928"/>
            <a:ext cx="1188720" cy="457200"/>
          </a:xfrm>
          <a:prstGeom prst="roundRect">
            <a:avLst>
              <a:gd name="adj" fmla="val 28000"/>
            </a:avLst>
          </a:prstGeom>
          <a:solidFill>
            <a:schemeClr val="bg1"/>
          </a:solidFill>
          <a:ln/>
        </p:spPr>
        <p:txBody>
          <a:bodyPr wrap="square" lIns="0" tIns="0" rIns="0" bIns="0" rtlCol="0" anchor="ctr"/>
          <a:lstStyle/>
          <a:p>
            <a:pPr marL="0" indent="0" algn="ctr">
              <a:buNone/>
            </a:pPr>
            <a:r>
              <a:rPr lang="en-US" sz="1500" b="1" dirty="0">
                <a:solidFill>
                  <a:schemeClr val="tx2"/>
                </a:solidFill>
              </a:rPr>
              <a:t>現状</a:t>
            </a:r>
            <a:endParaRPr lang="en-US" sz="1500" dirty="0"/>
          </a:p>
        </p:txBody>
      </p:sp>
      <p:sp>
        <p:nvSpPr>
          <p:cNvPr id="7" name="text-245"/>
          <p:cNvSpPr txBox="1"/>
          <p:nvPr/>
        </p:nvSpPr>
        <p:spPr>
          <a:xfrm>
            <a:off x="2057400" y="2670048"/>
            <a:ext cx="9585655" cy="822960"/>
          </a:xfrm>
          <a:prstGeom prst="rect">
            <a:avLst/>
          </a:prstGeom>
          <a:noFill/>
          <a:ln/>
        </p:spPr>
        <p:txBody>
          <a:bodyPr wrap="square" lIns="0" tIns="0" rIns="0" bIns="0" rtlCol="0" anchor="ctr"/>
          <a:lstStyle/>
          <a:p>
            <a:pPr marL="0" indent="0">
              <a:buNone/>
            </a:pPr>
            <a:r>
              <a:rPr lang="en-US" sz="1600" dirty="0">
                <a:solidFill>
                  <a:schemeClr val="bg1"/>
                </a:solidFill>
              </a:rPr>
              <a:t>M1〜M3が完了。52概念のID体系と出力パイプラインを構築し、疑似データで一致率100%（9/9件）</a:t>
            </a:r>
            <a:endParaRPr lang="en-US" sz="1600" dirty="0"/>
          </a:p>
        </p:txBody>
      </p:sp>
      <p:sp>
        <p:nvSpPr>
          <p:cNvPr id="8" name="pill-246"/>
          <p:cNvSpPr/>
          <p:nvPr/>
        </p:nvSpPr>
        <p:spPr>
          <a:xfrm>
            <a:off x="548640" y="3968496"/>
            <a:ext cx="1188720" cy="457200"/>
          </a:xfrm>
          <a:prstGeom prst="roundRect">
            <a:avLst>
              <a:gd name="adj" fmla="val 28000"/>
            </a:avLst>
          </a:prstGeom>
          <a:solidFill>
            <a:schemeClr val="accent2"/>
          </a:solidFill>
          <a:ln/>
        </p:spPr>
        <p:txBody>
          <a:bodyPr wrap="square" lIns="0" tIns="0" rIns="0" bIns="0" rtlCol="0" anchor="ctr"/>
          <a:lstStyle/>
          <a:p>
            <a:pPr marL="0" indent="0" algn="ctr">
              <a:buNone/>
            </a:pPr>
            <a:r>
              <a:rPr lang="en-US" sz="1500" b="1" dirty="0">
                <a:solidFill>
                  <a:schemeClr val="bg1"/>
                </a:solidFill>
              </a:rPr>
              <a:t>課題</a:t>
            </a:r>
            <a:endParaRPr lang="en-US" sz="1500" dirty="0"/>
          </a:p>
        </p:txBody>
      </p:sp>
      <p:sp>
        <p:nvSpPr>
          <p:cNvPr id="9" name="text-247"/>
          <p:cNvSpPr txBox="1"/>
          <p:nvPr/>
        </p:nvSpPr>
        <p:spPr>
          <a:xfrm>
            <a:off x="2057400" y="3785616"/>
            <a:ext cx="9585655" cy="822960"/>
          </a:xfrm>
          <a:prstGeom prst="rect">
            <a:avLst/>
          </a:prstGeom>
          <a:noFill/>
          <a:ln/>
        </p:spPr>
        <p:txBody>
          <a:bodyPr wrap="square" lIns="0" tIns="0" rIns="0" bIns="0" rtlCol="0" anchor="ctr"/>
          <a:lstStyle/>
          <a:p>
            <a:pPr marL="0" indent="0">
              <a:buNone/>
            </a:pPr>
            <a:r>
              <a:rPr lang="en-US" sz="1600" dirty="0">
                <a:solidFill>
                  <a:schemeClr val="bg1"/>
                </a:solidFill>
              </a:rPr>
              <a:t>根拠パターンの曖昧さによる概念の混同、確信度が下がらない挙動、実データでの未検証</a:t>
            </a:r>
            <a:endParaRPr lang="en-US" sz="1600" dirty="0"/>
          </a:p>
        </p:txBody>
      </p:sp>
      <p:sp>
        <p:nvSpPr>
          <p:cNvPr id="10" name="pill-248"/>
          <p:cNvSpPr/>
          <p:nvPr/>
        </p:nvSpPr>
        <p:spPr>
          <a:xfrm>
            <a:off x="548640" y="5084064"/>
            <a:ext cx="1188720" cy="457200"/>
          </a:xfrm>
          <a:prstGeom prst="roundRect">
            <a:avLst>
              <a:gd name="adj" fmla="val 28000"/>
            </a:avLst>
          </a:prstGeom>
          <a:solidFill>
            <a:schemeClr val="bg1"/>
          </a:solidFill>
          <a:ln/>
        </p:spPr>
        <p:txBody>
          <a:bodyPr wrap="square" lIns="0" tIns="0" rIns="0" bIns="0" rtlCol="0" anchor="ctr"/>
          <a:lstStyle/>
          <a:p>
            <a:pPr marL="0" indent="0" algn="ctr">
              <a:buNone/>
            </a:pPr>
            <a:r>
              <a:rPr lang="en-US" sz="1500" b="1" dirty="0">
                <a:solidFill>
                  <a:schemeClr val="tx2"/>
                </a:solidFill>
              </a:rPr>
              <a:t>今後</a:t>
            </a:r>
            <a:endParaRPr lang="en-US" sz="1500" dirty="0"/>
          </a:p>
        </p:txBody>
      </p:sp>
      <p:sp>
        <p:nvSpPr>
          <p:cNvPr id="11" name="text-249"/>
          <p:cNvSpPr txBox="1"/>
          <p:nvPr/>
        </p:nvSpPr>
        <p:spPr>
          <a:xfrm>
            <a:off x="2057400" y="4901184"/>
            <a:ext cx="9585655" cy="822960"/>
          </a:xfrm>
          <a:prstGeom prst="rect">
            <a:avLst/>
          </a:prstGeom>
          <a:noFill/>
          <a:ln/>
        </p:spPr>
        <p:txBody>
          <a:bodyPr wrap="square" lIns="0" tIns="0" rIns="0" bIns="0" rtlCol="0" anchor="ctr"/>
          <a:lstStyle/>
          <a:p>
            <a:pPr marL="0" indent="0">
              <a:buNone/>
            </a:pPr>
            <a:r>
              <a:rPr lang="en-US" sz="1600" dirty="0">
                <a:solidFill>
                  <a:schemeClr val="bg1"/>
                </a:solidFill>
              </a:rPr>
              <a:t>M4で可視化とフィードバック提示を実装し、M5で学習者5名の解答過程により妥当性を検証する</a:t>
            </a:r>
            <a:endParaRPr lang="en-US" sz="16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CE049-F031-0CB0-9276-37F121DECD0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EDF5EE1-3AFC-818F-9C99-AD718764E593}"/>
              </a:ext>
            </a:extLst>
          </p:cNvPr>
          <p:cNvSpPr>
            <a:spLocks noGrp="1"/>
          </p:cNvSpPr>
          <p:nvPr>
            <p:ph type="title" idx="100" hasCustomPrompt="1"/>
          </p:nvPr>
        </p:nvSpPr>
        <p:spPr>
          <a:xfrm>
            <a:off x="2661285" y="3017520"/>
            <a:ext cx="6869429" cy="822960"/>
          </a:xfrm>
          <a:prstGeom prst="rect">
            <a:avLst/>
          </a:prstGeom>
          <a:noFill/>
          <a:ln/>
        </p:spPr>
        <p:txBody>
          <a:bodyPr wrap="square" rtlCol="0" anchor="ctr"/>
          <a:lstStyle/>
          <a:p>
            <a:pPr marL="0" indent="0" algn="l">
              <a:buNone/>
            </a:pPr>
            <a:r>
              <a:rPr lang="en-US" sz="3600" b="1" dirty="0" err="1">
                <a:solidFill>
                  <a:schemeClr val="tx2"/>
                </a:solidFill>
              </a:rPr>
              <a:t>ご清聴ありがとうございました</a:t>
            </a:r>
            <a:endParaRPr lang="en-US" sz="3600" dirty="0"/>
          </a:p>
        </p:txBody>
      </p:sp>
      <p:sp>
        <p:nvSpPr>
          <p:cNvPr id="25" name="Slide Number Placeholder 0">
            <a:extLst>
              <a:ext uri="{FF2B5EF4-FFF2-40B4-BE49-F238E27FC236}">
                <a16:creationId xmlns:a16="http://schemas.microsoft.com/office/drawing/2014/main" id="{684D82B1-21FD-A2C4-8692-B20AAE74F4AB}"/>
              </a:ext>
            </a:extLst>
          </p:cNvPr>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17</a:t>
            </a:fld>
            <a:endParaRPr lang="en-US"/>
          </a:p>
        </p:txBody>
      </p:sp>
    </p:spTree>
    <p:extLst>
      <p:ext uri="{BB962C8B-B14F-4D97-AF65-F5344CB8AC3E}">
        <p14:creationId xmlns:p14="http://schemas.microsoft.com/office/powerpoint/2010/main" val="1478989031"/>
      </p:ext>
    </p:extLst>
  </p:cSld>
  <p:clrMapOvr>
    <a:masterClrMapping/>
  </p:clrMapOvr>
</p:sld>
</file>

<file path=ppt/theme/theme1.xml><?xml version="1.0" encoding="utf-8"?>
<a:theme xmlns:a="http://schemas.openxmlformats.org/drawingml/2006/main" name="GapFinder">
  <a:themeElements>
    <a:clrScheme name="GapFinder">
      <a:dk1>
        <a:srgbClr val="000000"/>
      </a:dk1>
      <a:lt1>
        <a:srgbClr val="FFFFFF"/>
      </a:lt1>
      <a:dk2>
        <a:srgbClr val="004352"/>
      </a:dk2>
      <a:lt2>
        <a:srgbClr val="FFFFFF"/>
      </a:lt2>
      <a:accent1>
        <a:srgbClr val="004352"/>
      </a:accent1>
      <a:accent2>
        <a:srgbClr val="000000"/>
      </a:accent2>
      <a:accent3>
        <a:srgbClr val="FFFFFF"/>
      </a:accent3>
      <a:accent4>
        <a:srgbClr val="FFFFFF"/>
      </a:accent4>
      <a:accent5>
        <a:srgbClr val="000000"/>
      </a:accent5>
      <a:accent6>
        <a:srgbClr val="004352"/>
      </a:accent6>
      <a:hlink>
        <a:srgbClr val="004352"/>
      </a:hlink>
      <a:folHlink>
        <a:srgbClr val="004352"/>
      </a:folHlink>
    </a:clrScheme>
    <a:fontScheme name="GapFinder">
      <a:majorFont>
        <a:latin typeface="Yu Gothic"/>
        <a:ea typeface="Yu 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Yu 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1571</TotalTime>
  <Words>1486</Words>
  <Application>Microsoft Macintosh PowerPoint</Application>
  <PresentationFormat>ワイド画面</PresentationFormat>
  <Paragraphs>351</Paragraphs>
  <Slides>17</Slides>
  <Notes>17</Notes>
  <HiddenSlides>1</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17</vt:i4>
      </vt:variant>
    </vt:vector>
  </HeadingPairs>
  <TitlesOfParts>
    <vt:vector size="21" baseType="lpstr">
      <vt:lpstr>Hiragino Kaku Gothic Pro W3</vt:lpstr>
      <vt:lpstr>Yu Gothic</vt:lpstr>
      <vt:lpstr>Arial</vt:lpstr>
      <vt:lpstr>GapFinder</vt:lpstr>
      <vt:lpstr>生成AIによる概念理解不足の推定と 可視化を通じたメタ認知支援</vt:lpstr>
      <vt:lpstr>目次</vt:lpstr>
      <vt:lpstr>背景</vt:lpstr>
      <vt:lpstr>解答過程そのものから 学習者の理解度の分析が可能（仮説）</vt:lpstr>
      <vt:lpstr>目的</vt:lpstr>
      <vt:lpstr>概要</vt:lpstr>
      <vt:lpstr>入出力例</vt:lpstr>
      <vt:lpstr>概念ID</vt:lpstr>
      <vt:lpstr>研究計画</vt:lpstr>
      <vt:lpstr>M1：線形代数をID化</vt:lpstr>
      <vt:lpstr>M2：不足概念・根拠・確信度・内省質問をJSONで出力</vt:lpstr>
      <vt:lpstr>M3：疑似データでAIの推定を検証</vt:lpstr>
      <vt:lpstr>現在の課題</vt:lpstr>
      <vt:lpstr>M4：概念マップの完成イメージ</vt:lpstr>
      <vt:lpstr>今後の方針</vt:lpstr>
      <vt:lpstr>まとめ</vt:lpstr>
      <vt:lpstr>ご清聴ありがとうございました</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生成AIによる概念理解不足の推定と可視化を通じたメタ認知支援</dc:title>
  <dc:subject>PptxGenJS Presentation</dc:subject>
  <dc:creator>公文 健太</dc:creator>
  <cp:lastModifiedBy>5I14 公文 健太【鈴鹿】</cp:lastModifiedBy>
  <cp:revision>35</cp:revision>
  <dcterms:created xsi:type="dcterms:W3CDTF">2026-10-12T03:02:59Z</dcterms:created>
  <dcterms:modified xsi:type="dcterms:W3CDTF">2026-10-13T06:12:30Z</dcterms:modified>
</cp:coreProperties>
</file>